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7" r:id="rId4"/>
  </p:sldMasterIdLst>
  <p:notesMasterIdLst>
    <p:notesMasterId r:id="rId18"/>
  </p:notesMasterIdLst>
  <p:sldIdLst>
    <p:sldId id="259" r:id="rId5"/>
    <p:sldId id="257" r:id="rId6"/>
    <p:sldId id="258" r:id="rId7"/>
    <p:sldId id="282" r:id="rId8"/>
    <p:sldId id="288" r:id="rId9"/>
    <p:sldId id="271" r:id="rId10"/>
    <p:sldId id="290" r:id="rId11"/>
    <p:sldId id="291" r:id="rId12"/>
    <p:sldId id="284" r:id="rId13"/>
    <p:sldId id="289" r:id="rId14"/>
    <p:sldId id="283" r:id="rId15"/>
    <p:sldId id="265" r:id="rId16"/>
    <p:sldId id="260" r:id="rId17"/>
  </p:sldIdLst>
  <p:sldSz cx="16256000" cy="9144000"/>
  <p:notesSz cx="6805613" cy="9944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56">
          <p15:clr>
            <a:srgbClr val="A4A3A4"/>
          </p15:clr>
        </p15:guide>
        <p15:guide id="2" pos="3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27694A-E396-7026-3B1B-8FB780442E09}" v="779" dt="2026-06-12T14:41:14.468"/>
    <p1510:client id="{37B9CC17-A357-6F82-44BD-F8B5F18543C4}" v="1223" dt="2026-06-14T04:49:41.061"/>
    <p1510:client id="{80482FD8-EC59-9048-D166-D899220B2751}" v="582" dt="2026-06-12T13:56:16.270"/>
    <p1510:client id="{FAD1137B-C7D9-6F0E-7D12-DAB97310393B}" v="64" dt="2026-06-12T14:55:45.7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84" y="48"/>
      </p:cViewPr>
      <p:guideLst>
        <p:guide orient="horz" pos="1056"/>
        <p:guide pos="3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4450" y="0"/>
            <a:ext cx="2949575" cy="498475"/>
          </a:xfrm>
          <a:prstGeom prst="rect">
            <a:avLst/>
          </a:prstGeom>
        </p:spPr>
        <p:txBody>
          <a:bodyPr vert="horz" lIns="91440" tIns="45720" rIns="91440" bIns="45720" rtlCol="0"/>
          <a:lstStyle>
            <a:lvl1pPr algn="r">
              <a:defRPr sz="1200"/>
            </a:lvl1pPr>
          </a:lstStyle>
          <a:p>
            <a:fld id="{AB5F7D0D-0392-4D41-96B6-5E6F438A3B86}" type="datetimeFigureOut">
              <a:rPr lang="en-US" smtClean="0"/>
              <a:t>6/13/2026</a:t>
            </a:fld>
            <a:endParaRPr lang="en-US"/>
          </a:p>
        </p:txBody>
      </p:sp>
      <p:sp>
        <p:nvSpPr>
          <p:cNvPr id="4" name="Slide Image Placeholder 3"/>
          <p:cNvSpPr>
            <a:spLocks noGrp="1" noRot="1" noChangeAspect="1"/>
          </p:cNvSpPr>
          <p:nvPr>
            <p:ph type="sldImg" idx="2"/>
          </p:nvPr>
        </p:nvSpPr>
        <p:spPr>
          <a:xfrm>
            <a:off x="420688" y="1243013"/>
            <a:ext cx="5964237" cy="33559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1038" y="4786313"/>
            <a:ext cx="5443537" cy="3914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5625"/>
            <a:ext cx="2949575" cy="4984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4450" y="9445625"/>
            <a:ext cx="2949575" cy="498475"/>
          </a:xfrm>
          <a:prstGeom prst="rect">
            <a:avLst/>
          </a:prstGeom>
        </p:spPr>
        <p:txBody>
          <a:bodyPr vert="horz" lIns="91440" tIns="45720" rIns="91440" bIns="45720" rtlCol="0" anchor="b"/>
          <a:lstStyle>
            <a:lvl1pPr algn="r">
              <a:defRPr sz="1200"/>
            </a:lvl1pPr>
          </a:lstStyle>
          <a:p>
            <a:fld id="{BB0D1775-DB75-4D0D-94A7-62D55B5E1C0E}" type="slidenum">
              <a:rPr lang="en-US" smtClean="0"/>
              <a:t>‹#›</a:t>
            </a:fld>
            <a:endParaRPr lang="en-US"/>
          </a:p>
        </p:txBody>
      </p:sp>
    </p:spTree>
    <p:extLst>
      <p:ext uri="{BB962C8B-B14F-4D97-AF65-F5344CB8AC3E}">
        <p14:creationId xmlns:p14="http://schemas.microsoft.com/office/powerpoint/2010/main" val="3315727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hyperlink" Target="https://twitter.com/Coforge_Tech" TargetMode="External"/><Relationship Id="rId3" Type="http://schemas.openxmlformats.org/officeDocument/2006/relationships/image" Target="../media/image2.svg"/><Relationship Id="rId7" Type="http://schemas.openxmlformats.org/officeDocument/2006/relationships/image" Target="../media/image7.png"/><Relationship Id="rId2" Type="http://schemas.openxmlformats.org/officeDocument/2006/relationships/image" Target="../media/image5.jpeg"/><Relationship Id="rId1" Type="http://schemas.openxmlformats.org/officeDocument/2006/relationships/slideMaster" Target="../slideMasters/slideMaster1.xml"/><Relationship Id="rId6" Type="http://schemas.openxmlformats.org/officeDocument/2006/relationships/hyperlink" Target="https://www.linkedin.com/company/coforge-tech/"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s://www.youtube.com/channel/UC-9Vk052THg8iIOJQQNUkqQ" TargetMode="External"/><Relationship Id="rId4" Type="http://schemas.openxmlformats.org/officeDocument/2006/relationships/hyperlink" Target="https://www.facebook.com/coforge.company" TargetMode="External"/><Relationship Id="rId9"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accent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0773B626-C041-3BDB-DF50-7BCEF76C7EE9}"/>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 y="-2403"/>
            <a:ext cx="10196545" cy="9146403"/>
          </a:xfrm>
          <a:prstGeom prst="rect">
            <a:avLst/>
          </a:prstGeom>
        </p:spPr>
      </p:pic>
      <p:sp>
        <p:nvSpPr>
          <p:cNvPr id="8" name="Title 1">
            <a:extLst>
              <a:ext uri="{FF2B5EF4-FFF2-40B4-BE49-F238E27FC236}">
                <a16:creationId xmlns:a16="http://schemas.microsoft.com/office/drawing/2014/main" id="{CEF71A84-576E-C4EB-18CB-859FAD5F7ECF}"/>
              </a:ext>
            </a:extLst>
          </p:cNvPr>
          <p:cNvSpPr>
            <a:spLocks noGrp="1"/>
          </p:cNvSpPr>
          <p:nvPr>
            <p:ph type="title" hasCustomPrompt="1"/>
          </p:nvPr>
        </p:nvSpPr>
        <p:spPr>
          <a:xfrm>
            <a:off x="391405" y="3318524"/>
            <a:ext cx="9531751" cy="1645576"/>
          </a:xfrm>
        </p:spPr>
        <p:txBody>
          <a:bodyPr>
            <a:noAutofit/>
          </a:bodyPr>
          <a:lstStyle>
            <a:lvl1pPr>
              <a:defRPr sz="8000" b="1">
                <a:solidFill>
                  <a:schemeClr val="accent2"/>
                </a:solidFill>
              </a:defRPr>
            </a:lvl1pPr>
          </a:lstStyle>
          <a:p>
            <a:r>
              <a:rPr lang="en-US"/>
              <a:t>Title</a:t>
            </a:r>
            <a:endParaRPr lang="en-IN"/>
          </a:p>
        </p:txBody>
      </p:sp>
      <p:pic>
        <p:nvPicPr>
          <p:cNvPr id="10" name="Graphic 9">
            <a:extLst>
              <a:ext uri="{FF2B5EF4-FFF2-40B4-BE49-F238E27FC236}">
                <a16:creationId xmlns:a16="http://schemas.microsoft.com/office/drawing/2014/main" id="{F5DDCEDB-866C-27E2-FF3E-0870C048C4F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1405" y="8537708"/>
            <a:ext cx="15504000" cy="34605"/>
          </a:xfrm>
          <a:prstGeom prst="rect">
            <a:avLst/>
          </a:prstGeom>
        </p:spPr>
      </p:pic>
      <p:grpSp>
        <p:nvGrpSpPr>
          <p:cNvPr id="11" name="Group 10">
            <a:extLst>
              <a:ext uri="{FF2B5EF4-FFF2-40B4-BE49-F238E27FC236}">
                <a16:creationId xmlns:a16="http://schemas.microsoft.com/office/drawing/2014/main" id="{43B80327-1D0A-105F-08E8-57458D90D13D}"/>
              </a:ext>
            </a:extLst>
          </p:cNvPr>
          <p:cNvGrpSpPr>
            <a:grpSpLocks noChangeAspect="1"/>
          </p:cNvGrpSpPr>
          <p:nvPr/>
        </p:nvGrpSpPr>
        <p:grpSpPr>
          <a:xfrm>
            <a:off x="391405" y="766212"/>
            <a:ext cx="3120000" cy="693093"/>
            <a:chOff x="10797898" y="6235376"/>
            <a:chExt cx="930940" cy="206804"/>
          </a:xfrm>
        </p:grpSpPr>
        <p:sp>
          <p:nvSpPr>
            <p:cNvPr id="12" name="Freeform: Shape 11">
              <a:extLst>
                <a:ext uri="{FF2B5EF4-FFF2-40B4-BE49-F238E27FC236}">
                  <a16:creationId xmlns:a16="http://schemas.microsoft.com/office/drawing/2014/main" id="{7247822C-8FC4-A887-759C-17711D99E1E9}"/>
                </a:ext>
              </a:extLst>
            </p:cNvPr>
            <p:cNvSpPr/>
            <p:nvPr/>
          </p:nvSpPr>
          <p:spPr>
            <a:xfrm>
              <a:off x="10797898" y="6241067"/>
              <a:ext cx="149886" cy="158487"/>
            </a:xfrm>
            <a:custGeom>
              <a:avLst/>
              <a:gdLst>
                <a:gd name="connsiteX0" fmla="*/ 0 w 149886"/>
                <a:gd name="connsiteY0" fmla="*/ 79307 h 158487"/>
                <a:gd name="connsiteX1" fmla="*/ 85252 w 149886"/>
                <a:gd name="connsiteY1" fmla="*/ 0 h 158487"/>
                <a:gd name="connsiteX2" fmla="*/ 149886 w 149886"/>
                <a:gd name="connsiteY2" fmla="*/ 27195 h 158487"/>
                <a:gd name="connsiteX3" fmla="*/ 126486 w 149886"/>
                <a:gd name="connsiteY3" fmla="*/ 48191 h 158487"/>
                <a:gd name="connsiteX4" fmla="*/ 87023 w 149886"/>
                <a:gd name="connsiteY4" fmla="*/ 30230 h 158487"/>
                <a:gd name="connsiteX5" fmla="*/ 36681 w 149886"/>
                <a:gd name="connsiteY5" fmla="*/ 79307 h 158487"/>
                <a:gd name="connsiteX6" fmla="*/ 87023 w 149886"/>
                <a:gd name="connsiteY6" fmla="*/ 128384 h 158487"/>
                <a:gd name="connsiteX7" fmla="*/ 126486 w 149886"/>
                <a:gd name="connsiteY7" fmla="*/ 110170 h 158487"/>
                <a:gd name="connsiteX8" fmla="*/ 149886 w 149886"/>
                <a:gd name="connsiteY8" fmla="*/ 131166 h 158487"/>
                <a:gd name="connsiteX9" fmla="*/ 84999 w 149886"/>
                <a:gd name="connsiteY9" fmla="*/ 158487 h 158487"/>
                <a:gd name="connsiteX10" fmla="*/ 0 w 149886"/>
                <a:gd name="connsiteY10" fmla="*/ 79307 h 158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9886" h="158487">
                  <a:moveTo>
                    <a:pt x="0" y="79307"/>
                  </a:moveTo>
                  <a:cubicBezTo>
                    <a:pt x="0" y="33139"/>
                    <a:pt x="36302" y="0"/>
                    <a:pt x="85252" y="0"/>
                  </a:cubicBezTo>
                  <a:cubicBezTo>
                    <a:pt x="112446" y="0"/>
                    <a:pt x="135088" y="9613"/>
                    <a:pt x="149886" y="27195"/>
                  </a:cubicBezTo>
                  <a:lnTo>
                    <a:pt x="126486" y="48191"/>
                  </a:lnTo>
                  <a:cubicBezTo>
                    <a:pt x="115988" y="36428"/>
                    <a:pt x="102707" y="30230"/>
                    <a:pt x="87023" y="30230"/>
                  </a:cubicBezTo>
                  <a:cubicBezTo>
                    <a:pt x="57678" y="30230"/>
                    <a:pt x="36681" y="50342"/>
                    <a:pt x="36681" y="79307"/>
                  </a:cubicBezTo>
                  <a:cubicBezTo>
                    <a:pt x="36681" y="108272"/>
                    <a:pt x="57551" y="128384"/>
                    <a:pt x="87023" y="128384"/>
                  </a:cubicBezTo>
                  <a:cubicBezTo>
                    <a:pt x="102707" y="128384"/>
                    <a:pt x="115988" y="122186"/>
                    <a:pt x="126486" y="110170"/>
                  </a:cubicBezTo>
                  <a:lnTo>
                    <a:pt x="149886" y="131166"/>
                  </a:lnTo>
                  <a:cubicBezTo>
                    <a:pt x="135088" y="148874"/>
                    <a:pt x="112446" y="158487"/>
                    <a:pt x="84999" y="158487"/>
                  </a:cubicBezTo>
                  <a:cubicBezTo>
                    <a:pt x="36302" y="158614"/>
                    <a:pt x="0" y="125474"/>
                    <a:pt x="0" y="79307"/>
                  </a:cubicBezTo>
                </a:path>
              </a:pathLst>
            </a:custGeom>
            <a:solidFill>
              <a:srgbClr val="F15B40"/>
            </a:solidFill>
            <a:ln w="12614" cap="flat">
              <a:noFill/>
              <a:prstDash val="solid"/>
              <a:miter/>
            </a:ln>
          </p:spPr>
          <p:txBody>
            <a:bodyPr rtlCol="0" anchor="ctr"/>
            <a:lstStyle/>
            <a:p>
              <a:endParaRPr lang="en-IN" sz="3200"/>
            </a:p>
          </p:txBody>
        </p:sp>
        <p:sp>
          <p:nvSpPr>
            <p:cNvPr id="13" name="Freeform: Shape 12">
              <a:extLst>
                <a:ext uri="{FF2B5EF4-FFF2-40B4-BE49-F238E27FC236}">
                  <a16:creationId xmlns:a16="http://schemas.microsoft.com/office/drawing/2014/main" id="{0858CE96-D121-617B-12F9-04187952CA96}"/>
                </a:ext>
              </a:extLst>
            </p:cNvPr>
            <p:cNvSpPr/>
            <p:nvPr/>
          </p:nvSpPr>
          <p:spPr>
            <a:xfrm>
              <a:off x="11111584" y="6235376"/>
              <a:ext cx="91955" cy="164305"/>
            </a:xfrm>
            <a:custGeom>
              <a:avLst/>
              <a:gdLst>
                <a:gd name="connsiteX0" fmla="*/ 53124 w 91955"/>
                <a:gd name="connsiteY0" fmla="*/ 49077 h 164305"/>
                <a:gd name="connsiteX1" fmla="*/ 84114 w 91955"/>
                <a:gd name="connsiteY1" fmla="*/ 49077 h 164305"/>
                <a:gd name="connsiteX2" fmla="*/ 84114 w 91955"/>
                <a:gd name="connsiteY2" fmla="*/ 75386 h 164305"/>
                <a:gd name="connsiteX3" fmla="*/ 54010 w 91955"/>
                <a:gd name="connsiteY3" fmla="*/ 75386 h 164305"/>
                <a:gd name="connsiteX4" fmla="*/ 53630 w 91955"/>
                <a:gd name="connsiteY4" fmla="*/ 164306 h 164305"/>
                <a:gd name="connsiteX5" fmla="*/ 18594 w 91955"/>
                <a:gd name="connsiteY5" fmla="*/ 164306 h 164305"/>
                <a:gd name="connsiteX6" fmla="*/ 18973 w 91955"/>
                <a:gd name="connsiteY6" fmla="*/ 75386 h 164305"/>
                <a:gd name="connsiteX7" fmla="*/ 0 w 91955"/>
                <a:gd name="connsiteY7" fmla="*/ 75386 h 164305"/>
                <a:gd name="connsiteX8" fmla="*/ 0 w 91955"/>
                <a:gd name="connsiteY8" fmla="*/ 49077 h 164305"/>
                <a:gd name="connsiteX9" fmla="*/ 18973 w 91955"/>
                <a:gd name="connsiteY9" fmla="*/ 49077 h 164305"/>
                <a:gd name="connsiteX10" fmla="*/ 18973 w 91955"/>
                <a:gd name="connsiteY10" fmla="*/ 43764 h 164305"/>
                <a:gd name="connsiteX11" fmla="*/ 65267 w 91955"/>
                <a:gd name="connsiteY11" fmla="*/ 0 h 164305"/>
                <a:gd name="connsiteX12" fmla="*/ 91956 w 91955"/>
                <a:gd name="connsiteY12" fmla="*/ 6324 h 164305"/>
                <a:gd name="connsiteX13" fmla="*/ 82722 w 91955"/>
                <a:gd name="connsiteY13" fmla="*/ 31116 h 164305"/>
                <a:gd name="connsiteX14" fmla="*/ 68556 w 91955"/>
                <a:gd name="connsiteY14" fmla="*/ 26942 h 164305"/>
                <a:gd name="connsiteX15" fmla="*/ 52998 w 91955"/>
                <a:gd name="connsiteY15" fmla="*/ 44017 h 164305"/>
                <a:gd name="connsiteX16" fmla="*/ 52998 w 91955"/>
                <a:gd name="connsiteY16" fmla="*/ 49077 h 16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1955" h="164305">
                  <a:moveTo>
                    <a:pt x="53124" y="49077"/>
                  </a:moveTo>
                  <a:lnTo>
                    <a:pt x="84114" y="49077"/>
                  </a:lnTo>
                  <a:lnTo>
                    <a:pt x="84114" y="75386"/>
                  </a:lnTo>
                  <a:lnTo>
                    <a:pt x="54010" y="75386"/>
                  </a:lnTo>
                  <a:lnTo>
                    <a:pt x="53630" y="164306"/>
                  </a:lnTo>
                  <a:lnTo>
                    <a:pt x="18594" y="164306"/>
                  </a:lnTo>
                  <a:lnTo>
                    <a:pt x="18973" y="75386"/>
                  </a:lnTo>
                  <a:lnTo>
                    <a:pt x="0" y="75386"/>
                  </a:lnTo>
                  <a:lnTo>
                    <a:pt x="0" y="49077"/>
                  </a:lnTo>
                  <a:lnTo>
                    <a:pt x="18973" y="49077"/>
                  </a:lnTo>
                  <a:lnTo>
                    <a:pt x="18973" y="43764"/>
                  </a:lnTo>
                  <a:cubicBezTo>
                    <a:pt x="18973" y="17329"/>
                    <a:pt x="35290" y="0"/>
                    <a:pt x="65267" y="0"/>
                  </a:cubicBezTo>
                  <a:cubicBezTo>
                    <a:pt x="75133" y="0"/>
                    <a:pt x="85505" y="2024"/>
                    <a:pt x="91956" y="6324"/>
                  </a:cubicBezTo>
                  <a:lnTo>
                    <a:pt x="82722" y="31116"/>
                  </a:lnTo>
                  <a:cubicBezTo>
                    <a:pt x="78928" y="28459"/>
                    <a:pt x="73995" y="26942"/>
                    <a:pt x="68556" y="26942"/>
                  </a:cubicBezTo>
                  <a:cubicBezTo>
                    <a:pt x="58184" y="26942"/>
                    <a:pt x="52998" y="32380"/>
                    <a:pt x="52998" y="44017"/>
                  </a:cubicBezTo>
                  <a:lnTo>
                    <a:pt x="52998" y="49077"/>
                  </a:lnTo>
                  <a:close/>
                </a:path>
              </a:pathLst>
            </a:custGeom>
            <a:solidFill>
              <a:schemeClr val="bg1"/>
            </a:solidFill>
            <a:ln w="12614" cap="flat">
              <a:noFill/>
              <a:prstDash val="solid"/>
              <a:miter/>
            </a:ln>
          </p:spPr>
          <p:txBody>
            <a:bodyPr rtlCol="0" anchor="ctr"/>
            <a:lstStyle/>
            <a:p>
              <a:endParaRPr lang="en-IN" sz="3200"/>
            </a:p>
          </p:txBody>
        </p:sp>
        <p:sp>
          <p:nvSpPr>
            <p:cNvPr id="14" name="Freeform: Shape 13">
              <a:extLst>
                <a:ext uri="{FF2B5EF4-FFF2-40B4-BE49-F238E27FC236}">
                  <a16:creationId xmlns:a16="http://schemas.microsoft.com/office/drawing/2014/main" id="{F7436A88-1027-4425-440A-3E531CCB55B8}"/>
                </a:ext>
              </a:extLst>
            </p:cNvPr>
            <p:cNvSpPr/>
            <p:nvPr/>
          </p:nvSpPr>
          <p:spPr>
            <a:xfrm>
              <a:off x="11202654" y="6278254"/>
              <a:ext cx="132557" cy="121426"/>
            </a:xfrm>
            <a:custGeom>
              <a:avLst/>
              <a:gdLst>
                <a:gd name="connsiteX0" fmla="*/ 0 w 132557"/>
                <a:gd name="connsiteY0" fmla="*/ 60713 h 121426"/>
                <a:gd name="connsiteX1" fmla="*/ 66405 w 132557"/>
                <a:gd name="connsiteY1" fmla="*/ 0 h 121426"/>
                <a:gd name="connsiteX2" fmla="*/ 132558 w 132557"/>
                <a:gd name="connsiteY2" fmla="*/ 60713 h 121426"/>
                <a:gd name="connsiteX3" fmla="*/ 66026 w 132557"/>
                <a:gd name="connsiteY3" fmla="*/ 121427 h 121426"/>
                <a:gd name="connsiteX4" fmla="*/ 0 w 132557"/>
                <a:gd name="connsiteY4" fmla="*/ 60713 h 121426"/>
                <a:gd name="connsiteX5" fmla="*/ 97142 w 132557"/>
                <a:gd name="connsiteY5" fmla="*/ 60713 h 121426"/>
                <a:gd name="connsiteX6" fmla="*/ 66405 w 132557"/>
                <a:gd name="connsiteY6" fmla="*/ 28080 h 121426"/>
                <a:gd name="connsiteX7" fmla="*/ 35416 w 132557"/>
                <a:gd name="connsiteY7" fmla="*/ 60713 h 121426"/>
                <a:gd name="connsiteX8" fmla="*/ 66405 w 132557"/>
                <a:gd name="connsiteY8" fmla="*/ 93347 h 121426"/>
                <a:gd name="connsiteX9" fmla="*/ 97142 w 132557"/>
                <a:gd name="connsiteY9" fmla="*/ 60713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557" h="121426">
                  <a:moveTo>
                    <a:pt x="0" y="60713"/>
                  </a:moveTo>
                  <a:cubicBezTo>
                    <a:pt x="0" y="25171"/>
                    <a:pt x="28080" y="0"/>
                    <a:pt x="66405" y="0"/>
                  </a:cubicBezTo>
                  <a:cubicBezTo>
                    <a:pt x="104731" y="0"/>
                    <a:pt x="132558" y="25171"/>
                    <a:pt x="132558" y="60713"/>
                  </a:cubicBezTo>
                  <a:cubicBezTo>
                    <a:pt x="132558" y="96256"/>
                    <a:pt x="104351" y="121427"/>
                    <a:pt x="66026" y="121427"/>
                  </a:cubicBezTo>
                  <a:cubicBezTo>
                    <a:pt x="27701" y="121427"/>
                    <a:pt x="0" y="96256"/>
                    <a:pt x="0" y="60713"/>
                  </a:cubicBezTo>
                  <a:moveTo>
                    <a:pt x="97142" y="60713"/>
                  </a:moveTo>
                  <a:cubicBezTo>
                    <a:pt x="97142" y="40349"/>
                    <a:pt x="83861" y="28080"/>
                    <a:pt x="66405" y="28080"/>
                  </a:cubicBezTo>
                  <a:cubicBezTo>
                    <a:pt x="48950" y="28080"/>
                    <a:pt x="35416" y="40349"/>
                    <a:pt x="35416" y="60713"/>
                  </a:cubicBezTo>
                  <a:cubicBezTo>
                    <a:pt x="35416" y="81078"/>
                    <a:pt x="48824" y="93347"/>
                    <a:pt x="66405" y="93347"/>
                  </a:cubicBezTo>
                  <a:cubicBezTo>
                    <a:pt x="83987" y="93347"/>
                    <a:pt x="97142" y="81078"/>
                    <a:pt x="97142" y="60713"/>
                  </a:cubicBezTo>
                </a:path>
              </a:pathLst>
            </a:custGeom>
            <a:solidFill>
              <a:schemeClr val="bg1"/>
            </a:solidFill>
            <a:ln w="12614" cap="flat">
              <a:noFill/>
              <a:prstDash val="solid"/>
              <a:miter/>
            </a:ln>
          </p:spPr>
          <p:txBody>
            <a:bodyPr rtlCol="0" anchor="ctr"/>
            <a:lstStyle/>
            <a:p>
              <a:endParaRPr lang="en-IN" sz="3200"/>
            </a:p>
          </p:txBody>
        </p:sp>
        <p:sp>
          <p:nvSpPr>
            <p:cNvPr id="15" name="Freeform: Shape 14">
              <a:extLst>
                <a:ext uri="{FF2B5EF4-FFF2-40B4-BE49-F238E27FC236}">
                  <a16:creationId xmlns:a16="http://schemas.microsoft.com/office/drawing/2014/main" id="{018E97DF-212C-386E-F3A1-D59BBEA884BA}"/>
                </a:ext>
              </a:extLst>
            </p:cNvPr>
            <p:cNvSpPr/>
            <p:nvPr/>
          </p:nvSpPr>
          <p:spPr>
            <a:xfrm>
              <a:off x="11358233" y="6278254"/>
              <a:ext cx="76524" cy="121426"/>
            </a:xfrm>
            <a:custGeom>
              <a:avLst/>
              <a:gdLst>
                <a:gd name="connsiteX0" fmla="*/ 76524 w 76524"/>
                <a:gd name="connsiteY0" fmla="*/ 0 h 121426"/>
                <a:gd name="connsiteX1" fmla="*/ 76524 w 76524"/>
                <a:gd name="connsiteY1" fmla="*/ 32001 h 121426"/>
                <a:gd name="connsiteX2" fmla="*/ 68556 w 76524"/>
                <a:gd name="connsiteY2" fmla="*/ 31495 h 121426"/>
                <a:gd name="connsiteX3" fmla="*/ 35922 w 76524"/>
                <a:gd name="connsiteY3" fmla="*/ 64887 h 121426"/>
                <a:gd name="connsiteX4" fmla="*/ 35543 w 76524"/>
                <a:gd name="connsiteY4" fmla="*/ 121427 h 121426"/>
                <a:gd name="connsiteX5" fmla="*/ 0 w 76524"/>
                <a:gd name="connsiteY5" fmla="*/ 121427 h 121426"/>
                <a:gd name="connsiteX6" fmla="*/ 0 w 76524"/>
                <a:gd name="connsiteY6" fmla="*/ 1771 h 121426"/>
                <a:gd name="connsiteX7" fmla="*/ 34278 w 76524"/>
                <a:gd name="connsiteY7" fmla="*/ 1771 h 121426"/>
                <a:gd name="connsiteX8" fmla="*/ 34278 w 76524"/>
                <a:gd name="connsiteY8" fmla="*/ 17582 h 121426"/>
                <a:gd name="connsiteX9" fmla="*/ 76398 w 76524"/>
                <a:gd name="connsiteY9" fmla="*/ 0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524" h="121426">
                  <a:moveTo>
                    <a:pt x="76524" y="0"/>
                  </a:moveTo>
                  <a:lnTo>
                    <a:pt x="76524" y="32001"/>
                  </a:lnTo>
                  <a:cubicBezTo>
                    <a:pt x="73615" y="31748"/>
                    <a:pt x="71338" y="31495"/>
                    <a:pt x="68556" y="31495"/>
                  </a:cubicBezTo>
                  <a:cubicBezTo>
                    <a:pt x="48950" y="31495"/>
                    <a:pt x="35922" y="41993"/>
                    <a:pt x="35922" y="64887"/>
                  </a:cubicBezTo>
                  <a:lnTo>
                    <a:pt x="35543" y="121427"/>
                  </a:lnTo>
                  <a:lnTo>
                    <a:pt x="0" y="121427"/>
                  </a:lnTo>
                  <a:lnTo>
                    <a:pt x="0" y="1771"/>
                  </a:lnTo>
                  <a:lnTo>
                    <a:pt x="34278" y="1771"/>
                  </a:lnTo>
                  <a:lnTo>
                    <a:pt x="34278" y="17582"/>
                  </a:lnTo>
                  <a:cubicBezTo>
                    <a:pt x="42879" y="6071"/>
                    <a:pt x="57551" y="0"/>
                    <a:pt x="76398" y="0"/>
                  </a:cubicBezTo>
                </a:path>
              </a:pathLst>
            </a:custGeom>
            <a:solidFill>
              <a:schemeClr val="bg1"/>
            </a:solidFill>
            <a:ln w="12614" cap="flat">
              <a:noFill/>
              <a:prstDash val="solid"/>
              <a:miter/>
            </a:ln>
          </p:spPr>
          <p:txBody>
            <a:bodyPr rtlCol="0" anchor="ctr"/>
            <a:lstStyle/>
            <a:p>
              <a:endParaRPr lang="en-IN" sz="3200"/>
            </a:p>
          </p:txBody>
        </p:sp>
        <p:sp>
          <p:nvSpPr>
            <p:cNvPr id="16" name="Freeform: Shape 15">
              <a:extLst>
                <a:ext uri="{FF2B5EF4-FFF2-40B4-BE49-F238E27FC236}">
                  <a16:creationId xmlns:a16="http://schemas.microsoft.com/office/drawing/2014/main" id="{3A2DBAA6-E14F-76F8-8577-BC169D1F1A8E}"/>
                </a:ext>
              </a:extLst>
            </p:cNvPr>
            <p:cNvSpPr/>
            <p:nvPr/>
          </p:nvSpPr>
          <p:spPr>
            <a:xfrm>
              <a:off x="11444243" y="6278381"/>
              <a:ext cx="133696" cy="163799"/>
            </a:xfrm>
            <a:custGeom>
              <a:avLst/>
              <a:gdLst>
                <a:gd name="connsiteX0" fmla="*/ 133696 w 133696"/>
                <a:gd name="connsiteY0" fmla="*/ 1644 h 163799"/>
                <a:gd name="connsiteX1" fmla="*/ 133696 w 133696"/>
                <a:gd name="connsiteY1" fmla="*/ 99798 h 163799"/>
                <a:gd name="connsiteX2" fmla="*/ 65520 w 133696"/>
                <a:gd name="connsiteY2" fmla="*/ 163800 h 163799"/>
                <a:gd name="connsiteX3" fmla="*/ 6198 w 133696"/>
                <a:gd name="connsiteY3" fmla="*/ 147609 h 163799"/>
                <a:gd name="connsiteX4" fmla="*/ 20111 w 133696"/>
                <a:gd name="connsiteY4" fmla="*/ 123071 h 163799"/>
                <a:gd name="connsiteX5" fmla="*/ 62737 w 133696"/>
                <a:gd name="connsiteY5" fmla="*/ 136479 h 163799"/>
                <a:gd name="connsiteX6" fmla="*/ 98533 w 133696"/>
                <a:gd name="connsiteY6" fmla="*/ 104225 h 163799"/>
                <a:gd name="connsiteX7" fmla="*/ 98533 w 133696"/>
                <a:gd name="connsiteY7" fmla="*/ 99165 h 163799"/>
                <a:gd name="connsiteX8" fmla="*/ 60334 w 133696"/>
                <a:gd name="connsiteY8" fmla="*/ 113838 h 163799"/>
                <a:gd name="connsiteX9" fmla="*/ 0 w 133696"/>
                <a:gd name="connsiteY9" fmla="*/ 56919 h 163799"/>
                <a:gd name="connsiteX10" fmla="*/ 60334 w 133696"/>
                <a:gd name="connsiteY10" fmla="*/ 0 h 163799"/>
                <a:gd name="connsiteX11" fmla="*/ 100304 w 133696"/>
                <a:gd name="connsiteY11" fmla="*/ 16823 h 163799"/>
                <a:gd name="connsiteX12" fmla="*/ 100304 w 133696"/>
                <a:gd name="connsiteY12" fmla="*/ 1771 h 163799"/>
                <a:gd name="connsiteX13" fmla="*/ 133570 w 133696"/>
                <a:gd name="connsiteY13" fmla="*/ 1771 h 163799"/>
                <a:gd name="connsiteX14" fmla="*/ 99165 w 133696"/>
                <a:gd name="connsiteY14" fmla="*/ 56792 h 163799"/>
                <a:gd name="connsiteX15" fmla="*/ 67544 w 133696"/>
                <a:gd name="connsiteY15" fmla="*/ 27827 h 163799"/>
                <a:gd name="connsiteX16" fmla="*/ 35669 w 133696"/>
                <a:gd name="connsiteY16" fmla="*/ 56792 h 163799"/>
                <a:gd name="connsiteX17" fmla="*/ 67544 w 133696"/>
                <a:gd name="connsiteY17" fmla="*/ 85758 h 163799"/>
                <a:gd name="connsiteX18" fmla="*/ 99165 w 133696"/>
                <a:gd name="connsiteY18" fmla="*/ 56792 h 163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3696" h="163799">
                  <a:moveTo>
                    <a:pt x="133696" y="1644"/>
                  </a:moveTo>
                  <a:lnTo>
                    <a:pt x="133696" y="99798"/>
                  </a:lnTo>
                  <a:cubicBezTo>
                    <a:pt x="133696" y="143562"/>
                    <a:pt x="109158" y="163800"/>
                    <a:pt x="65520" y="163800"/>
                  </a:cubicBezTo>
                  <a:cubicBezTo>
                    <a:pt x="42626" y="163800"/>
                    <a:pt x="20364" y="158361"/>
                    <a:pt x="6198" y="147609"/>
                  </a:cubicBezTo>
                  <a:lnTo>
                    <a:pt x="20111" y="123071"/>
                  </a:lnTo>
                  <a:cubicBezTo>
                    <a:pt x="30483" y="131166"/>
                    <a:pt x="47306" y="136479"/>
                    <a:pt x="62737" y="136479"/>
                  </a:cubicBezTo>
                  <a:cubicBezTo>
                    <a:pt x="87402" y="136479"/>
                    <a:pt x="98533" y="125474"/>
                    <a:pt x="98533" y="104225"/>
                  </a:cubicBezTo>
                  <a:lnTo>
                    <a:pt x="98533" y="99165"/>
                  </a:lnTo>
                  <a:cubicBezTo>
                    <a:pt x="89299" y="109031"/>
                    <a:pt x="76145" y="113838"/>
                    <a:pt x="60334" y="113838"/>
                  </a:cubicBezTo>
                  <a:cubicBezTo>
                    <a:pt x="26942" y="113838"/>
                    <a:pt x="0" y="91323"/>
                    <a:pt x="0" y="56919"/>
                  </a:cubicBezTo>
                  <a:cubicBezTo>
                    <a:pt x="0" y="22515"/>
                    <a:pt x="26942" y="0"/>
                    <a:pt x="60334" y="0"/>
                  </a:cubicBezTo>
                  <a:cubicBezTo>
                    <a:pt x="77157" y="0"/>
                    <a:pt x="91070" y="5439"/>
                    <a:pt x="100304" y="16823"/>
                  </a:cubicBezTo>
                  <a:lnTo>
                    <a:pt x="100304" y="1771"/>
                  </a:lnTo>
                  <a:lnTo>
                    <a:pt x="133570" y="1771"/>
                  </a:lnTo>
                  <a:close/>
                  <a:moveTo>
                    <a:pt x="99165" y="56792"/>
                  </a:moveTo>
                  <a:cubicBezTo>
                    <a:pt x="99165" y="39464"/>
                    <a:pt x="85884" y="27827"/>
                    <a:pt x="67544" y="27827"/>
                  </a:cubicBezTo>
                  <a:cubicBezTo>
                    <a:pt x="49203" y="27827"/>
                    <a:pt x="35669" y="39464"/>
                    <a:pt x="35669" y="56792"/>
                  </a:cubicBezTo>
                  <a:cubicBezTo>
                    <a:pt x="35669" y="74121"/>
                    <a:pt x="49203" y="85758"/>
                    <a:pt x="67544" y="85758"/>
                  </a:cubicBezTo>
                  <a:cubicBezTo>
                    <a:pt x="85884" y="85758"/>
                    <a:pt x="99165" y="74121"/>
                    <a:pt x="99165" y="56792"/>
                  </a:cubicBezTo>
                </a:path>
              </a:pathLst>
            </a:custGeom>
            <a:solidFill>
              <a:schemeClr val="bg1"/>
            </a:solidFill>
            <a:ln w="12614" cap="flat">
              <a:noFill/>
              <a:prstDash val="solid"/>
              <a:miter/>
            </a:ln>
          </p:spPr>
          <p:txBody>
            <a:bodyPr rtlCol="0" anchor="ctr"/>
            <a:lstStyle/>
            <a:p>
              <a:endParaRPr lang="en-IN" sz="3200"/>
            </a:p>
          </p:txBody>
        </p:sp>
        <p:sp>
          <p:nvSpPr>
            <p:cNvPr id="17" name="Freeform: Shape 16">
              <a:extLst>
                <a:ext uri="{FF2B5EF4-FFF2-40B4-BE49-F238E27FC236}">
                  <a16:creationId xmlns:a16="http://schemas.microsoft.com/office/drawing/2014/main" id="{BE9C64C1-59E5-EA69-3C7E-7AA365537F02}"/>
                </a:ext>
              </a:extLst>
            </p:cNvPr>
            <p:cNvSpPr/>
            <p:nvPr/>
          </p:nvSpPr>
          <p:spPr>
            <a:xfrm>
              <a:off x="11601593" y="6278254"/>
              <a:ext cx="127245" cy="121426"/>
            </a:xfrm>
            <a:custGeom>
              <a:avLst/>
              <a:gdLst>
                <a:gd name="connsiteX0" fmla="*/ 126613 w 127245"/>
                <a:gd name="connsiteY0" fmla="*/ 70326 h 121426"/>
                <a:gd name="connsiteX1" fmla="*/ 35290 w 127245"/>
                <a:gd name="connsiteY1" fmla="*/ 70326 h 121426"/>
                <a:gd name="connsiteX2" fmla="*/ 69821 w 127245"/>
                <a:gd name="connsiteY2" fmla="*/ 93979 h 121426"/>
                <a:gd name="connsiteX3" fmla="*/ 100177 w 127245"/>
                <a:gd name="connsiteY3" fmla="*/ 82596 h 121426"/>
                <a:gd name="connsiteX4" fmla="*/ 118771 w 127245"/>
                <a:gd name="connsiteY4" fmla="*/ 102327 h 121426"/>
                <a:gd name="connsiteX5" fmla="*/ 68556 w 127245"/>
                <a:gd name="connsiteY5" fmla="*/ 121427 h 121426"/>
                <a:gd name="connsiteX6" fmla="*/ 0 w 127245"/>
                <a:gd name="connsiteY6" fmla="*/ 60713 h 121426"/>
                <a:gd name="connsiteX7" fmla="*/ 64382 w 127245"/>
                <a:gd name="connsiteY7" fmla="*/ 0 h 121426"/>
                <a:gd name="connsiteX8" fmla="*/ 127245 w 127245"/>
                <a:gd name="connsiteY8" fmla="*/ 61093 h 121426"/>
                <a:gd name="connsiteX9" fmla="*/ 126613 w 127245"/>
                <a:gd name="connsiteY9" fmla="*/ 70326 h 121426"/>
                <a:gd name="connsiteX10" fmla="*/ 34784 w 127245"/>
                <a:gd name="connsiteY10" fmla="*/ 50342 h 121426"/>
                <a:gd name="connsiteX11" fmla="*/ 94232 w 127245"/>
                <a:gd name="connsiteY11" fmla="*/ 50342 h 121426"/>
                <a:gd name="connsiteX12" fmla="*/ 64635 w 127245"/>
                <a:gd name="connsiteY12" fmla="*/ 25803 h 121426"/>
                <a:gd name="connsiteX13" fmla="*/ 34784 w 127245"/>
                <a:gd name="connsiteY13" fmla="*/ 50342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245" h="121426">
                  <a:moveTo>
                    <a:pt x="126613" y="70326"/>
                  </a:moveTo>
                  <a:lnTo>
                    <a:pt x="35290" y="70326"/>
                  </a:lnTo>
                  <a:cubicBezTo>
                    <a:pt x="38705" y="84999"/>
                    <a:pt x="51480" y="93979"/>
                    <a:pt x="69821" y="93979"/>
                  </a:cubicBezTo>
                  <a:cubicBezTo>
                    <a:pt x="82596" y="93979"/>
                    <a:pt x="91829" y="90311"/>
                    <a:pt x="100177" y="82596"/>
                  </a:cubicBezTo>
                  <a:lnTo>
                    <a:pt x="118771" y="102327"/>
                  </a:lnTo>
                  <a:cubicBezTo>
                    <a:pt x="107514" y="114850"/>
                    <a:pt x="90311" y="121427"/>
                    <a:pt x="68556" y="121427"/>
                  </a:cubicBezTo>
                  <a:cubicBezTo>
                    <a:pt x="26815" y="121427"/>
                    <a:pt x="0" y="95750"/>
                    <a:pt x="0" y="60713"/>
                  </a:cubicBezTo>
                  <a:cubicBezTo>
                    <a:pt x="0" y="25677"/>
                    <a:pt x="27574" y="0"/>
                    <a:pt x="64382" y="0"/>
                  </a:cubicBezTo>
                  <a:cubicBezTo>
                    <a:pt x="101189" y="0"/>
                    <a:pt x="127245" y="23273"/>
                    <a:pt x="127245" y="61093"/>
                  </a:cubicBezTo>
                  <a:cubicBezTo>
                    <a:pt x="127245" y="63749"/>
                    <a:pt x="126739" y="67417"/>
                    <a:pt x="126613" y="70326"/>
                  </a:cubicBezTo>
                  <a:moveTo>
                    <a:pt x="34784" y="50342"/>
                  </a:moveTo>
                  <a:lnTo>
                    <a:pt x="94232" y="50342"/>
                  </a:lnTo>
                  <a:cubicBezTo>
                    <a:pt x="91703" y="35416"/>
                    <a:pt x="80319" y="25803"/>
                    <a:pt x="64635" y="25803"/>
                  </a:cubicBezTo>
                  <a:cubicBezTo>
                    <a:pt x="48950" y="25803"/>
                    <a:pt x="37313" y="35163"/>
                    <a:pt x="34784" y="50342"/>
                  </a:cubicBezTo>
                </a:path>
              </a:pathLst>
            </a:custGeom>
            <a:solidFill>
              <a:schemeClr val="bg1"/>
            </a:solidFill>
            <a:ln w="12614" cap="flat">
              <a:noFill/>
              <a:prstDash val="solid"/>
              <a:miter/>
            </a:ln>
          </p:spPr>
          <p:txBody>
            <a:bodyPr rtlCol="0" anchor="ctr"/>
            <a:lstStyle/>
            <a:p>
              <a:endParaRPr lang="en-IN" sz="3200"/>
            </a:p>
          </p:txBody>
        </p:sp>
        <p:sp>
          <p:nvSpPr>
            <p:cNvPr id="18" name="Freeform: Shape 17">
              <a:extLst>
                <a:ext uri="{FF2B5EF4-FFF2-40B4-BE49-F238E27FC236}">
                  <a16:creationId xmlns:a16="http://schemas.microsoft.com/office/drawing/2014/main" id="{1E6C1AD8-29BE-203C-BE54-A8E56B931647}"/>
                </a:ext>
              </a:extLst>
            </p:cNvPr>
            <p:cNvSpPr/>
            <p:nvPr/>
          </p:nvSpPr>
          <p:spPr>
            <a:xfrm>
              <a:off x="10965619" y="6278254"/>
              <a:ext cx="66278" cy="121426"/>
            </a:xfrm>
            <a:custGeom>
              <a:avLst/>
              <a:gdLst>
                <a:gd name="connsiteX0" fmla="*/ 66279 w 66278"/>
                <a:gd name="connsiteY0" fmla="*/ 93347 h 121426"/>
                <a:gd name="connsiteX1" fmla="*/ 35416 w 66278"/>
                <a:gd name="connsiteY1" fmla="*/ 60713 h 121426"/>
                <a:gd name="connsiteX2" fmla="*/ 66279 w 66278"/>
                <a:gd name="connsiteY2" fmla="*/ 28080 h 121426"/>
                <a:gd name="connsiteX3" fmla="*/ 66279 w 66278"/>
                <a:gd name="connsiteY3" fmla="*/ 0 h 121426"/>
                <a:gd name="connsiteX4" fmla="*/ 0 w 66278"/>
                <a:gd name="connsiteY4" fmla="*/ 60713 h 121426"/>
                <a:gd name="connsiteX5" fmla="*/ 66026 w 66278"/>
                <a:gd name="connsiteY5" fmla="*/ 121427 h 121426"/>
                <a:gd name="connsiteX6" fmla="*/ 66279 w 66278"/>
                <a:gd name="connsiteY6" fmla="*/ 121427 h 121426"/>
                <a:gd name="connsiteX7" fmla="*/ 66279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66279" y="93347"/>
                  </a:moveTo>
                  <a:cubicBezTo>
                    <a:pt x="48824" y="93347"/>
                    <a:pt x="35416" y="81078"/>
                    <a:pt x="35416" y="60713"/>
                  </a:cubicBezTo>
                  <a:cubicBezTo>
                    <a:pt x="35416" y="40349"/>
                    <a:pt x="48824" y="28080"/>
                    <a:pt x="66279" y="28080"/>
                  </a:cubicBezTo>
                  <a:lnTo>
                    <a:pt x="66279" y="0"/>
                  </a:lnTo>
                  <a:cubicBezTo>
                    <a:pt x="27954" y="0"/>
                    <a:pt x="0" y="25171"/>
                    <a:pt x="0" y="60713"/>
                  </a:cubicBezTo>
                  <a:cubicBezTo>
                    <a:pt x="0" y="96256"/>
                    <a:pt x="27701" y="121427"/>
                    <a:pt x="66026" y="121427"/>
                  </a:cubicBezTo>
                  <a:cubicBezTo>
                    <a:pt x="66026" y="121427"/>
                    <a:pt x="66152" y="121427"/>
                    <a:pt x="66279" y="121427"/>
                  </a:cubicBezTo>
                  <a:lnTo>
                    <a:pt x="66279" y="93347"/>
                  </a:lnTo>
                  <a:close/>
                </a:path>
              </a:pathLst>
            </a:custGeom>
            <a:solidFill>
              <a:srgbClr val="F15B40"/>
            </a:solidFill>
            <a:ln w="12614" cap="flat">
              <a:noFill/>
              <a:prstDash val="solid"/>
              <a:miter/>
            </a:ln>
          </p:spPr>
          <p:txBody>
            <a:bodyPr rtlCol="0" anchor="ctr"/>
            <a:lstStyle/>
            <a:p>
              <a:endParaRPr lang="en-IN" sz="3200"/>
            </a:p>
          </p:txBody>
        </p:sp>
        <p:sp>
          <p:nvSpPr>
            <p:cNvPr id="19" name="Freeform: Shape 18">
              <a:extLst>
                <a:ext uri="{FF2B5EF4-FFF2-40B4-BE49-F238E27FC236}">
                  <a16:creationId xmlns:a16="http://schemas.microsoft.com/office/drawing/2014/main" id="{E1D7EE3D-94D7-10EF-0607-AE5229E0A98F}"/>
                </a:ext>
              </a:extLst>
            </p:cNvPr>
            <p:cNvSpPr/>
            <p:nvPr/>
          </p:nvSpPr>
          <p:spPr>
            <a:xfrm>
              <a:off x="11031898" y="6278254"/>
              <a:ext cx="66278" cy="121426"/>
            </a:xfrm>
            <a:custGeom>
              <a:avLst/>
              <a:gdLst>
                <a:gd name="connsiteX0" fmla="*/ 0 w 66278"/>
                <a:gd name="connsiteY0" fmla="*/ 93347 h 121426"/>
                <a:gd name="connsiteX1" fmla="*/ 30863 w 66278"/>
                <a:gd name="connsiteY1" fmla="*/ 60713 h 121426"/>
                <a:gd name="connsiteX2" fmla="*/ 0 w 66278"/>
                <a:gd name="connsiteY2" fmla="*/ 28080 h 121426"/>
                <a:gd name="connsiteX3" fmla="*/ 0 w 66278"/>
                <a:gd name="connsiteY3" fmla="*/ 0 h 121426"/>
                <a:gd name="connsiteX4" fmla="*/ 66279 w 66278"/>
                <a:gd name="connsiteY4" fmla="*/ 60713 h 121426"/>
                <a:gd name="connsiteX5" fmla="*/ 253 w 66278"/>
                <a:gd name="connsiteY5" fmla="*/ 121427 h 121426"/>
                <a:gd name="connsiteX6" fmla="*/ 0 w 66278"/>
                <a:gd name="connsiteY6" fmla="*/ 121427 h 121426"/>
                <a:gd name="connsiteX7" fmla="*/ 0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0" y="93347"/>
                  </a:moveTo>
                  <a:cubicBezTo>
                    <a:pt x="17455" y="93347"/>
                    <a:pt x="30863" y="81078"/>
                    <a:pt x="30863" y="60713"/>
                  </a:cubicBezTo>
                  <a:cubicBezTo>
                    <a:pt x="30863" y="40349"/>
                    <a:pt x="17455" y="28080"/>
                    <a:pt x="0" y="28080"/>
                  </a:cubicBezTo>
                  <a:lnTo>
                    <a:pt x="0" y="0"/>
                  </a:lnTo>
                  <a:cubicBezTo>
                    <a:pt x="38325" y="0"/>
                    <a:pt x="66279" y="25171"/>
                    <a:pt x="66279" y="60713"/>
                  </a:cubicBezTo>
                  <a:cubicBezTo>
                    <a:pt x="66279" y="96256"/>
                    <a:pt x="38578" y="121427"/>
                    <a:pt x="253" y="121427"/>
                  </a:cubicBezTo>
                  <a:cubicBezTo>
                    <a:pt x="253" y="121427"/>
                    <a:pt x="126" y="121427"/>
                    <a:pt x="0" y="121427"/>
                  </a:cubicBezTo>
                  <a:lnTo>
                    <a:pt x="0" y="93347"/>
                  </a:lnTo>
                  <a:close/>
                </a:path>
              </a:pathLst>
            </a:custGeom>
            <a:solidFill>
              <a:schemeClr val="bg1"/>
            </a:solidFill>
            <a:ln w="12614" cap="flat">
              <a:noFill/>
              <a:prstDash val="solid"/>
              <a:miter/>
            </a:ln>
          </p:spPr>
          <p:txBody>
            <a:bodyPr rtlCol="0" anchor="ctr"/>
            <a:lstStyle/>
            <a:p>
              <a:endParaRPr lang="en-IN" sz="3200"/>
            </a:p>
          </p:txBody>
        </p:sp>
      </p:grpSp>
      <p:sp>
        <p:nvSpPr>
          <p:cNvPr id="20" name="Text Placeholder 19">
            <a:extLst>
              <a:ext uri="{FF2B5EF4-FFF2-40B4-BE49-F238E27FC236}">
                <a16:creationId xmlns:a16="http://schemas.microsoft.com/office/drawing/2014/main" id="{8CA2DA4E-4F1C-11D3-9EC5-D14223B10926}"/>
              </a:ext>
            </a:extLst>
          </p:cNvPr>
          <p:cNvSpPr>
            <a:spLocks noGrp="1"/>
          </p:cNvSpPr>
          <p:nvPr>
            <p:ph type="body" sz="quarter" idx="12" hasCustomPrompt="1"/>
          </p:nvPr>
        </p:nvSpPr>
        <p:spPr>
          <a:xfrm>
            <a:off x="391584" y="5126567"/>
            <a:ext cx="9531552" cy="1873251"/>
          </a:xfrm>
          <a:noFill/>
        </p:spPr>
        <p:txBody>
          <a:bodyPr>
            <a:normAutofit/>
          </a:bodyPr>
          <a:lstStyle>
            <a:lvl1pPr marL="0" indent="0">
              <a:buFontTx/>
              <a:buNone/>
              <a:defRPr sz="3733" b="1">
                <a:solidFill>
                  <a:schemeClr val="bg1"/>
                </a:solidFill>
              </a:defRPr>
            </a:lvl1pPr>
            <a:lvl2pPr marL="609585" indent="0">
              <a:buFontTx/>
              <a:buNone/>
              <a:defRPr/>
            </a:lvl2pPr>
            <a:lvl3pPr marL="1219170" indent="0">
              <a:buFontTx/>
              <a:buNone/>
              <a:defRPr/>
            </a:lvl3pPr>
            <a:lvl4pPr marL="1828754" indent="0">
              <a:buFontTx/>
              <a:buNone/>
              <a:defRPr/>
            </a:lvl4pPr>
            <a:lvl5pPr marL="2438339" indent="0">
              <a:buFontTx/>
              <a:buNone/>
              <a:defRPr/>
            </a:lvl5pPr>
          </a:lstStyle>
          <a:p>
            <a:pPr lvl="0"/>
            <a:r>
              <a:rPr lang="en-US"/>
              <a:t>Sub-title</a:t>
            </a:r>
          </a:p>
        </p:txBody>
      </p:sp>
      <p:pic>
        <p:nvPicPr>
          <p:cNvPr id="3" name="Picture 2">
            <a:extLst>
              <a:ext uri="{FF2B5EF4-FFF2-40B4-BE49-F238E27FC236}">
                <a16:creationId xmlns:a16="http://schemas.microsoft.com/office/drawing/2014/main" id="{918512C7-7A02-92B7-33A3-35B9D1D20977}"/>
              </a:ext>
            </a:extLst>
          </p:cNvPr>
          <p:cNvPicPr>
            <a:picLocks noChangeAspect="1"/>
          </p:cNvPicPr>
          <p:nvPr userDrawn="1"/>
        </p:nvPicPr>
        <p:blipFill>
          <a:blip r:embed="rId4"/>
          <a:stretch>
            <a:fillRect/>
          </a:stretch>
        </p:blipFill>
        <p:spPr>
          <a:xfrm>
            <a:off x="13986660" y="735340"/>
            <a:ext cx="1571844" cy="581106"/>
          </a:xfrm>
          <a:prstGeom prst="rect">
            <a:avLst/>
          </a:prstGeom>
        </p:spPr>
      </p:pic>
    </p:spTree>
    <p:extLst>
      <p:ext uri="{BB962C8B-B14F-4D97-AF65-F5344CB8AC3E}">
        <p14:creationId xmlns:p14="http://schemas.microsoft.com/office/powerpoint/2010/main" val="3891470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37D05-9965-8B8B-BE58-BAAA3852AAAD}"/>
              </a:ext>
            </a:extLst>
          </p:cNvPr>
          <p:cNvSpPr>
            <a:spLocks noGrp="1"/>
          </p:cNvSpPr>
          <p:nvPr>
            <p:ph type="title"/>
          </p:nvPr>
        </p:nvSpPr>
        <p:spPr>
          <a:xfrm>
            <a:off x="270825" y="245676"/>
            <a:ext cx="15504000" cy="1260685"/>
          </a:xfrm>
        </p:spPr>
        <p:txBody>
          <a:bodyPr/>
          <a:lstStyle/>
          <a:p>
            <a:r>
              <a:rPr lang="en-US"/>
              <a:t>Click to edit Master title style</a:t>
            </a:r>
            <a:endParaRPr lang="en-IN"/>
          </a:p>
        </p:txBody>
      </p:sp>
    </p:spTree>
    <p:extLst>
      <p:ext uri="{BB962C8B-B14F-4D97-AF65-F5344CB8AC3E}">
        <p14:creationId xmlns:p14="http://schemas.microsoft.com/office/powerpoint/2010/main" val="2123223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4036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ID_Let's engag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F5DDCEDB-866C-27E2-FF3E-0870C048C4F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1405" y="8537708"/>
            <a:ext cx="15504000" cy="34605"/>
          </a:xfrm>
          <a:prstGeom prst="rect">
            <a:avLst/>
          </a:prstGeom>
        </p:spPr>
      </p:pic>
      <p:grpSp>
        <p:nvGrpSpPr>
          <p:cNvPr id="11" name="Group 10">
            <a:extLst>
              <a:ext uri="{FF2B5EF4-FFF2-40B4-BE49-F238E27FC236}">
                <a16:creationId xmlns:a16="http://schemas.microsoft.com/office/drawing/2014/main" id="{43B80327-1D0A-105F-08E8-57458D90D13D}"/>
              </a:ext>
            </a:extLst>
          </p:cNvPr>
          <p:cNvGrpSpPr>
            <a:grpSpLocks noChangeAspect="1"/>
          </p:cNvGrpSpPr>
          <p:nvPr/>
        </p:nvGrpSpPr>
        <p:grpSpPr>
          <a:xfrm>
            <a:off x="391405" y="766212"/>
            <a:ext cx="3120000" cy="693093"/>
            <a:chOff x="10797898" y="6235376"/>
            <a:chExt cx="930940" cy="206804"/>
          </a:xfrm>
        </p:grpSpPr>
        <p:sp>
          <p:nvSpPr>
            <p:cNvPr id="12" name="Freeform: Shape 11">
              <a:extLst>
                <a:ext uri="{FF2B5EF4-FFF2-40B4-BE49-F238E27FC236}">
                  <a16:creationId xmlns:a16="http://schemas.microsoft.com/office/drawing/2014/main" id="{7247822C-8FC4-A887-759C-17711D99E1E9}"/>
                </a:ext>
              </a:extLst>
            </p:cNvPr>
            <p:cNvSpPr/>
            <p:nvPr/>
          </p:nvSpPr>
          <p:spPr>
            <a:xfrm>
              <a:off x="10797898" y="6241067"/>
              <a:ext cx="149886" cy="158487"/>
            </a:xfrm>
            <a:custGeom>
              <a:avLst/>
              <a:gdLst>
                <a:gd name="connsiteX0" fmla="*/ 0 w 149886"/>
                <a:gd name="connsiteY0" fmla="*/ 79307 h 158487"/>
                <a:gd name="connsiteX1" fmla="*/ 85252 w 149886"/>
                <a:gd name="connsiteY1" fmla="*/ 0 h 158487"/>
                <a:gd name="connsiteX2" fmla="*/ 149886 w 149886"/>
                <a:gd name="connsiteY2" fmla="*/ 27195 h 158487"/>
                <a:gd name="connsiteX3" fmla="*/ 126486 w 149886"/>
                <a:gd name="connsiteY3" fmla="*/ 48191 h 158487"/>
                <a:gd name="connsiteX4" fmla="*/ 87023 w 149886"/>
                <a:gd name="connsiteY4" fmla="*/ 30230 h 158487"/>
                <a:gd name="connsiteX5" fmla="*/ 36681 w 149886"/>
                <a:gd name="connsiteY5" fmla="*/ 79307 h 158487"/>
                <a:gd name="connsiteX6" fmla="*/ 87023 w 149886"/>
                <a:gd name="connsiteY6" fmla="*/ 128384 h 158487"/>
                <a:gd name="connsiteX7" fmla="*/ 126486 w 149886"/>
                <a:gd name="connsiteY7" fmla="*/ 110170 h 158487"/>
                <a:gd name="connsiteX8" fmla="*/ 149886 w 149886"/>
                <a:gd name="connsiteY8" fmla="*/ 131166 h 158487"/>
                <a:gd name="connsiteX9" fmla="*/ 84999 w 149886"/>
                <a:gd name="connsiteY9" fmla="*/ 158487 h 158487"/>
                <a:gd name="connsiteX10" fmla="*/ 0 w 149886"/>
                <a:gd name="connsiteY10" fmla="*/ 79307 h 158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9886" h="158487">
                  <a:moveTo>
                    <a:pt x="0" y="79307"/>
                  </a:moveTo>
                  <a:cubicBezTo>
                    <a:pt x="0" y="33139"/>
                    <a:pt x="36302" y="0"/>
                    <a:pt x="85252" y="0"/>
                  </a:cubicBezTo>
                  <a:cubicBezTo>
                    <a:pt x="112446" y="0"/>
                    <a:pt x="135088" y="9613"/>
                    <a:pt x="149886" y="27195"/>
                  </a:cubicBezTo>
                  <a:lnTo>
                    <a:pt x="126486" y="48191"/>
                  </a:lnTo>
                  <a:cubicBezTo>
                    <a:pt x="115988" y="36428"/>
                    <a:pt x="102707" y="30230"/>
                    <a:pt x="87023" y="30230"/>
                  </a:cubicBezTo>
                  <a:cubicBezTo>
                    <a:pt x="57678" y="30230"/>
                    <a:pt x="36681" y="50342"/>
                    <a:pt x="36681" y="79307"/>
                  </a:cubicBezTo>
                  <a:cubicBezTo>
                    <a:pt x="36681" y="108272"/>
                    <a:pt x="57551" y="128384"/>
                    <a:pt x="87023" y="128384"/>
                  </a:cubicBezTo>
                  <a:cubicBezTo>
                    <a:pt x="102707" y="128384"/>
                    <a:pt x="115988" y="122186"/>
                    <a:pt x="126486" y="110170"/>
                  </a:cubicBezTo>
                  <a:lnTo>
                    <a:pt x="149886" y="131166"/>
                  </a:lnTo>
                  <a:cubicBezTo>
                    <a:pt x="135088" y="148874"/>
                    <a:pt x="112446" y="158487"/>
                    <a:pt x="84999" y="158487"/>
                  </a:cubicBezTo>
                  <a:cubicBezTo>
                    <a:pt x="36302" y="158614"/>
                    <a:pt x="0" y="125474"/>
                    <a:pt x="0" y="79307"/>
                  </a:cubicBezTo>
                </a:path>
              </a:pathLst>
            </a:custGeom>
            <a:solidFill>
              <a:srgbClr val="F15B40"/>
            </a:solidFill>
            <a:ln w="12614" cap="flat">
              <a:noFill/>
              <a:prstDash val="solid"/>
              <a:miter/>
            </a:ln>
          </p:spPr>
          <p:txBody>
            <a:bodyPr rtlCol="0" anchor="ctr"/>
            <a:lstStyle/>
            <a:p>
              <a:endParaRPr lang="en-IN" sz="3200"/>
            </a:p>
          </p:txBody>
        </p:sp>
        <p:sp>
          <p:nvSpPr>
            <p:cNvPr id="13" name="Freeform: Shape 12">
              <a:extLst>
                <a:ext uri="{FF2B5EF4-FFF2-40B4-BE49-F238E27FC236}">
                  <a16:creationId xmlns:a16="http://schemas.microsoft.com/office/drawing/2014/main" id="{0858CE96-D121-617B-12F9-04187952CA96}"/>
                </a:ext>
              </a:extLst>
            </p:cNvPr>
            <p:cNvSpPr/>
            <p:nvPr/>
          </p:nvSpPr>
          <p:spPr>
            <a:xfrm>
              <a:off x="11111584" y="6235376"/>
              <a:ext cx="91955" cy="164305"/>
            </a:xfrm>
            <a:custGeom>
              <a:avLst/>
              <a:gdLst>
                <a:gd name="connsiteX0" fmla="*/ 53124 w 91955"/>
                <a:gd name="connsiteY0" fmla="*/ 49077 h 164305"/>
                <a:gd name="connsiteX1" fmla="*/ 84114 w 91955"/>
                <a:gd name="connsiteY1" fmla="*/ 49077 h 164305"/>
                <a:gd name="connsiteX2" fmla="*/ 84114 w 91955"/>
                <a:gd name="connsiteY2" fmla="*/ 75386 h 164305"/>
                <a:gd name="connsiteX3" fmla="*/ 54010 w 91955"/>
                <a:gd name="connsiteY3" fmla="*/ 75386 h 164305"/>
                <a:gd name="connsiteX4" fmla="*/ 53630 w 91955"/>
                <a:gd name="connsiteY4" fmla="*/ 164306 h 164305"/>
                <a:gd name="connsiteX5" fmla="*/ 18594 w 91955"/>
                <a:gd name="connsiteY5" fmla="*/ 164306 h 164305"/>
                <a:gd name="connsiteX6" fmla="*/ 18973 w 91955"/>
                <a:gd name="connsiteY6" fmla="*/ 75386 h 164305"/>
                <a:gd name="connsiteX7" fmla="*/ 0 w 91955"/>
                <a:gd name="connsiteY7" fmla="*/ 75386 h 164305"/>
                <a:gd name="connsiteX8" fmla="*/ 0 w 91955"/>
                <a:gd name="connsiteY8" fmla="*/ 49077 h 164305"/>
                <a:gd name="connsiteX9" fmla="*/ 18973 w 91955"/>
                <a:gd name="connsiteY9" fmla="*/ 49077 h 164305"/>
                <a:gd name="connsiteX10" fmla="*/ 18973 w 91955"/>
                <a:gd name="connsiteY10" fmla="*/ 43764 h 164305"/>
                <a:gd name="connsiteX11" fmla="*/ 65267 w 91955"/>
                <a:gd name="connsiteY11" fmla="*/ 0 h 164305"/>
                <a:gd name="connsiteX12" fmla="*/ 91956 w 91955"/>
                <a:gd name="connsiteY12" fmla="*/ 6324 h 164305"/>
                <a:gd name="connsiteX13" fmla="*/ 82722 w 91955"/>
                <a:gd name="connsiteY13" fmla="*/ 31116 h 164305"/>
                <a:gd name="connsiteX14" fmla="*/ 68556 w 91955"/>
                <a:gd name="connsiteY14" fmla="*/ 26942 h 164305"/>
                <a:gd name="connsiteX15" fmla="*/ 52998 w 91955"/>
                <a:gd name="connsiteY15" fmla="*/ 44017 h 164305"/>
                <a:gd name="connsiteX16" fmla="*/ 52998 w 91955"/>
                <a:gd name="connsiteY16" fmla="*/ 49077 h 16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1955" h="164305">
                  <a:moveTo>
                    <a:pt x="53124" y="49077"/>
                  </a:moveTo>
                  <a:lnTo>
                    <a:pt x="84114" y="49077"/>
                  </a:lnTo>
                  <a:lnTo>
                    <a:pt x="84114" y="75386"/>
                  </a:lnTo>
                  <a:lnTo>
                    <a:pt x="54010" y="75386"/>
                  </a:lnTo>
                  <a:lnTo>
                    <a:pt x="53630" y="164306"/>
                  </a:lnTo>
                  <a:lnTo>
                    <a:pt x="18594" y="164306"/>
                  </a:lnTo>
                  <a:lnTo>
                    <a:pt x="18973" y="75386"/>
                  </a:lnTo>
                  <a:lnTo>
                    <a:pt x="0" y="75386"/>
                  </a:lnTo>
                  <a:lnTo>
                    <a:pt x="0" y="49077"/>
                  </a:lnTo>
                  <a:lnTo>
                    <a:pt x="18973" y="49077"/>
                  </a:lnTo>
                  <a:lnTo>
                    <a:pt x="18973" y="43764"/>
                  </a:lnTo>
                  <a:cubicBezTo>
                    <a:pt x="18973" y="17329"/>
                    <a:pt x="35290" y="0"/>
                    <a:pt x="65267" y="0"/>
                  </a:cubicBezTo>
                  <a:cubicBezTo>
                    <a:pt x="75133" y="0"/>
                    <a:pt x="85505" y="2024"/>
                    <a:pt x="91956" y="6324"/>
                  </a:cubicBezTo>
                  <a:lnTo>
                    <a:pt x="82722" y="31116"/>
                  </a:lnTo>
                  <a:cubicBezTo>
                    <a:pt x="78928" y="28459"/>
                    <a:pt x="73995" y="26942"/>
                    <a:pt x="68556" y="26942"/>
                  </a:cubicBezTo>
                  <a:cubicBezTo>
                    <a:pt x="58184" y="26942"/>
                    <a:pt x="52998" y="32380"/>
                    <a:pt x="52998" y="44017"/>
                  </a:cubicBezTo>
                  <a:lnTo>
                    <a:pt x="52998" y="49077"/>
                  </a:lnTo>
                  <a:close/>
                </a:path>
              </a:pathLst>
            </a:custGeom>
            <a:solidFill>
              <a:schemeClr val="bg1"/>
            </a:solidFill>
            <a:ln w="12614" cap="flat">
              <a:noFill/>
              <a:prstDash val="solid"/>
              <a:miter/>
            </a:ln>
          </p:spPr>
          <p:txBody>
            <a:bodyPr rtlCol="0" anchor="ctr"/>
            <a:lstStyle/>
            <a:p>
              <a:endParaRPr lang="en-IN" sz="3200"/>
            </a:p>
          </p:txBody>
        </p:sp>
        <p:sp>
          <p:nvSpPr>
            <p:cNvPr id="14" name="Freeform: Shape 13">
              <a:extLst>
                <a:ext uri="{FF2B5EF4-FFF2-40B4-BE49-F238E27FC236}">
                  <a16:creationId xmlns:a16="http://schemas.microsoft.com/office/drawing/2014/main" id="{F7436A88-1027-4425-440A-3E531CCB55B8}"/>
                </a:ext>
              </a:extLst>
            </p:cNvPr>
            <p:cNvSpPr/>
            <p:nvPr/>
          </p:nvSpPr>
          <p:spPr>
            <a:xfrm>
              <a:off x="11202654" y="6278254"/>
              <a:ext cx="132557" cy="121426"/>
            </a:xfrm>
            <a:custGeom>
              <a:avLst/>
              <a:gdLst>
                <a:gd name="connsiteX0" fmla="*/ 0 w 132557"/>
                <a:gd name="connsiteY0" fmla="*/ 60713 h 121426"/>
                <a:gd name="connsiteX1" fmla="*/ 66405 w 132557"/>
                <a:gd name="connsiteY1" fmla="*/ 0 h 121426"/>
                <a:gd name="connsiteX2" fmla="*/ 132558 w 132557"/>
                <a:gd name="connsiteY2" fmla="*/ 60713 h 121426"/>
                <a:gd name="connsiteX3" fmla="*/ 66026 w 132557"/>
                <a:gd name="connsiteY3" fmla="*/ 121427 h 121426"/>
                <a:gd name="connsiteX4" fmla="*/ 0 w 132557"/>
                <a:gd name="connsiteY4" fmla="*/ 60713 h 121426"/>
                <a:gd name="connsiteX5" fmla="*/ 97142 w 132557"/>
                <a:gd name="connsiteY5" fmla="*/ 60713 h 121426"/>
                <a:gd name="connsiteX6" fmla="*/ 66405 w 132557"/>
                <a:gd name="connsiteY6" fmla="*/ 28080 h 121426"/>
                <a:gd name="connsiteX7" fmla="*/ 35416 w 132557"/>
                <a:gd name="connsiteY7" fmla="*/ 60713 h 121426"/>
                <a:gd name="connsiteX8" fmla="*/ 66405 w 132557"/>
                <a:gd name="connsiteY8" fmla="*/ 93347 h 121426"/>
                <a:gd name="connsiteX9" fmla="*/ 97142 w 132557"/>
                <a:gd name="connsiteY9" fmla="*/ 60713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557" h="121426">
                  <a:moveTo>
                    <a:pt x="0" y="60713"/>
                  </a:moveTo>
                  <a:cubicBezTo>
                    <a:pt x="0" y="25171"/>
                    <a:pt x="28080" y="0"/>
                    <a:pt x="66405" y="0"/>
                  </a:cubicBezTo>
                  <a:cubicBezTo>
                    <a:pt x="104731" y="0"/>
                    <a:pt x="132558" y="25171"/>
                    <a:pt x="132558" y="60713"/>
                  </a:cubicBezTo>
                  <a:cubicBezTo>
                    <a:pt x="132558" y="96256"/>
                    <a:pt x="104351" y="121427"/>
                    <a:pt x="66026" y="121427"/>
                  </a:cubicBezTo>
                  <a:cubicBezTo>
                    <a:pt x="27701" y="121427"/>
                    <a:pt x="0" y="96256"/>
                    <a:pt x="0" y="60713"/>
                  </a:cubicBezTo>
                  <a:moveTo>
                    <a:pt x="97142" y="60713"/>
                  </a:moveTo>
                  <a:cubicBezTo>
                    <a:pt x="97142" y="40349"/>
                    <a:pt x="83861" y="28080"/>
                    <a:pt x="66405" y="28080"/>
                  </a:cubicBezTo>
                  <a:cubicBezTo>
                    <a:pt x="48950" y="28080"/>
                    <a:pt x="35416" y="40349"/>
                    <a:pt x="35416" y="60713"/>
                  </a:cubicBezTo>
                  <a:cubicBezTo>
                    <a:pt x="35416" y="81078"/>
                    <a:pt x="48824" y="93347"/>
                    <a:pt x="66405" y="93347"/>
                  </a:cubicBezTo>
                  <a:cubicBezTo>
                    <a:pt x="83987" y="93347"/>
                    <a:pt x="97142" y="81078"/>
                    <a:pt x="97142" y="60713"/>
                  </a:cubicBezTo>
                </a:path>
              </a:pathLst>
            </a:custGeom>
            <a:solidFill>
              <a:schemeClr val="bg1"/>
            </a:solidFill>
            <a:ln w="12614" cap="flat">
              <a:noFill/>
              <a:prstDash val="solid"/>
              <a:miter/>
            </a:ln>
          </p:spPr>
          <p:txBody>
            <a:bodyPr rtlCol="0" anchor="ctr"/>
            <a:lstStyle/>
            <a:p>
              <a:endParaRPr lang="en-IN" sz="3200"/>
            </a:p>
          </p:txBody>
        </p:sp>
        <p:sp>
          <p:nvSpPr>
            <p:cNvPr id="15" name="Freeform: Shape 14">
              <a:extLst>
                <a:ext uri="{FF2B5EF4-FFF2-40B4-BE49-F238E27FC236}">
                  <a16:creationId xmlns:a16="http://schemas.microsoft.com/office/drawing/2014/main" id="{018E97DF-212C-386E-F3A1-D59BBEA884BA}"/>
                </a:ext>
              </a:extLst>
            </p:cNvPr>
            <p:cNvSpPr/>
            <p:nvPr/>
          </p:nvSpPr>
          <p:spPr>
            <a:xfrm>
              <a:off x="11358233" y="6278254"/>
              <a:ext cx="76524" cy="121426"/>
            </a:xfrm>
            <a:custGeom>
              <a:avLst/>
              <a:gdLst>
                <a:gd name="connsiteX0" fmla="*/ 76524 w 76524"/>
                <a:gd name="connsiteY0" fmla="*/ 0 h 121426"/>
                <a:gd name="connsiteX1" fmla="*/ 76524 w 76524"/>
                <a:gd name="connsiteY1" fmla="*/ 32001 h 121426"/>
                <a:gd name="connsiteX2" fmla="*/ 68556 w 76524"/>
                <a:gd name="connsiteY2" fmla="*/ 31495 h 121426"/>
                <a:gd name="connsiteX3" fmla="*/ 35922 w 76524"/>
                <a:gd name="connsiteY3" fmla="*/ 64887 h 121426"/>
                <a:gd name="connsiteX4" fmla="*/ 35543 w 76524"/>
                <a:gd name="connsiteY4" fmla="*/ 121427 h 121426"/>
                <a:gd name="connsiteX5" fmla="*/ 0 w 76524"/>
                <a:gd name="connsiteY5" fmla="*/ 121427 h 121426"/>
                <a:gd name="connsiteX6" fmla="*/ 0 w 76524"/>
                <a:gd name="connsiteY6" fmla="*/ 1771 h 121426"/>
                <a:gd name="connsiteX7" fmla="*/ 34278 w 76524"/>
                <a:gd name="connsiteY7" fmla="*/ 1771 h 121426"/>
                <a:gd name="connsiteX8" fmla="*/ 34278 w 76524"/>
                <a:gd name="connsiteY8" fmla="*/ 17582 h 121426"/>
                <a:gd name="connsiteX9" fmla="*/ 76398 w 76524"/>
                <a:gd name="connsiteY9" fmla="*/ 0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524" h="121426">
                  <a:moveTo>
                    <a:pt x="76524" y="0"/>
                  </a:moveTo>
                  <a:lnTo>
                    <a:pt x="76524" y="32001"/>
                  </a:lnTo>
                  <a:cubicBezTo>
                    <a:pt x="73615" y="31748"/>
                    <a:pt x="71338" y="31495"/>
                    <a:pt x="68556" y="31495"/>
                  </a:cubicBezTo>
                  <a:cubicBezTo>
                    <a:pt x="48950" y="31495"/>
                    <a:pt x="35922" y="41993"/>
                    <a:pt x="35922" y="64887"/>
                  </a:cubicBezTo>
                  <a:lnTo>
                    <a:pt x="35543" y="121427"/>
                  </a:lnTo>
                  <a:lnTo>
                    <a:pt x="0" y="121427"/>
                  </a:lnTo>
                  <a:lnTo>
                    <a:pt x="0" y="1771"/>
                  </a:lnTo>
                  <a:lnTo>
                    <a:pt x="34278" y="1771"/>
                  </a:lnTo>
                  <a:lnTo>
                    <a:pt x="34278" y="17582"/>
                  </a:lnTo>
                  <a:cubicBezTo>
                    <a:pt x="42879" y="6071"/>
                    <a:pt x="57551" y="0"/>
                    <a:pt x="76398" y="0"/>
                  </a:cubicBezTo>
                </a:path>
              </a:pathLst>
            </a:custGeom>
            <a:solidFill>
              <a:schemeClr val="bg1"/>
            </a:solidFill>
            <a:ln w="12614" cap="flat">
              <a:noFill/>
              <a:prstDash val="solid"/>
              <a:miter/>
            </a:ln>
          </p:spPr>
          <p:txBody>
            <a:bodyPr rtlCol="0" anchor="ctr"/>
            <a:lstStyle/>
            <a:p>
              <a:endParaRPr lang="en-IN" sz="3200"/>
            </a:p>
          </p:txBody>
        </p:sp>
        <p:sp>
          <p:nvSpPr>
            <p:cNvPr id="16" name="Freeform: Shape 15">
              <a:extLst>
                <a:ext uri="{FF2B5EF4-FFF2-40B4-BE49-F238E27FC236}">
                  <a16:creationId xmlns:a16="http://schemas.microsoft.com/office/drawing/2014/main" id="{3A2DBAA6-E14F-76F8-8577-BC169D1F1A8E}"/>
                </a:ext>
              </a:extLst>
            </p:cNvPr>
            <p:cNvSpPr/>
            <p:nvPr/>
          </p:nvSpPr>
          <p:spPr>
            <a:xfrm>
              <a:off x="11444243" y="6278381"/>
              <a:ext cx="133696" cy="163799"/>
            </a:xfrm>
            <a:custGeom>
              <a:avLst/>
              <a:gdLst>
                <a:gd name="connsiteX0" fmla="*/ 133696 w 133696"/>
                <a:gd name="connsiteY0" fmla="*/ 1644 h 163799"/>
                <a:gd name="connsiteX1" fmla="*/ 133696 w 133696"/>
                <a:gd name="connsiteY1" fmla="*/ 99798 h 163799"/>
                <a:gd name="connsiteX2" fmla="*/ 65520 w 133696"/>
                <a:gd name="connsiteY2" fmla="*/ 163800 h 163799"/>
                <a:gd name="connsiteX3" fmla="*/ 6198 w 133696"/>
                <a:gd name="connsiteY3" fmla="*/ 147609 h 163799"/>
                <a:gd name="connsiteX4" fmla="*/ 20111 w 133696"/>
                <a:gd name="connsiteY4" fmla="*/ 123071 h 163799"/>
                <a:gd name="connsiteX5" fmla="*/ 62737 w 133696"/>
                <a:gd name="connsiteY5" fmla="*/ 136479 h 163799"/>
                <a:gd name="connsiteX6" fmla="*/ 98533 w 133696"/>
                <a:gd name="connsiteY6" fmla="*/ 104225 h 163799"/>
                <a:gd name="connsiteX7" fmla="*/ 98533 w 133696"/>
                <a:gd name="connsiteY7" fmla="*/ 99165 h 163799"/>
                <a:gd name="connsiteX8" fmla="*/ 60334 w 133696"/>
                <a:gd name="connsiteY8" fmla="*/ 113838 h 163799"/>
                <a:gd name="connsiteX9" fmla="*/ 0 w 133696"/>
                <a:gd name="connsiteY9" fmla="*/ 56919 h 163799"/>
                <a:gd name="connsiteX10" fmla="*/ 60334 w 133696"/>
                <a:gd name="connsiteY10" fmla="*/ 0 h 163799"/>
                <a:gd name="connsiteX11" fmla="*/ 100304 w 133696"/>
                <a:gd name="connsiteY11" fmla="*/ 16823 h 163799"/>
                <a:gd name="connsiteX12" fmla="*/ 100304 w 133696"/>
                <a:gd name="connsiteY12" fmla="*/ 1771 h 163799"/>
                <a:gd name="connsiteX13" fmla="*/ 133570 w 133696"/>
                <a:gd name="connsiteY13" fmla="*/ 1771 h 163799"/>
                <a:gd name="connsiteX14" fmla="*/ 99165 w 133696"/>
                <a:gd name="connsiteY14" fmla="*/ 56792 h 163799"/>
                <a:gd name="connsiteX15" fmla="*/ 67544 w 133696"/>
                <a:gd name="connsiteY15" fmla="*/ 27827 h 163799"/>
                <a:gd name="connsiteX16" fmla="*/ 35669 w 133696"/>
                <a:gd name="connsiteY16" fmla="*/ 56792 h 163799"/>
                <a:gd name="connsiteX17" fmla="*/ 67544 w 133696"/>
                <a:gd name="connsiteY17" fmla="*/ 85758 h 163799"/>
                <a:gd name="connsiteX18" fmla="*/ 99165 w 133696"/>
                <a:gd name="connsiteY18" fmla="*/ 56792 h 163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3696" h="163799">
                  <a:moveTo>
                    <a:pt x="133696" y="1644"/>
                  </a:moveTo>
                  <a:lnTo>
                    <a:pt x="133696" y="99798"/>
                  </a:lnTo>
                  <a:cubicBezTo>
                    <a:pt x="133696" y="143562"/>
                    <a:pt x="109158" y="163800"/>
                    <a:pt x="65520" y="163800"/>
                  </a:cubicBezTo>
                  <a:cubicBezTo>
                    <a:pt x="42626" y="163800"/>
                    <a:pt x="20364" y="158361"/>
                    <a:pt x="6198" y="147609"/>
                  </a:cubicBezTo>
                  <a:lnTo>
                    <a:pt x="20111" y="123071"/>
                  </a:lnTo>
                  <a:cubicBezTo>
                    <a:pt x="30483" y="131166"/>
                    <a:pt x="47306" y="136479"/>
                    <a:pt x="62737" y="136479"/>
                  </a:cubicBezTo>
                  <a:cubicBezTo>
                    <a:pt x="87402" y="136479"/>
                    <a:pt x="98533" y="125474"/>
                    <a:pt x="98533" y="104225"/>
                  </a:cubicBezTo>
                  <a:lnTo>
                    <a:pt x="98533" y="99165"/>
                  </a:lnTo>
                  <a:cubicBezTo>
                    <a:pt x="89299" y="109031"/>
                    <a:pt x="76145" y="113838"/>
                    <a:pt x="60334" y="113838"/>
                  </a:cubicBezTo>
                  <a:cubicBezTo>
                    <a:pt x="26942" y="113838"/>
                    <a:pt x="0" y="91323"/>
                    <a:pt x="0" y="56919"/>
                  </a:cubicBezTo>
                  <a:cubicBezTo>
                    <a:pt x="0" y="22515"/>
                    <a:pt x="26942" y="0"/>
                    <a:pt x="60334" y="0"/>
                  </a:cubicBezTo>
                  <a:cubicBezTo>
                    <a:pt x="77157" y="0"/>
                    <a:pt x="91070" y="5439"/>
                    <a:pt x="100304" y="16823"/>
                  </a:cubicBezTo>
                  <a:lnTo>
                    <a:pt x="100304" y="1771"/>
                  </a:lnTo>
                  <a:lnTo>
                    <a:pt x="133570" y="1771"/>
                  </a:lnTo>
                  <a:close/>
                  <a:moveTo>
                    <a:pt x="99165" y="56792"/>
                  </a:moveTo>
                  <a:cubicBezTo>
                    <a:pt x="99165" y="39464"/>
                    <a:pt x="85884" y="27827"/>
                    <a:pt x="67544" y="27827"/>
                  </a:cubicBezTo>
                  <a:cubicBezTo>
                    <a:pt x="49203" y="27827"/>
                    <a:pt x="35669" y="39464"/>
                    <a:pt x="35669" y="56792"/>
                  </a:cubicBezTo>
                  <a:cubicBezTo>
                    <a:pt x="35669" y="74121"/>
                    <a:pt x="49203" y="85758"/>
                    <a:pt x="67544" y="85758"/>
                  </a:cubicBezTo>
                  <a:cubicBezTo>
                    <a:pt x="85884" y="85758"/>
                    <a:pt x="99165" y="74121"/>
                    <a:pt x="99165" y="56792"/>
                  </a:cubicBezTo>
                </a:path>
              </a:pathLst>
            </a:custGeom>
            <a:solidFill>
              <a:schemeClr val="bg1"/>
            </a:solidFill>
            <a:ln w="12614" cap="flat">
              <a:noFill/>
              <a:prstDash val="solid"/>
              <a:miter/>
            </a:ln>
          </p:spPr>
          <p:txBody>
            <a:bodyPr rtlCol="0" anchor="ctr"/>
            <a:lstStyle/>
            <a:p>
              <a:endParaRPr lang="en-IN" sz="3200"/>
            </a:p>
          </p:txBody>
        </p:sp>
        <p:sp>
          <p:nvSpPr>
            <p:cNvPr id="17" name="Freeform: Shape 16">
              <a:extLst>
                <a:ext uri="{FF2B5EF4-FFF2-40B4-BE49-F238E27FC236}">
                  <a16:creationId xmlns:a16="http://schemas.microsoft.com/office/drawing/2014/main" id="{BE9C64C1-59E5-EA69-3C7E-7AA365537F02}"/>
                </a:ext>
              </a:extLst>
            </p:cNvPr>
            <p:cNvSpPr/>
            <p:nvPr/>
          </p:nvSpPr>
          <p:spPr>
            <a:xfrm>
              <a:off x="11601593" y="6278254"/>
              <a:ext cx="127245" cy="121426"/>
            </a:xfrm>
            <a:custGeom>
              <a:avLst/>
              <a:gdLst>
                <a:gd name="connsiteX0" fmla="*/ 126613 w 127245"/>
                <a:gd name="connsiteY0" fmla="*/ 70326 h 121426"/>
                <a:gd name="connsiteX1" fmla="*/ 35290 w 127245"/>
                <a:gd name="connsiteY1" fmla="*/ 70326 h 121426"/>
                <a:gd name="connsiteX2" fmla="*/ 69821 w 127245"/>
                <a:gd name="connsiteY2" fmla="*/ 93979 h 121426"/>
                <a:gd name="connsiteX3" fmla="*/ 100177 w 127245"/>
                <a:gd name="connsiteY3" fmla="*/ 82596 h 121426"/>
                <a:gd name="connsiteX4" fmla="*/ 118771 w 127245"/>
                <a:gd name="connsiteY4" fmla="*/ 102327 h 121426"/>
                <a:gd name="connsiteX5" fmla="*/ 68556 w 127245"/>
                <a:gd name="connsiteY5" fmla="*/ 121427 h 121426"/>
                <a:gd name="connsiteX6" fmla="*/ 0 w 127245"/>
                <a:gd name="connsiteY6" fmla="*/ 60713 h 121426"/>
                <a:gd name="connsiteX7" fmla="*/ 64382 w 127245"/>
                <a:gd name="connsiteY7" fmla="*/ 0 h 121426"/>
                <a:gd name="connsiteX8" fmla="*/ 127245 w 127245"/>
                <a:gd name="connsiteY8" fmla="*/ 61093 h 121426"/>
                <a:gd name="connsiteX9" fmla="*/ 126613 w 127245"/>
                <a:gd name="connsiteY9" fmla="*/ 70326 h 121426"/>
                <a:gd name="connsiteX10" fmla="*/ 34784 w 127245"/>
                <a:gd name="connsiteY10" fmla="*/ 50342 h 121426"/>
                <a:gd name="connsiteX11" fmla="*/ 94232 w 127245"/>
                <a:gd name="connsiteY11" fmla="*/ 50342 h 121426"/>
                <a:gd name="connsiteX12" fmla="*/ 64635 w 127245"/>
                <a:gd name="connsiteY12" fmla="*/ 25803 h 121426"/>
                <a:gd name="connsiteX13" fmla="*/ 34784 w 127245"/>
                <a:gd name="connsiteY13" fmla="*/ 50342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245" h="121426">
                  <a:moveTo>
                    <a:pt x="126613" y="70326"/>
                  </a:moveTo>
                  <a:lnTo>
                    <a:pt x="35290" y="70326"/>
                  </a:lnTo>
                  <a:cubicBezTo>
                    <a:pt x="38705" y="84999"/>
                    <a:pt x="51480" y="93979"/>
                    <a:pt x="69821" y="93979"/>
                  </a:cubicBezTo>
                  <a:cubicBezTo>
                    <a:pt x="82596" y="93979"/>
                    <a:pt x="91829" y="90311"/>
                    <a:pt x="100177" y="82596"/>
                  </a:cubicBezTo>
                  <a:lnTo>
                    <a:pt x="118771" y="102327"/>
                  </a:lnTo>
                  <a:cubicBezTo>
                    <a:pt x="107514" y="114850"/>
                    <a:pt x="90311" y="121427"/>
                    <a:pt x="68556" y="121427"/>
                  </a:cubicBezTo>
                  <a:cubicBezTo>
                    <a:pt x="26815" y="121427"/>
                    <a:pt x="0" y="95750"/>
                    <a:pt x="0" y="60713"/>
                  </a:cubicBezTo>
                  <a:cubicBezTo>
                    <a:pt x="0" y="25677"/>
                    <a:pt x="27574" y="0"/>
                    <a:pt x="64382" y="0"/>
                  </a:cubicBezTo>
                  <a:cubicBezTo>
                    <a:pt x="101189" y="0"/>
                    <a:pt x="127245" y="23273"/>
                    <a:pt x="127245" y="61093"/>
                  </a:cubicBezTo>
                  <a:cubicBezTo>
                    <a:pt x="127245" y="63749"/>
                    <a:pt x="126739" y="67417"/>
                    <a:pt x="126613" y="70326"/>
                  </a:cubicBezTo>
                  <a:moveTo>
                    <a:pt x="34784" y="50342"/>
                  </a:moveTo>
                  <a:lnTo>
                    <a:pt x="94232" y="50342"/>
                  </a:lnTo>
                  <a:cubicBezTo>
                    <a:pt x="91703" y="35416"/>
                    <a:pt x="80319" y="25803"/>
                    <a:pt x="64635" y="25803"/>
                  </a:cubicBezTo>
                  <a:cubicBezTo>
                    <a:pt x="48950" y="25803"/>
                    <a:pt x="37313" y="35163"/>
                    <a:pt x="34784" y="50342"/>
                  </a:cubicBezTo>
                </a:path>
              </a:pathLst>
            </a:custGeom>
            <a:solidFill>
              <a:schemeClr val="bg1"/>
            </a:solidFill>
            <a:ln w="12614" cap="flat">
              <a:noFill/>
              <a:prstDash val="solid"/>
              <a:miter/>
            </a:ln>
          </p:spPr>
          <p:txBody>
            <a:bodyPr rtlCol="0" anchor="ctr"/>
            <a:lstStyle/>
            <a:p>
              <a:endParaRPr lang="en-IN" sz="3200"/>
            </a:p>
          </p:txBody>
        </p:sp>
        <p:sp>
          <p:nvSpPr>
            <p:cNvPr id="18" name="Freeform: Shape 17">
              <a:extLst>
                <a:ext uri="{FF2B5EF4-FFF2-40B4-BE49-F238E27FC236}">
                  <a16:creationId xmlns:a16="http://schemas.microsoft.com/office/drawing/2014/main" id="{1E6C1AD8-29BE-203C-BE54-A8E56B931647}"/>
                </a:ext>
              </a:extLst>
            </p:cNvPr>
            <p:cNvSpPr/>
            <p:nvPr/>
          </p:nvSpPr>
          <p:spPr>
            <a:xfrm>
              <a:off x="10965619" y="6278254"/>
              <a:ext cx="66278" cy="121426"/>
            </a:xfrm>
            <a:custGeom>
              <a:avLst/>
              <a:gdLst>
                <a:gd name="connsiteX0" fmla="*/ 66279 w 66278"/>
                <a:gd name="connsiteY0" fmla="*/ 93347 h 121426"/>
                <a:gd name="connsiteX1" fmla="*/ 35416 w 66278"/>
                <a:gd name="connsiteY1" fmla="*/ 60713 h 121426"/>
                <a:gd name="connsiteX2" fmla="*/ 66279 w 66278"/>
                <a:gd name="connsiteY2" fmla="*/ 28080 h 121426"/>
                <a:gd name="connsiteX3" fmla="*/ 66279 w 66278"/>
                <a:gd name="connsiteY3" fmla="*/ 0 h 121426"/>
                <a:gd name="connsiteX4" fmla="*/ 0 w 66278"/>
                <a:gd name="connsiteY4" fmla="*/ 60713 h 121426"/>
                <a:gd name="connsiteX5" fmla="*/ 66026 w 66278"/>
                <a:gd name="connsiteY5" fmla="*/ 121427 h 121426"/>
                <a:gd name="connsiteX6" fmla="*/ 66279 w 66278"/>
                <a:gd name="connsiteY6" fmla="*/ 121427 h 121426"/>
                <a:gd name="connsiteX7" fmla="*/ 66279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66279" y="93347"/>
                  </a:moveTo>
                  <a:cubicBezTo>
                    <a:pt x="48824" y="93347"/>
                    <a:pt x="35416" y="81078"/>
                    <a:pt x="35416" y="60713"/>
                  </a:cubicBezTo>
                  <a:cubicBezTo>
                    <a:pt x="35416" y="40349"/>
                    <a:pt x="48824" y="28080"/>
                    <a:pt x="66279" y="28080"/>
                  </a:cubicBezTo>
                  <a:lnTo>
                    <a:pt x="66279" y="0"/>
                  </a:lnTo>
                  <a:cubicBezTo>
                    <a:pt x="27954" y="0"/>
                    <a:pt x="0" y="25171"/>
                    <a:pt x="0" y="60713"/>
                  </a:cubicBezTo>
                  <a:cubicBezTo>
                    <a:pt x="0" y="96256"/>
                    <a:pt x="27701" y="121427"/>
                    <a:pt x="66026" y="121427"/>
                  </a:cubicBezTo>
                  <a:cubicBezTo>
                    <a:pt x="66026" y="121427"/>
                    <a:pt x="66152" y="121427"/>
                    <a:pt x="66279" y="121427"/>
                  </a:cubicBezTo>
                  <a:lnTo>
                    <a:pt x="66279" y="93347"/>
                  </a:lnTo>
                  <a:close/>
                </a:path>
              </a:pathLst>
            </a:custGeom>
            <a:solidFill>
              <a:srgbClr val="F15B40"/>
            </a:solidFill>
            <a:ln w="12614" cap="flat">
              <a:noFill/>
              <a:prstDash val="solid"/>
              <a:miter/>
            </a:ln>
          </p:spPr>
          <p:txBody>
            <a:bodyPr rtlCol="0" anchor="ctr"/>
            <a:lstStyle/>
            <a:p>
              <a:endParaRPr lang="en-IN" sz="3200"/>
            </a:p>
          </p:txBody>
        </p:sp>
        <p:sp>
          <p:nvSpPr>
            <p:cNvPr id="19" name="Freeform: Shape 18">
              <a:extLst>
                <a:ext uri="{FF2B5EF4-FFF2-40B4-BE49-F238E27FC236}">
                  <a16:creationId xmlns:a16="http://schemas.microsoft.com/office/drawing/2014/main" id="{E1D7EE3D-94D7-10EF-0607-AE5229E0A98F}"/>
                </a:ext>
              </a:extLst>
            </p:cNvPr>
            <p:cNvSpPr/>
            <p:nvPr/>
          </p:nvSpPr>
          <p:spPr>
            <a:xfrm>
              <a:off x="11031898" y="6278254"/>
              <a:ext cx="66278" cy="121426"/>
            </a:xfrm>
            <a:custGeom>
              <a:avLst/>
              <a:gdLst>
                <a:gd name="connsiteX0" fmla="*/ 0 w 66278"/>
                <a:gd name="connsiteY0" fmla="*/ 93347 h 121426"/>
                <a:gd name="connsiteX1" fmla="*/ 30863 w 66278"/>
                <a:gd name="connsiteY1" fmla="*/ 60713 h 121426"/>
                <a:gd name="connsiteX2" fmla="*/ 0 w 66278"/>
                <a:gd name="connsiteY2" fmla="*/ 28080 h 121426"/>
                <a:gd name="connsiteX3" fmla="*/ 0 w 66278"/>
                <a:gd name="connsiteY3" fmla="*/ 0 h 121426"/>
                <a:gd name="connsiteX4" fmla="*/ 66279 w 66278"/>
                <a:gd name="connsiteY4" fmla="*/ 60713 h 121426"/>
                <a:gd name="connsiteX5" fmla="*/ 253 w 66278"/>
                <a:gd name="connsiteY5" fmla="*/ 121427 h 121426"/>
                <a:gd name="connsiteX6" fmla="*/ 0 w 66278"/>
                <a:gd name="connsiteY6" fmla="*/ 121427 h 121426"/>
                <a:gd name="connsiteX7" fmla="*/ 0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0" y="93347"/>
                  </a:moveTo>
                  <a:cubicBezTo>
                    <a:pt x="17455" y="93347"/>
                    <a:pt x="30863" y="81078"/>
                    <a:pt x="30863" y="60713"/>
                  </a:cubicBezTo>
                  <a:cubicBezTo>
                    <a:pt x="30863" y="40349"/>
                    <a:pt x="17455" y="28080"/>
                    <a:pt x="0" y="28080"/>
                  </a:cubicBezTo>
                  <a:lnTo>
                    <a:pt x="0" y="0"/>
                  </a:lnTo>
                  <a:cubicBezTo>
                    <a:pt x="38325" y="0"/>
                    <a:pt x="66279" y="25171"/>
                    <a:pt x="66279" y="60713"/>
                  </a:cubicBezTo>
                  <a:cubicBezTo>
                    <a:pt x="66279" y="96256"/>
                    <a:pt x="38578" y="121427"/>
                    <a:pt x="253" y="121427"/>
                  </a:cubicBezTo>
                  <a:cubicBezTo>
                    <a:pt x="253" y="121427"/>
                    <a:pt x="126" y="121427"/>
                    <a:pt x="0" y="121427"/>
                  </a:cubicBezTo>
                  <a:lnTo>
                    <a:pt x="0" y="93347"/>
                  </a:lnTo>
                  <a:close/>
                </a:path>
              </a:pathLst>
            </a:custGeom>
            <a:solidFill>
              <a:schemeClr val="bg1"/>
            </a:solidFill>
            <a:ln w="12614" cap="flat">
              <a:noFill/>
              <a:prstDash val="solid"/>
              <a:miter/>
            </a:ln>
          </p:spPr>
          <p:txBody>
            <a:bodyPr rtlCol="0" anchor="ctr"/>
            <a:lstStyle/>
            <a:p>
              <a:endParaRPr lang="en-IN" sz="3200"/>
            </a:p>
          </p:txBody>
        </p:sp>
      </p:grpSp>
      <p:sp>
        <p:nvSpPr>
          <p:cNvPr id="4" name="Title 1">
            <a:extLst>
              <a:ext uri="{FF2B5EF4-FFF2-40B4-BE49-F238E27FC236}">
                <a16:creationId xmlns:a16="http://schemas.microsoft.com/office/drawing/2014/main" id="{B25207A7-1C36-C36D-1A78-917003C2C183}"/>
              </a:ext>
            </a:extLst>
          </p:cNvPr>
          <p:cNvSpPr>
            <a:spLocks noGrp="1"/>
          </p:cNvSpPr>
          <p:nvPr>
            <p:ph type="title" hasCustomPrompt="1"/>
          </p:nvPr>
        </p:nvSpPr>
        <p:spPr>
          <a:xfrm>
            <a:off x="391405" y="3318524"/>
            <a:ext cx="9531751" cy="1645576"/>
          </a:xfrm>
        </p:spPr>
        <p:txBody>
          <a:bodyPr>
            <a:noAutofit/>
          </a:bodyPr>
          <a:lstStyle>
            <a:lvl1pPr>
              <a:defRPr sz="7200" b="1">
                <a:solidFill>
                  <a:schemeClr val="accent2"/>
                </a:solidFill>
              </a:defRPr>
            </a:lvl1pPr>
          </a:lstStyle>
          <a:p>
            <a:r>
              <a:rPr lang="en-US"/>
              <a:t>Let’s engage</a:t>
            </a:r>
            <a:endParaRPr lang="en-IN"/>
          </a:p>
        </p:txBody>
      </p:sp>
      <p:pic>
        <p:nvPicPr>
          <p:cNvPr id="6" name="Picture 5" descr="Icon&#10;&#10;Description automatically generated">
            <a:hlinkClick r:id="rId4"/>
            <a:extLst>
              <a:ext uri="{FF2B5EF4-FFF2-40B4-BE49-F238E27FC236}">
                <a16:creationId xmlns:a16="http://schemas.microsoft.com/office/drawing/2014/main" id="{BE38301A-7090-B735-C0A6-04074F749576}"/>
              </a:ext>
            </a:extLst>
          </p:cNvPr>
          <p:cNvPicPr>
            <a:picLocks noChangeAspect="1"/>
          </p:cNvPicPr>
          <p:nvPr userDrawn="1"/>
        </p:nvPicPr>
        <p:blipFill>
          <a:blip r:embed="rId5" cstate="screen">
            <a:extLst>
              <a:ext uri="{28A0092B-C50C-407E-A947-70E740481C1C}">
                <a14:useLocalDpi xmlns:a14="http://schemas.microsoft.com/office/drawing/2010/main" val="0"/>
              </a:ext>
            </a:extLst>
          </a:blip>
          <a:stretch>
            <a:fillRect/>
          </a:stretch>
        </p:blipFill>
        <p:spPr>
          <a:xfrm>
            <a:off x="391405" y="7401497"/>
            <a:ext cx="564524" cy="564524"/>
          </a:xfrm>
          <a:prstGeom prst="rect">
            <a:avLst/>
          </a:prstGeom>
        </p:spPr>
      </p:pic>
      <p:pic>
        <p:nvPicPr>
          <p:cNvPr id="7" name="Picture 6" descr="Icon&#10;&#10;Description automatically generated">
            <a:hlinkClick r:id="rId6"/>
            <a:extLst>
              <a:ext uri="{FF2B5EF4-FFF2-40B4-BE49-F238E27FC236}">
                <a16:creationId xmlns:a16="http://schemas.microsoft.com/office/drawing/2014/main" id="{F1FA7471-9CD5-990B-B266-F18CDD8D6192}"/>
              </a:ext>
            </a:extLst>
          </p:cNvPr>
          <p:cNvPicPr>
            <a:picLocks noChangeAspect="1"/>
          </p:cNvPicPr>
          <p:nvPr userDrawn="1"/>
        </p:nvPicPr>
        <p:blipFill>
          <a:blip r:embed="rId7" cstate="screen">
            <a:extLst>
              <a:ext uri="{28A0092B-C50C-407E-A947-70E740481C1C}">
                <a14:useLocalDpi xmlns:a14="http://schemas.microsoft.com/office/drawing/2010/main" val="0"/>
              </a:ext>
            </a:extLst>
          </a:blip>
          <a:stretch>
            <a:fillRect/>
          </a:stretch>
        </p:blipFill>
        <p:spPr>
          <a:xfrm>
            <a:off x="1051613" y="7401497"/>
            <a:ext cx="564524" cy="564524"/>
          </a:xfrm>
          <a:prstGeom prst="rect">
            <a:avLst/>
          </a:prstGeom>
        </p:spPr>
      </p:pic>
      <p:pic>
        <p:nvPicPr>
          <p:cNvPr id="9" name="Picture 8">
            <a:hlinkClick r:id="rId8"/>
            <a:extLst>
              <a:ext uri="{FF2B5EF4-FFF2-40B4-BE49-F238E27FC236}">
                <a16:creationId xmlns:a16="http://schemas.microsoft.com/office/drawing/2014/main" id="{06AF63D3-F3A6-ABEB-0C03-37036CF17F1D}"/>
              </a:ext>
            </a:extLst>
          </p:cNvPr>
          <p:cNvPicPr>
            <a:picLocks noChangeAspect="1"/>
          </p:cNvPicPr>
          <p:nvPr userDrawn="1"/>
        </p:nvPicPr>
        <p:blipFill>
          <a:blip r:embed="rId9">
            <a:extLst>
              <a:ext uri="{28A0092B-C50C-407E-A947-70E740481C1C}">
                <a14:useLocalDpi xmlns:a14="http://schemas.microsoft.com/office/drawing/2010/main" val="0"/>
              </a:ext>
            </a:extLst>
          </a:blip>
          <a:srcRect/>
          <a:stretch/>
        </p:blipFill>
        <p:spPr>
          <a:xfrm>
            <a:off x="1726433" y="7401497"/>
            <a:ext cx="564524" cy="564524"/>
          </a:xfrm>
          <a:prstGeom prst="rect">
            <a:avLst/>
          </a:prstGeom>
        </p:spPr>
      </p:pic>
      <p:pic>
        <p:nvPicPr>
          <p:cNvPr id="21" name="Picture 20" descr="Logo, icon&#10;&#10;Description automatically generated">
            <a:hlinkClick r:id="rId10"/>
            <a:extLst>
              <a:ext uri="{FF2B5EF4-FFF2-40B4-BE49-F238E27FC236}">
                <a16:creationId xmlns:a16="http://schemas.microsoft.com/office/drawing/2014/main" id="{83422065-0327-FC35-414A-2BD11DEAA7F4}"/>
              </a:ext>
            </a:extLst>
          </p:cNvPr>
          <p:cNvPicPr>
            <a:picLocks noChangeAspect="1"/>
          </p:cNvPicPr>
          <p:nvPr userDrawn="1"/>
        </p:nvPicPr>
        <p:blipFill>
          <a:blip r:embed="rId11" cstate="screen">
            <a:extLst>
              <a:ext uri="{28A0092B-C50C-407E-A947-70E740481C1C}">
                <a14:useLocalDpi xmlns:a14="http://schemas.microsoft.com/office/drawing/2010/main" val="0"/>
              </a:ext>
            </a:extLst>
          </a:blip>
          <a:stretch>
            <a:fillRect/>
          </a:stretch>
        </p:blipFill>
        <p:spPr>
          <a:xfrm>
            <a:off x="2441151" y="7401497"/>
            <a:ext cx="564524" cy="564524"/>
          </a:xfrm>
          <a:prstGeom prst="rect">
            <a:avLst/>
          </a:prstGeom>
        </p:spPr>
      </p:pic>
      <p:grpSp>
        <p:nvGrpSpPr>
          <p:cNvPr id="25" name="Group 24">
            <a:extLst>
              <a:ext uri="{FF2B5EF4-FFF2-40B4-BE49-F238E27FC236}">
                <a16:creationId xmlns:a16="http://schemas.microsoft.com/office/drawing/2014/main" id="{3D113B73-B7E9-3E29-134A-D0A39ED7A334}"/>
              </a:ext>
            </a:extLst>
          </p:cNvPr>
          <p:cNvGrpSpPr/>
          <p:nvPr userDrawn="1"/>
        </p:nvGrpSpPr>
        <p:grpSpPr>
          <a:xfrm>
            <a:off x="16357280" y="40571"/>
            <a:ext cx="1803721" cy="2568517"/>
            <a:chOff x="12267959" y="30428"/>
            <a:chExt cx="1352791" cy="1926388"/>
          </a:xfrm>
        </p:grpSpPr>
        <p:sp>
          <p:nvSpPr>
            <p:cNvPr id="26" name="TextBox 25">
              <a:extLst>
                <a:ext uri="{FF2B5EF4-FFF2-40B4-BE49-F238E27FC236}">
                  <a16:creationId xmlns:a16="http://schemas.microsoft.com/office/drawing/2014/main" id="{3C338D09-0D31-5464-6E5C-CD5F588221E1}"/>
                </a:ext>
              </a:extLst>
            </p:cNvPr>
            <p:cNvSpPr txBox="1"/>
            <p:nvPr userDrawn="1"/>
          </p:nvSpPr>
          <p:spPr>
            <a:xfrm>
              <a:off x="12267959" y="30428"/>
              <a:ext cx="1352791" cy="1926388"/>
            </a:xfrm>
            <a:prstGeom prst="rect">
              <a:avLst/>
            </a:prstGeom>
            <a:noFill/>
            <a:ln>
              <a:solidFill>
                <a:schemeClr val="tx2"/>
              </a:solidFill>
            </a:ln>
          </p:spPr>
          <p:txBody>
            <a:bodyPr wrap="square" rtlCol="0">
              <a:noAutofit/>
            </a:bodyPr>
            <a:lstStyle/>
            <a:p>
              <a:r>
                <a:rPr lang="en-IN" sz="1600"/>
                <a:t>To </a:t>
              </a:r>
              <a:r>
                <a:rPr lang="en-IN" sz="1600" err="1"/>
                <a:t>color</a:t>
              </a:r>
              <a:r>
                <a:rPr lang="en-IN" sz="1600"/>
                <a:t> fill any shapes including text boxes, pick any of the below </a:t>
              </a:r>
              <a:r>
                <a:rPr lang="en-IN" sz="1600" err="1"/>
                <a:t>colors</a:t>
              </a:r>
              <a:r>
                <a:rPr lang="en-IN" sz="1600"/>
                <a:t> using “Eyedropper”.</a:t>
              </a:r>
            </a:p>
          </p:txBody>
        </p:sp>
        <p:sp>
          <p:nvSpPr>
            <p:cNvPr id="27" name="Rectangle 26">
              <a:extLst>
                <a:ext uri="{FF2B5EF4-FFF2-40B4-BE49-F238E27FC236}">
                  <a16:creationId xmlns:a16="http://schemas.microsoft.com/office/drawing/2014/main" id="{6A5C3640-CA24-9DAA-0956-9F3AF645D9CB}"/>
                </a:ext>
              </a:extLst>
            </p:cNvPr>
            <p:cNvSpPr/>
            <p:nvPr userDrawn="1"/>
          </p:nvSpPr>
          <p:spPr>
            <a:xfrm>
              <a:off x="12326112" y="1364169"/>
              <a:ext cx="246888" cy="246888"/>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3200"/>
            </a:p>
          </p:txBody>
        </p:sp>
        <p:sp>
          <p:nvSpPr>
            <p:cNvPr id="28" name="Rectangle 27">
              <a:extLst>
                <a:ext uri="{FF2B5EF4-FFF2-40B4-BE49-F238E27FC236}">
                  <a16:creationId xmlns:a16="http://schemas.microsoft.com/office/drawing/2014/main" id="{FECE59C5-446B-E7BC-19F9-64D5E8892F90}"/>
                </a:ext>
              </a:extLst>
            </p:cNvPr>
            <p:cNvSpPr/>
            <p:nvPr userDrawn="1"/>
          </p:nvSpPr>
          <p:spPr>
            <a:xfrm>
              <a:off x="12627864" y="1364169"/>
              <a:ext cx="246888" cy="246888"/>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3200"/>
            </a:p>
          </p:txBody>
        </p:sp>
        <p:sp>
          <p:nvSpPr>
            <p:cNvPr id="29" name="Rectangle 28">
              <a:extLst>
                <a:ext uri="{FF2B5EF4-FFF2-40B4-BE49-F238E27FC236}">
                  <a16:creationId xmlns:a16="http://schemas.microsoft.com/office/drawing/2014/main" id="{161A59A0-BCA8-AF7E-C65B-D84B5DCA6C8D}"/>
                </a:ext>
              </a:extLst>
            </p:cNvPr>
            <p:cNvSpPr/>
            <p:nvPr userDrawn="1"/>
          </p:nvSpPr>
          <p:spPr>
            <a:xfrm>
              <a:off x="12627864" y="1657350"/>
              <a:ext cx="246888" cy="246888"/>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3200"/>
            </a:p>
          </p:txBody>
        </p:sp>
        <p:sp>
          <p:nvSpPr>
            <p:cNvPr id="30" name="Rectangle 29">
              <a:extLst>
                <a:ext uri="{FF2B5EF4-FFF2-40B4-BE49-F238E27FC236}">
                  <a16:creationId xmlns:a16="http://schemas.microsoft.com/office/drawing/2014/main" id="{E8CFB13D-B093-B60A-91A2-F4D5D879373D}"/>
                </a:ext>
              </a:extLst>
            </p:cNvPr>
            <p:cNvSpPr/>
            <p:nvPr userDrawn="1"/>
          </p:nvSpPr>
          <p:spPr>
            <a:xfrm>
              <a:off x="12326112" y="1657350"/>
              <a:ext cx="246888" cy="24688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3200"/>
            </a:p>
          </p:txBody>
        </p:sp>
      </p:grpSp>
      <p:cxnSp>
        <p:nvCxnSpPr>
          <p:cNvPr id="8" name="Straight Connector 7">
            <a:extLst>
              <a:ext uri="{FF2B5EF4-FFF2-40B4-BE49-F238E27FC236}">
                <a16:creationId xmlns:a16="http://schemas.microsoft.com/office/drawing/2014/main" id="{168E814F-815F-3A56-F3F7-9938AE1F5E16}"/>
              </a:ext>
            </a:extLst>
          </p:cNvPr>
          <p:cNvCxnSpPr/>
          <p:nvPr userDrawn="1"/>
        </p:nvCxnSpPr>
        <p:spPr>
          <a:xfrm>
            <a:off x="808731" y="8700533"/>
            <a:ext cx="0" cy="2880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Footer Placeholder 4">
            <a:extLst>
              <a:ext uri="{FF2B5EF4-FFF2-40B4-BE49-F238E27FC236}">
                <a16:creationId xmlns:a16="http://schemas.microsoft.com/office/drawing/2014/main" id="{AEE935F2-0B58-AB27-10B9-7CC8BB94D7A1}"/>
              </a:ext>
            </a:extLst>
          </p:cNvPr>
          <p:cNvSpPr txBox="1">
            <a:spLocks/>
          </p:cNvSpPr>
          <p:nvPr userDrawn="1"/>
        </p:nvSpPr>
        <p:spPr>
          <a:xfrm>
            <a:off x="996008" y="8614742"/>
            <a:ext cx="5486400" cy="486833"/>
          </a:xfrm>
          <a:prstGeom prst="rect">
            <a:avLst/>
          </a:prstGeom>
        </p:spPr>
        <p:txBody>
          <a:bodyPr vert="horz" lIns="0" tIns="60960" rIns="121920" bIns="60960"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333">
                <a:solidFill>
                  <a:schemeClr val="bg1"/>
                </a:solidFill>
                <a:latin typeface="+mj-lt"/>
              </a:rPr>
              <a:t>© Coforge, 2025 | Confidential</a:t>
            </a:r>
          </a:p>
        </p:txBody>
      </p:sp>
      <p:sp>
        <p:nvSpPr>
          <p:cNvPr id="31" name="Footer Placeholder 4">
            <a:extLst>
              <a:ext uri="{FF2B5EF4-FFF2-40B4-BE49-F238E27FC236}">
                <a16:creationId xmlns:a16="http://schemas.microsoft.com/office/drawing/2014/main" id="{CC761C92-AF5C-4BF6-75B4-EE002ED999BA}"/>
              </a:ext>
            </a:extLst>
          </p:cNvPr>
          <p:cNvSpPr txBox="1">
            <a:spLocks/>
          </p:cNvSpPr>
          <p:nvPr userDrawn="1"/>
        </p:nvSpPr>
        <p:spPr>
          <a:xfrm>
            <a:off x="266955" y="8598358"/>
            <a:ext cx="547888" cy="486833"/>
          </a:xfrm>
          <a:prstGeom prst="rect">
            <a:avLst/>
          </a:prstGeom>
        </p:spPr>
        <p:txBody>
          <a:bodyPr vert="horz" lIns="0" tIns="60960" rIns="121920" bIns="60960"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785132-0981-44D9-9CCF-B39EFD8AF1CE}" type="slidenum">
              <a:rPr lang="en-IN" sz="1867" b="1" smtClean="0">
                <a:solidFill>
                  <a:schemeClr val="bg1"/>
                </a:solidFill>
                <a:latin typeface="+mj-lt"/>
              </a:rPr>
              <a:pPr algn="r"/>
              <a:t>‹#›</a:t>
            </a:fld>
            <a:endParaRPr lang="en-IN" sz="1867" b="1">
              <a:solidFill>
                <a:schemeClr val="bg1"/>
              </a:solidFill>
              <a:latin typeface="+mj-lt"/>
            </a:endParaRPr>
          </a:p>
        </p:txBody>
      </p:sp>
      <p:sp>
        <p:nvSpPr>
          <p:cNvPr id="2" name="Text Placeholder 19">
            <a:extLst>
              <a:ext uri="{FF2B5EF4-FFF2-40B4-BE49-F238E27FC236}">
                <a16:creationId xmlns:a16="http://schemas.microsoft.com/office/drawing/2014/main" id="{62EF656B-A6A8-AEC7-EC67-4F5D615760A6}"/>
              </a:ext>
            </a:extLst>
          </p:cNvPr>
          <p:cNvSpPr>
            <a:spLocks noGrp="1"/>
          </p:cNvSpPr>
          <p:nvPr>
            <p:ph type="body" sz="quarter" idx="12" hasCustomPrompt="1"/>
          </p:nvPr>
        </p:nvSpPr>
        <p:spPr>
          <a:xfrm>
            <a:off x="391584" y="5126567"/>
            <a:ext cx="9531552" cy="1873251"/>
          </a:xfrm>
          <a:noFill/>
        </p:spPr>
        <p:txBody>
          <a:bodyPr>
            <a:normAutofit/>
          </a:bodyPr>
          <a:lstStyle>
            <a:lvl1pPr marL="0" indent="0">
              <a:buFontTx/>
              <a:buNone/>
              <a:defRPr sz="3200" b="1">
                <a:solidFill>
                  <a:schemeClr val="bg1"/>
                </a:solidFill>
              </a:defRPr>
            </a:lvl1pPr>
            <a:lvl2pPr marL="609585" indent="0">
              <a:buFontTx/>
              <a:buNone/>
              <a:defRPr/>
            </a:lvl2pPr>
            <a:lvl3pPr marL="1219170" indent="0">
              <a:buFontTx/>
              <a:buNone/>
              <a:defRPr/>
            </a:lvl3pPr>
            <a:lvl4pPr marL="1828754" indent="0">
              <a:buFontTx/>
              <a:buNone/>
              <a:defRPr/>
            </a:lvl4pPr>
            <a:lvl5pPr marL="2438339" indent="0">
              <a:buFontTx/>
              <a:buNone/>
              <a:defRPr/>
            </a:lvl5pPr>
          </a:lstStyle>
          <a:p>
            <a:pPr lvl="0"/>
            <a:r>
              <a:rPr lang="en-US"/>
              <a:t>Sub-title</a:t>
            </a:r>
          </a:p>
        </p:txBody>
      </p:sp>
    </p:spTree>
    <p:extLst>
      <p:ext uri="{BB962C8B-B14F-4D97-AF65-F5344CB8AC3E}">
        <p14:creationId xmlns:p14="http://schemas.microsoft.com/office/powerpoint/2010/main" val="3930161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sv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sv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CE3DA668-12F5-FBE5-1E83-89F501483395}"/>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 y="-2403"/>
            <a:ext cx="10196545" cy="9146403"/>
          </a:xfrm>
          <a:prstGeom prst="rect">
            <a:avLst/>
          </a:prstGeom>
        </p:spPr>
      </p:pic>
      <p:sp>
        <p:nvSpPr>
          <p:cNvPr id="7" name="Title Placeholder 1">
            <a:extLst>
              <a:ext uri="{FF2B5EF4-FFF2-40B4-BE49-F238E27FC236}">
                <a16:creationId xmlns:a16="http://schemas.microsoft.com/office/drawing/2014/main" id="{12BA627A-B28C-789C-990E-3B1F53F80026}"/>
              </a:ext>
            </a:extLst>
          </p:cNvPr>
          <p:cNvSpPr>
            <a:spLocks noGrp="1"/>
          </p:cNvSpPr>
          <p:nvPr>
            <p:ph type="title"/>
          </p:nvPr>
        </p:nvSpPr>
        <p:spPr>
          <a:xfrm>
            <a:off x="391405" y="486835"/>
            <a:ext cx="15504000" cy="1260685"/>
          </a:xfrm>
          <a:prstGeom prst="rect">
            <a:avLst/>
          </a:prstGeom>
        </p:spPr>
        <p:txBody>
          <a:bodyPr vert="horz" lIns="0" tIns="45720" rIns="91440" bIns="45720" rtlCol="0" anchor="t">
            <a:normAutofit/>
          </a:bodyPr>
          <a:lstStyle/>
          <a:p>
            <a:r>
              <a:rPr lang="en-US"/>
              <a:t>Click to edit Master title style</a:t>
            </a:r>
            <a:endParaRPr lang="en-IN"/>
          </a:p>
        </p:txBody>
      </p:sp>
      <p:sp>
        <p:nvSpPr>
          <p:cNvPr id="8" name="Text Placeholder 2">
            <a:extLst>
              <a:ext uri="{FF2B5EF4-FFF2-40B4-BE49-F238E27FC236}">
                <a16:creationId xmlns:a16="http://schemas.microsoft.com/office/drawing/2014/main" id="{2138C0DF-603C-2744-FED7-92DBFA303FEA}"/>
              </a:ext>
            </a:extLst>
          </p:cNvPr>
          <p:cNvSpPr>
            <a:spLocks noGrp="1"/>
          </p:cNvSpPr>
          <p:nvPr>
            <p:ph type="body" idx="1"/>
          </p:nvPr>
        </p:nvSpPr>
        <p:spPr>
          <a:xfrm>
            <a:off x="391405" y="1964597"/>
            <a:ext cx="15504000" cy="6355895"/>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grpSp>
        <p:nvGrpSpPr>
          <p:cNvPr id="11" name="Logo">
            <a:extLst>
              <a:ext uri="{FF2B5EF4-FFF2-40B4-BE49-F238E27FC236}">
                <a16:creationId xmlns:a16="http://schemas.microsoft.com/office/drawing/2014/main" id="{3A065230-68F7-758A-449C-C0E9D9FF8414}"/>
              </a:ext>
            </a:extLst>
          </p:cNvPr>
          <p:cNvGrpSpPr/>
          <p:nvPr/>
        </p:nvGrpSpPr>
        <p:grpSpPr>
          <a:xfrm>
            <a:off x="14850408" y="8741258"/>
            <a:ext cx="1044997" cy="232141"/>
            <a:chOff x="10797898" y="6235376"/>
            <a:chExt cx="930940" cy="206804"/>
          </a:xfrm>
        </p:grpSpPr>
        <p:sp>
          <p:nvSpPr>
            <p:cNvPr id="12" name="Freeform: Shape 11">
              <a:extLst>
                <a:ext uri="{FF2B5EF4-FFF2-40B4-BE49-F238E27FC236}">
                  <a16:creationId xmlns:a16="http://schemas.microsoft.com/office/drawing/2014/main" id="{1246A27A-67DC-88DA-7E99-BD8FCE878250}"/>
                </a:ext>
              </a:extLst>
            </p:cNvPr>
            <p:cNvSpPr/>
            <p:nvPr/>
          </p:nvSpPr>
          <p:spPr>
            <a:xfrm>
              <a:off x="10797898" y="6241067"/>
              <a:ext cx="149886" cy="158487"/>
            </a:xfrm>
            <a:custGeom>
              <a:avLst/>
              <a:gdLst>
                <a:gd name="connsiteX0" fmla="*/ 0 w 149886"/>
                <a:gd name="connsiteY0" fmla="*/ 79307 h 158487"/>
                <a:gd name="connsiteX1" fmla="*/ 85252 w 149886"/>
                <a:gd name="connsiteY1" fmla="*/ 0 h 158487"/>
                <a:gd name="connsiteX2" fmla="*/ 149886 w 149886"/>
                <a:gd name="connsiteY2" fmla="*/ 27195 h 158487"/>
                <a:gd name="connsiteX3" fmla="*/ 126486 w 149886"/>
                <a:gd name="connsiteY3" fmla="*/ 48191 h 158487"/>
                <a:gd name="connsiteX4" fmla="*/ 87023 w 149886"/>
                <a:gd name="connsiteY4" fmla="*/ 30230 h 158487"/>
                <a:gd name="connsiteX5" fmla="*/ 36681 w 149886"/>
                <a:gd name="connsiteY5" fmla="*/ 79307 h 158487"/>
                <a:gd name="connsiteX6" fmla="*/ 87023 w 149886"/>
                <a:gd name="connsiteY6" fmla="*/ 128384 h 158487"/>
                <a:gd name="connsiteX7" fmla="*/ 126486 w 149886"/>
                <a:gd name="connsiteY7" fmla="*/ 110170 h 158487"/>
                <a:gd name="connsiteX8" fmla="*/ 149886 w 149886"/>
                <a:gd name="connsiteY8" fmla="*/ 131166 h 158487"/>
                <a:gd name="connsiteX9" fmla="*/ 84999 w 149886"/>
                <a:gd name="connsiteY9" fmla="*/ 158487 h 158487"/>
                <a:gd name="connsiteX10" fmla="*/ 0 w 149886"/>
                <a:gd name="connsiteY10" fmla="*/ 79307 h 158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9886" h="158487">
                  <a:moveTo>
                    <a:pt x="0" y="79307"/>
                  </a:moveTo>
                  <a:cubicBezTo>
                    <a:pt x="0" y="33139"/>
                    <a:pt x="36302" y="0"/>
                    <a:pt x="85252" y="0"/>
                  </a:cubicBezTo>
                  <a:cubicBezTo>
                    <a:pt x="112446" y="0"/>
                    <a:pt x="135088" y="9613"/>
                    <a:pt x="149886" y="27195"/>
                  </a:cubicBezTo>
                  <a:lnTo>
                    <a:pt x="126486" y="48191"/>
                  </a:lnTo>
                  <a:cubicBezTo>
                    <a:pt x="115988" y="36428"/>
                    <a:pt x="102707" y="30230"/>
                    <a:pt x="87023" y="30230"/>
                  </a:cubicBezTo>
                  <a:cubicBezTo>
                    <a:pt x="57678" y="30230"/>
                    <a:pt x="36681" y="50342"/>
                    <a:pt x="36681" y="79307"/>
                  </a:cubicBezTo>
                  <a:cubicBezTo>
                    <a:pt x="36681" y="108272"/>
                    <a:pt x="57551" y="128384"/>
                    <a:pt x="87023" y="128384"/>
                  </a:cubicBezTo>
                  <a:cubicBezTo>
                    <a:pt x="102707" y="128384"/>
                    <a:pt x="115988" y="122186"/>
                    <a:pt x="126486" y="110170"/>
                  </a:cubicBezTo>
                  <a:lnTo>
                    <a:pt x="149886" y="131166"/>
                  </a:lnTo>
                  <a:cubicBezTo>
                    <a:pt x="135088" y="148874"/>
                    <a:pt x="112446" y="158487"/>
                    <a:pt x="84999" y="158487"/>
                  </a:cubicBezTo>
                  <a:cubicBezTo>
                    <a:pt x="36302" y="158614"/>
                    <a:pt x="0" y="125474"/>
                    <a:pt x="0" y="79307"/>
                  </a:cubicBezTo>
                </a:path>
              </a:pathLst>
            </a:custGeom>
            <a:solidFill>
              <a:srgbClr val="F15B40"/>
            </a:solidFill>
            <a:ln w="12614" cap="flat">
              <a:noFill/>
              <a:prstDash val="solid"/>
              <a:miter/>
            </a:ln>
          </p:spPr>
          <p:txBody>
            <a:bodyPr rtlCol="0" anchor="ctr"/>
            <a:lstStyle/>
            <a:p>
              <a:endParaRPr lang="en-IN" sz="3200"/>
            </a:p>
          </p:txBody>
        </p:sp>
        <p:sp>
          <p:nvSpPr>
            <p:cNvPr id="13" name="Freeform: Shape 12">
              <a:extLst>
                <a:ext uri="{FF2B5EF4-FFF2-40B4-BE49-F238E27FC236}">
                  <a16:creationId xmlns:a16="http://schemas.microsoft.com/office/drawing/2014/main" id="{2FC39FA9-B4BD-4E89-A253-2B70D7C57A89}"/>
                </a:ext>
              </a:extLst>
            </p:cNvPr>
            <p:cNvSpPr/>
            <p:nvPr/>
          </p:nvSpPr>
          <p:spPr>
            <a:xfrm>
              <a:off x="11111584" y="6235376"/>
              <a:ext cx="91955" cy="164305"/>
            </a:xfrm>
            <a:custGeom>
              <a:avLst/>
              <a:gdLst>
                <a:gd name="connsiteX0" fmla="*/ 53124 w 91955"/>
                <a:gd name="connsiteY0" fmla="*/ 49077 h 164305"/>
                <a:gd name="connsiteX1" fmla="*/ 84114 w 91955"/>
                <a:gd name="connsiteY1" fmla="*/ 49077 h 164305"/>
                <a:gd name="connsiteX2" fmla="*/ 84114 w 91955"/>
                <a:gd name="connsiteY2" fmla="*/ 75386 h 164305"/>
                <a:gd name="connsiteX3" fmla="*/ 54010 w 91955"/>
                <a:gd name="connsiteY3" fmla="*/ 75386 h 164305"/>
                <a:gd name="connsiteX4" fmla="*/ 53630 w 91955"/>
                <a:gd name="connsiteY4" fmla="*/ 164306 h 164305"/>
                <a:gd name="connsiteX5" fmla="*/ 18594 w 91955"/>
                <a:gd name="connsiteY5" fmla="*/ 164306 h 164305"/>
                <a:gd name="connsiteX6" fmla="*/ 18973 w 91955"/>
                <a:gd name="connsiteY6" fmla="*/ 75386 h 164305"/>
                <a:gd name="connsiteX7" fmla="*/ 0 w 91955"/>
                <a:gd name="connsiteY7" fmla="*/ 75386 h 164305"/>
                <a:gd name="connsiteX8" fmla="*/ 0 w 91955"/>
                <a:gd name="connsiteY8" fmla="*/ 49077 h 164305"/>
                <a:gd name="connsiteX9" fmla="*/ 18973 w 91955"/>
                <a:gd name="connsiteY9" fmla="*/ 49077 h 164305"/>
                <a:gd name="connsiteX10" fmla="*/ 18973 w 91955"/>
                <a:gd name="connsiteY10" fmla="*/ 43764 h 164305"/>
                <a:gd name="connsiteX11" fmla="*/ 65267 w 91955"/>
                <a:gd name="connsiteY11" fmla="*/ 0 h 164305"/>
                <a:gd name="connsiteX12" fmla="*/ 91956 w 91955"/>
                <a:gd name="connsiteY12" fmla="*/ 6324 h 164305"/>
                <a:gd name="connsiteX13" fmla="*/ 82722 w 91955"/>
                <a:gd name="connsiteY13" fmla="*/ 31116 h 164305"/>
                <a:gd name="connsiteX14" fmla="*/ 68556 w 91955"/>
                <a:gd name="connsiteY14" fmla="*/ 26942 h 164305"/>
                <a:gd name="connsiteX15" fmla="*/ 52998 w 91955"/>
                <a:gd name="connsiteY15" fmla="*/ 44017 h 164305"/>
                <a:gd name="connsiteX16" fmla="*/ 52998 w 91955"/>
                <a:gd name="connsiteY16" fmla="*/ 49077 h 164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1955" h="164305">
                  <a:moveTo>
                    <a:pt x="53124" y="49077"/>
                  </a:moveTo>
                  <a:lnTo>
                    <a:pt x="84114" y="49077"/>
                  </a:lnTo>
                  <a:lnTo>
                    <a:pt x="84114" y="75386"/>
                  </a:lnTo>
                  <a:lnTo>
                    <a:pt x="54010" y="75386"/>
                  </a:lnTo>
                  <a:lnTo>
                    <a:pt x="53630" y="164306"/>
                  </a:lnTo>
                  <a:lnTo>
                    <a:pt x="18594" y="164306"/>
                  </a:lnTo>
                  <a:lnTo>
                    <a:pt x="18973" y="75386"/>
                  </a:lnTo>
                  <a:lnTo>
                    <a:pt x="0" y="75386"/>
                  </a:lnTo>
                  <a:lnTo>
                    <a:pt x="0" y="49077"/>
                  </a:lnTo>
                  <a:lnTo>
                    <a:pt x="18973" y="49077"/>
                  </a:lnTo>
                  <a:lnTo>
                    <a:pt x="18973" y="43764"/>
                  </a:lnTo>
                  <a:cubicBezTo>
                    <a:pt x="18973" y="17329"/>
                    <a:pt x="35290" y="0"/>
                    <a:pt x="65267" y="0"/>
                  </a:cubicBezTo>
                  <a:cubicBezTo>
                    <a:pt x="75133" y="0"/>
                    <a:pt x="85505" y="2024"/>
                    <a:pt x="91956" y="6324"/>
                  </a:cubicBezTo>
                  <a:lnTo>
                    <a:pt x="82722" y="31116"/>
                  </a:lnTo>
                  <a:cubicBezTo>
                    <a:pt x="78928" y="28459"/>
                    <a:pt x="73995" y="26942"/>
                    <a:pt x="68556" y="26942"/>
                  </a:cubicBezTo>
                  <a:cubicBezTo>
                    <a:pt x="58184" y="26942"/>
                    <a:pt x="52998" y="32380"/>
                    <a:pt x="52998" y="44017"/>
                  </a:cubicBezTo>
                  <a:lnTo>
                    <a:pt x="52998" y="49077"/>
                  </a:lnTo>
                  <a:close/>
                </a:path>
              </a:pathLst>
            </a:custGeom>
            <a:solidFill>
              <a:srgbClr val="092340"/>
            </a:solidFill>
            <a:ln w="12614" cap="flat">
              <a:noFill/>
              <a:prstDash val="solid"/>
              <a:miter/>
            </a:ln>
          </p:spPr>
          <p:txBody>
            <a:bodyPr rtlCol="0" anchor="ctr"/>
            <a:lstStyle/>
            <a:p>
              <a:endParaRPr lang="en-IN" sz="3200"/>
            </a:p>
          </p:txBody>
        </p:sp>
        <p:sp>
          <p:nvSpPr>
            <p:cNvPr id="14" name="Freeform: Shape 13">
              <a:extLst>
                <a:ext uri="{FF2B5EF4-FFF2-40B4-BE49-F238E27FC236}">
                  <a16:creationId xmlns:a16="http://schemas.microsoft.com/office/drawing/2014/main" id="{02C60B1A-4FB5-D732-7157-61ADD0589F56}"/>
                </a:ext>
              </a:extLst>
            </p:cNvPr>
            <p:cNvSpPr/>
            <p:nvPr/>
          </p:nvSpPr>
          <p:spPr>
            <a:xfrm>
              <a:off x="11202654" y="6278254"/>
              <a:ext cx="132557" cy="121426"/>
            </a:xfrm>
            <a:custGeom>
              <a:avLst/>
              <a:gdLst>
                <a:gd name="connsiteX0" fmla="*/ 0 w 132557"/>
                <a:gd name="connsiteY0" fmla="*/ 60713 h 121426"/>
                <a:gd name="connsiteX1" fmla="*/ 66405 w 132557"/>
                <a:gd name="connsiteY1" fmla="*/ 0 h 121426"/>
                <a:gd name="connsiteX2" fmla="*/ 132558 w 132557"/>
                <a:gd name="connsiteY2" fmla="*/ 60713 h 121426"/>
                <a:gd name="connsiteX3" fmla="*/ 66026 w 132557"/>
                <a:gd name="connsiteY3" fmla="*/ 121427 h 121426"/>
                <a:gd name="connsiteX4" fmla="*/ 0 w 132557"/>
                <a:gd name="connsiteY4" fmla="*/ 60713 h 121426"/>
                <a:gd name="connsiteX5" fmla="*/ 97142 w 132557"/>
                <a:gd name="connsiteY5" fmla="*/ 60713 h 121426"/>
                <a:gd name="connsiteX6" fmla="*/ 66405 w 132557"/>
                <a:gd name="connsiteY6" fmla="*/ 28080 h 121426"/>
                <a:gd name="connsiteX7" fmla="*/ 35416 w 132557"/>
                <a:gd name="connsiteY7" fmla="*/ 60713 h 121426"/>
                <a:gd name="connsiteX8" fmla="*/ 66405 w 132557"/>
                <a:gd name="connsiteY8" fmla="*/ 93347 h 121426"/>
                <a:gd name="connsiteX9" fmla="*/ 97142 w 132557"/>
                <a:gd name="connsiteY9" fmla="*/ 60713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2557" h="121426">
                  <a:moveTo>
                    <a:pt x="0" y="60713"/>
                  </a:moveTo>
                  <a:cubicBezTo>
                    <a:pt x="0" y="25171"/>
                    <a:pt x="28080" y="0"/>
                    <a:pt x="66405" y="0"/>
                  </a:cubicBezTo>
                  <a:cubicBezTo>
                    <a:pt x="104731" y="0"/>
                    <a:pt x="132558" y="25171"/>
                    <a:pt x="132558" y="60713"/>
                  </a:cubicBezTo>
                  <a:cubicBezTo>
                    <a:pt x="132558" y="96256"/>
                    <a:pt x="104351" y="121427"/>
                    <a:pt x="66026" y="121427"/>
                  </a:cubicBezTo>
                  <a:cubicBezTo>
                    <a:pt x="27701" y="121427"/>
                    <a:pt x="0" y="96256"/>
                    <a:pt x="0" y="60713"/>
                  </a:cubicBezTo>
                  <a:moveTo>
                    <a:pt x="97142" y="60713"/>
                  </a:moveTo>
                  <a:cubicBezTo>
                    <a:pt x="97142" y="40349"/>
                    <a:pt x="83861" y="28080"/>
                    <a:pt x="66405" y="28080"/>
                  </a:cubicBezTo>
                  <a:cubicBezTo>
                    <a:pt x="48950" y="28080"/>
                    <a:pt x="35416" y="40349"/>
                    <a:pt x="35416" y="60713"/>
                  </a:cubicBezTo>
                  <a:cubicBezTo>
                    <a:pt x="35416" y="81078"/>
                    <a:pt x="48824" y="93347"/>
                    <a:pt x="66405" y="93347"/>
                  </a:cubicBezTo>
                  <a:cubicBezTo>
                    <a:pt x="83987" y="93347"/>
                    <a:pt x="97142" y="81078"/>
                    <a:pt x="97142" y="60713"/>
                  </a:cubicBezTo>
                </a:path>
              </a:pathLst>
            </a:custGeom>
            <a:solidFill>
              <a:srgbClr val="092340"/>
            </a:solidFill>
            <a:ln w="12614" cap="flat">
              <a:noFill/>
              <a:prstDash val="solid"/>
              <a:miter/>
            </a:ln>
          </p:spPr>
          <p:txBody>
            <a:bodyPr rtlCol="0" anchor="ctr"/>
            <a:lstStyle/>
            <a:p>
              <a:endParaRPr lang="en-IN" sz="3200"/>
            </a:p>
          </p:txBody>
        </p:sp>
        <p:sp>
          <p:nvSpPr>
            <p:cNvPr id="15" name="Freeform: Shape 14">
              <a:extLst>
                <a:ext uri="{FF2B5EF4-FFF2-40B4-BE49-F238E27FC236}">
                  <a16:creationId xmlns:a16="http://schemas.microsoft.com/office/drawing/2014/main" id="{703F5C3A-DFAA-9131-14B4-9D7202F4B4E8}"/>
                </a:ext>
              </a:extLst>
            </p:cNvPr>
            <p:cNvSpPr/>
            <p:nvPr/>
          </p:nvSpPr>
          <p:spPr>
            <a:xfrm>
              <a:off x="11358233" y="6278254"/>
              <a:ext cx="76524" cy="121426"/>
            </a:xfrm>
            <a:custGeom>
              <a:avLst/>
              <a:gdLst>
                <a:gd name="connsiteX0" fmla="*/ 76524 w 76524"/>
                <a:gd name="connsiteY0" fmla="*/ 0 h 121426"/>
                <a:gd name="connsiteX1" fmla="*/ 76524 w 76524"/>
                <a:gd name="connsiteY1" fmla="*/ 32001 h 121426"/>
                <a:gd name="connsiteX2" fmla="*/ 68556 w 76524"/>
                <a:gd name="connsiteY2" fmla="*/ 31495 h 121426"/>
                <a:gd name="connsiteX3" fmla="*/ 35922 w 76524"/>
                <a:gd name="connsiteY3" fmla="*/ 64887 h 121426"/>
                <a:gd name="connsiteX4" fmla="*/ 35543 w 76524"/>
                <a:gd name="connsiteY4" fmla="*/ 121427 h 121426"/>
                <a:gd name="connsiteX5" fmla="*/ 0 w 76524"/>
                <a:gd name="connsiteY5" fmla="*/ 121427 h 121426"/>
                <a:gd name="connsiteX6" fmla="*/ 0 w 76524"/>
                <a:gd name="connsiteY6" fmla="*/ 1771 h 121426"/>
                <a:gd name="connsiteX7" fmla="*/ 34278 w 76524"/>
                <a:gd name="connsiteY7" fmla="*/ 1771 h 121426"/>
                <a:gd name="connsiteX8" fmla="*/ 34278 w 76524"/>
                <a:gd name="connsiteY8" fmla="*/ 17582 h 121426"/>
                <a:gd name="connsiteX9" fmla="*/ 76398 w 76524"/>
                <a:gd name="connsiteY9" fmla="*/ 0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524" h="121426">
                  <a:moveTo>
                    <a:pt x="76524" y="0"/>
                  </a:moveTo>
                  <a:lnTo>
                    <a:pt x="76524" y="32001"/>
                  </a:lnTo>
                  <a:cubicBezTo>
                    <a:pt x="73615" y="31748"/>
                    <a:pt x="71338" y="31495"/>
                    <a:pt x="68556" y="31495"/>
                  </a:cubicBezTo>
                  <a:cubicBezTo>
                    <a:pt x="48950" y="31495"/>
                    <a:pt x="35922" y="41993"/>
                    <a:pt x="35922" y="64887"/>
                  </a:cubicBezTo>
                  <a:lnTo>
                    <a:pt x="35543" y="121427"/>
                  </a:lnTo>
                  <a:lnTo>
                    <a:pt x="0" y="121427"/>
                  </a:lnTo>
                  <a:lnTo>
                    <a:pt x="0" y="1771"/>
                  </a:lnTo>
                  <a:lnTo>
                    <a:pt x="34278" y="1771"/>
                  </a:lnTo>
                  <a:lnTo>
                    <a:pt x="34278" y="17582"/>
                  </a:lnTo>
                  <a:cubicBezTo>
                    <a:pt x="42879" y="6071"/>
                    <a:pt x="57551" y="0"/>
                    <a:pt x="76398" y="0"/>
                  </a:cubicBezTo>
                </a:path>
              </a:pathLst>
            </a:custGeom>
            <a:solidFill>
              <a:srgbClr val="092340"/>
            </a:solidFill>
            <a:ln w="12614" cap="flat">
              <a:noFill/>
              <a:prstDash val="solid"/>
              <a:miter/>
            </a:ln>
          </p:spPr>
          <p:txBody>
            <a:bodyPr rtlCol="0" anchor="ctr"/>
            <a:lstStyle/>
            <a:p>
              <a:endParaRPr lang="en-IN" sz="3200"/>
            </a:p>
          </p:txBody>
        </p:sp>
        <p:sp>
          <p:nvSpPr>
            <p:cNvPr id="16" name="Freeform: Shape 15">
              <a:extLst>
                <a:ext uri="{FF2B5EF4-FFF2-40B4-BE49-F238E27FC236}">
                  <a16:creationId xmlns:a16="http://schemas.microsoft.com/office/drawing/2014/main" id="{CA802C14-EBFD-CFBE-99D8-49BC4D7368A9}"/>
                </a:ext>
              </a:extLst>
            </p:cNvPr>
            <p:cNvSpPr/>
            <p:nvPr/>
          </p:nvSpPr>
          <p:spPr>
            <a:xfrm>
              <a:off x="11444243" y="6278381"/>
              <a:ext cx="133696" cy="163799"/>
            </a:xfrm>
            <a:custGeom>
              <a:avLst/>
              <a:gdLst>
                <a:gd name="connsiteX0" fmla="*/ 133696 w 133696"/>
                <a:gd name="connsiteY0" fmla="*/ 1644 h 163799"/>
                <a:gd name="connsiteX1" fmla="*/ 133696 w 133696"/>
                <a:gd name="connsiteY1" fmla="*/ 99798 h 163799"/>
                <a:gd name="connsiteX2" fmla="*/ 65520 w 133696"/>
                <a:gd name="connsiteY2" fmla="*/ 163800 h 163799"/>
                <a:gd name="connsiteX3" fmla="*/ 6198 w 133696"/>
                <a:gd name="connsiteY3" fmla="*/ 147609 h 163799"/>
                <a:gd name="connsiteX4" fmla="*/ 20111 w 133696"/>
                <a:gd name="connsiteY4" fmla="*/ 123071 h 163799"/>
                <a:gd name="connsiteX5" fmla="*/ 62737 w 133696"/>
                <a:gd name="connsiteY5" fmla="*/ 136479 h 163799"/>
                <a:gd name="connsiteX6" fmla="*/ 98533 w 133696"/>
                <a:gd name="connsiteY6" fmla="*/ 104225 h 163799"/>
                <a:gd name="connsiteX7" fmla="*/ 98533 w 133696"/>
                <a:gd name="connsiteY7" fmla="*/ 99165 h 163799"/>
                <a:gd name="connsiteX8" fmla="*/ 60334 w 133696"/>
                <a:gd name="connsiteY8" fmla="*/ 113838 h 163799"/>
                <a:gd name="connsiteX9" fmla="*/ 0 w 133696"/>
                <a:gd name="connsiteY9" fmla="*/ 56919 h 163799"/>
                <a:gd name="connsiteX10" fmla="*/ 60334 w 133696"/>
                <a:gd name="connsiteY10" fmla="*/ 0 h 163799"/>
                <a:gd name="connsiteX11" fmla="*/ 100304 w 133696"/>
                <a:gd name="connsiteY11" fmla="*/ 16823 h 163799"/>
                <a:gd name="connsiteX12" fmla="*/ 100304 w 133696"/>
                <a:gd name="connsiteY12" fmla="*/ 1771 h 163799"/>
                <a:gd name="connsiteX13" fmla="*/ 133570 w 133696"/>
                <a:gd name="connsiteY13" fmla="*/ 1771 h 163799"/>
                <a:gd name="connsiteX14" fmla="*/ 99165 w 133696"/>
                <a:gd name="connsiteY14" fmla="*/ 56792 h 163799"/>
                <a:gd name="connsiteX15" fmla="*/ 67544 w 133696"/>
                <a:gd name="connsiteY15" fmla="*/ 27827 h 163799"/>
                <a:gd name="connsiteX16" fmla="*/ 35669 w 133696"/>
                <a:gd name="connsiteY16" fmla="*/ 56792 h 163799"/>
                <a:gd name="connsiteX17" fmla="*/ 67544 w 133696"/>
                <a:gd name="connsiteY17" fmla="*/ 85758 h 163799"/>
                <a:gd name="connsiteX18" fmla="*/ 99165 w 133696"/>
                <a:gd name="connsiteY18" fmla="*/ 56792 h 163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3696" h="163799">
                  <a:moveTo>
                    <a:pt x="133696" y="1644"/>
                  </a:moveTo>
                  <a:lnTo>
                    <a:pt x="133696" y="99798"/>
                  </a:lnTo>
                  <a:cubicBezTo>
                    <a:pt x="133696" y="143562"/>
                    <a:pt x="109158" y="163800"/>
                    <a:pt x="65520" y="163800"/>
                  </a:cubicBezTo>
                  <a:cubicBezTo>
                    <a:pt x="42626" y="163800"/>
                    <a:pt x="20364" y="158361"/>
                    <a:pt x="6198" y="147609"/>
                  </a:cubicBezTo>
                  <a:lnTo>
                    <a:pt x="20111" y="123071"/>
                  </a:lnTo>
                  <a:cubicBezTo>
                    <a:pt x="30483" y="131166"/>
                    <a:pt x="47306" y="136479"/>
                    <a:pt x="62737" y="136479"/>
                  </a:cubicBezTo>
                  <a:cubicBezTo>
                    <a:pt x="87402" y="136479"/>
                    <a:pt x="98533" y="125474"/>
                    <a:pt x="98533" y="104225"/>
                  </a:cubicBezTo>
                  <a:lnTo>
                    <a:pt x="98533" y="99165"/>
                  </a:lnTo>
                  <a:cubicBezTo>
                    <a:pt x="89299" y="109031"/>
                    <a:pt x="76145" y="113838"/>
                    <a:pt x="60334" y="113838"/>
                  </a:cubicBezTo>
                  <a:cubicBezTo>
                    <a:pt x="26942" y="113838"/>
                    <a:pt x="0" y="91323"/>
                    <a:pt x="0" y="56919"/>
                  </a:cubicBezTo>
                  <a:cubicBezTo>
                    <a:pt x="0" y="22515"/>
                    <a:pt x="26942" y="0"/>
                    <a:pt x="60334" y="0"/>
                  </a:cubicBezTo>
                  <a:cubicBezTo>
                    <a:pt x="77157" y="0"/>
                    <a:pt x="91070" y="5439"/>
                    <a:pt x="100304" y="16823"/>
                  </a:cubicBezTo>
                  <a:lnTo>
                    <a:pt x="100304" y="1771"/>
                  </a:lnTo>
                  <a:lnTo>
                    <a:pt x="133570" y="1771"/>
                  </a:lnTo>
                  <a:close/>
                  <a:moveTo>
                    <a:pt x="99165" y="56792"/>
                  </a:moveTo>
                  <a:cubicBezTo>
                    <a:pt x="99165" y="39464"/>
                    <a:pt x="85884" y="27827"/>
                    <a:pt x="67544" y="27827"/>
                  </a:cubicBezTo>
                  <a:cubicBezTo>
                    <a:pt x="49203" y="27827"/>
                    <a:pt x="35669" y="39464"/>
                    <a:pt x="35669" y="56792"/>
                  </a:cubicBezTo>
                  <a:cubicBezTo>
                    <a:pt x="35669" y="74121"/>
                    <a:pt x="49203" y="85758"/>
                    <a:pt x="67544" y="85758"/>
                  </a:cubicBezTo>
                  <a:cubicBezTo>
                    <a:pt x="85884" y="85758"/>
                    <a:pt x="99165" y="74121"/>
                    <a:pt x="99165" y="56792"/>
                  </a:cubicBezTo>
                </a:path>
              </a:pathLst>
            </a:custGeom>
            <a:solidFill>
              <a:srgbClr val="092340"/>
            </a:solidFill>
            <a:ln w="12614" cap="flat">
              <a:noFill/>
              <a:prstDash val="solid"/>
              <a:miter/>
            </a:ln>
          </p:spPr>
          <p:txBody>
            <a:bodyPr rtlCol="0" anchor="ctr"/>
            <a:lstStyle/>
            <a:p>
              <a:endParaRPr lang="en-IN" sz="3200"/>
            </a:p>
          </p:txBody>
        </p:sp>
        <p:sp>
          <p:nvSpPr>
            <p:cNvPr id="17" name="Freeform: Shape 16">
              <a:extLst>
                <a:ext uri="{FF2B5EF4-FFF2-40B4-BE49-F238E27FC236}">
                  <a16:creationId xmlns:a16="http://schemas.microsoft.com/office/drawing/2014/main" id="{8154BE5B-2F05-FB6F-BC46-5131AC718568}"/>
                </a:ext>
              </a:extLst>
            </p:cNvPr>
            <p:cNvSpPr/>
            <p:nvPr/>
          </p:nvSpPr>
          <p:spPr>
            <a:xfrm>
              <a:off x="11601593" y="6278254"/>
              <a:ext cx="127245" cy="121426"/>
            </a:xfrm>
            <a:custGeom>
              <a:avLst/>
              <a:gdLst>
                <a:gd name="connsiteX0" fmla="*/ 126613 w 127245"/>
                <a:gd name="connsiteY0" fmla="*/ 70326 h 121426"/>
                <a:gd name="connsiteX1" fmla="*/ 35290 w 127245"/>
                <a:gd name="connsiteY1" fmla="*/ 70326 h 121426"/>
                <a:gd name="connsiteX2" fmla="*/ 69821 w 127245"/>
                <a:gd name="connsiteY2" fmla="*/ 93979 h 121426"/>
                <a:gd name="connsiteX3" fmla="*/ 100177 w 127245"/>
                <a:gd name="connsiteY3" fmla="*/ 82596 h 121426"/>
                <a:gd name="connsiteX4" fmla="*/ 118771 w 127245"/>
                <a:gd name="connsiteY4" fmla="*/ 102327 h 121426"/>
                <a:gd name="connsiteX5" fmla="*/ 68556 w 127245"/>
                <a:gd name="connsiteY5" fmla="*/ 121427 h 121426"/>
                <a:gd name="connsiteX6" fmla="*/ 0 w 127245"/>
                <a:gd name="connsiteY6" fmla="*/ 60713 h 121426"/>
                <a:gd name="connsiteX7" fmla="*/ 64382 w 127245"/>
                <a:gd name="connsiteY7" fmla="*/ 0 h 121426"/>
                <a:gd name="connsiteX8" fmla="*/ 127245 w 127245"/>
                <a:gd name="connsiteY8" fmla="*/ 61093 h 121426"/>
                <a:gd name="connsiteX9" fmla="*/ 126613 w 127245"/>
                <a:gd name="connsiteY9" fmla="*/ 70326 h 121426"/>
                <a:gd name="connsiteX10" fmla="*/ 34784 w 127245"/>
                <a:gd name="connsiteY10" fmla="*/ 50342 h 121426"/>
                <a:gd name="connsiteX11" fmla="*/ 94232 w 127245"/>
                <a:gd name="connsiteY11" fmla="*/ 50342 h 121426"/>
                <a:gd name="connsiteX12" fmla="*/ 64635 w 127245"/>
                <a:gd name="connsiteY12" fmla="*/ 25803 h 121426"/>
                <a:gd name="connsiteX13" fmla="*/ 34784 w 127245"/>
                <a:gd name="connsiteY13" fmla="*/ 50342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245" h="121426">
                  <a:moveTo>
                    <a:pt x="126613" y="70326"/>
                  </a:moveTo>
                  <a:lnTo>
                    <a:pt x="35290" y="70326"/>
                  </a:lnTo>
                  <a:cubicBezTo>
                    <a:pt x="38705" y="84999"/>
                    <a:pt x="51480" y="93979"/>
                    <a:pt x="69821" y="93979"/>
                  </a:cubicBezTo>
                  <a:cubicBezTo>
                    <a:pt x="82596" y="93979"/>
                    <a:pt x="91829" y="90311"/>
                    <a:pt x="100177" y="82596"/>
                  </a:cubicBezTo>
                  <a:lnTo>
                    <a:pt x="118771" y="102327"/>
                  </a:lnTo>
                  <a:cubicBezTo>
                    <a:pt x="107514" y="114850"/>
                    <a:pt x="90311" y="121427"/>
                    <a:pt x="68556" y="121427"/>
                  </a:cubicBezTo>
                  <a:cubicBezTo>
                    <a:pt x="26815" y="121427"/>
                    <a:pt x="0" y="95750"/>
                    <a:pt x="0" y="60713"/>
                  </a:cubicBezTo>
                  <a:cubicBezTo>
                    <a:pt x="0" y="25677"/>
                    <a:pt x="27574" y="0"/>
                    <a:pt x="64382" y="0"/>
                  </a:cubicBezTo>
                  <a:cubicBezTo>
                    <a:pt x="101189" y="0"/>
                    <a:pt x="127245" y="23273"/>
                    <a:pt x="127245" y="61093"/>
                  </a:cubicBezTo>
                  <a:cubicBezTo>
                    <a:pt x="127245" y="63749"/>
                    <a:pt x="126739" y="67417"/>
                    <a:pt x="126613" y="70326"/>
                  </a:cubicBezTo>
                  <a:moveTo>
                    <a:pt x="34784" y="50342"/>
                  </a:moveTo>
                  <a:lnTo>
                    <a:pt x="94232" y="50342"/>
                  </a:lnTo>
                  <a:cubicBezTo>
                    <a:pt x="91703" y="35416"/>
                    <a:pt x="80319" y="25803"/>
                    <a:pt x="64635" y="25803"/>
                  </a:cubicBezTo>
                  <a:cubicBezTo>
                    <a:pt x="48950" y="25803"/>
                    <a:pt x="37313" y="35163"/>
                    <a:pt x="34784" y="50342"/>
                  </a:cubicBezTo>
                </a:path>
              </a:pathLst>
            </a:custGeom>
            <a:solidFill>
              <a:srgbClr val="092340"/>
            </a:solidFill>
            <a:ln w="12614" cap="flat">
              <a:noFill/>
              <a:prstDash val="solid"/>
              <a:miter/>
            </a:ln>
          </p:spPr>
          <p:txBody>
            <a:bodyPr rtlCol="0" anchor="ctr"/>
            <a:lstStyle/>
            <a:p>
              <a:endParaRPr lang="en-IN" sz="3200"/>
            </a:p>
          </p:txBody>
        </p:sp>
        <p:sp>
          <p:nvSpPr>
            <p:cNvPr id="18" name="Freeform: Shape 17">
              <a:extLst>
                <a:ext uri="{FF2B5EF4-FFF2-40B4-BE49-F238E27FC236}">
                  <a16:creationId xmlns:a16="http://schemas.microsoft.com/office/drawing/2014/main" id="{5FE7C0A1-186C-5020-5AAB-5FD9CD026FA7}"/>
                </a:ext>
              </a:extLst>
            </p:cNvPr>
            <p:cNvSpPr/>
            <p:nvPr/>
          </p:nvSpPr>
          <p:spPr>
            <a:xfrm>
              <a:off x="10965619" y="6278254"/>
              <a:ext cx="66278" cy="121426"/>
            </a:xfrm>
            <a:custGeom>
              <a:avLst/>
              <a:gdLst>
                <a:gd name="connsiteX0" fmla="*/ 66279 w 66278"/>
                <a:gd name="connsiteY0" fmla="*/ 93347 h 121426"/>
                <a:gd name="connsiteX1" fmla="*/ 35416 w 66278"/>
                <a:gd name="connsiteY1" fmla="*/ 60713 h 121426"/>
                <a:gd name="connsiteX2" fmla="*/ 66279 w 66278"/>
                <a:gd name="connsiteY2" fmla="*/ 28080 h 121426"/>
                <a:gd name="connsiteX3" fmla="*/ 66279 w 66278"/>
                <a:gd name="connsiteY3" fmla="*/ 0 h 121426"/>
                <a:gd name="connsiteX4" fmla="*/ 0 w 66278"/>
                <a:gd name="connsiteY4" fmla="*/ 60713 h 121426"/>
                <a:gd name="connsiteX5" fmla="*/ 66026 w 66278"/>
                <a:gd name="connsiteY5" fmla="*/ 121427 h 121426"/>
                <a:gd name="connsiteX6" fmla="*/ 66279 w 66278"/>
                <a:gd name="connsiteY6" fmla="*/ 121427 h 121426"/>
                <a:gd name="connsiteX7" fmla="*/ 66279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66279" y="93347"/>
                  </a:moveTo>
                  <a:cubicBezTo>
                    <a:pt x="48824" y="93347"/>
                    <a:pt x="35416" y="81078"/>
                    <a:pt x="35416" y="60713"/>
                  </a:cubicBezTo>
                  <a:cubicBezTo>
                    <a:pt x="35416" y="40349"/>
                    <a:pt x="48824" y="28080"/>
                    <a:pt x="66279" y="28080"/>
                  </a:cubicBezTo>
                  <a:lnTo>
                    <a:pt x="66279" y="0"/>
                  </a:lnTo>
                  <a:cubicBezTo>
                    <a:pt x="27954" y="0"/>
                    <a:pt x="0" y="25171"/>
                    <a:pt x="0" y="60713"/>
                  </a:cubicBezTo>
                  <a:cubicBezTo>
                    <a:pt x="0" y="96256"/>
                    <a:pt x="27701" y="121427"/>
                    <a:pt x="66026" y="121427"/>
                  </a:cubicBezTo>
                  <a:cubicBezTo>
                    <a:pt x="66026" y="121427"/>
                    <a:pt x="66152" y="121427"/>
                    <a:pt x="66279" y="121427"/>
                  </a:cubicBezTo>
                  <a:lnTo>
                    <a:pt x="66279" y="93347"/>
                  </a:lnTo>
                  <a:close/>
                </a:path>
              </a:pathLst>
            </a:custGeom>
            <a:solidFill>
              <a:srgbClr val="F15B40"/>
            </a:solidFill>
            <a:ln w="12614" cap="flat">
              <a:noFill/>
              <a:prstDash val="solid"/>
              <a:miter/>
            </a:ln>
          </p:spPr>
          <p:txBody>
            <a:bodyPr rtlCol="0" anchor="ctr"/>
            <a:lstStyle/>
            <a:p>
              <a:endParaRPr lang="en-IN" sz="3200"/>
            </a:p>
          </p:txBody>
        </p:sp>
        <p:sp>
          <p:nvSpPr>
            <p:cNvPr id="19" name="Freeform: Shape 18">
              <a:extLst>
                <a:ext uri="{FF2B5EF4-FFF2-40B4-BE49-F238E27FC236}">
                  <a16:creationId xmlns:a16="http://schemas.microsoft.com/office/drawing/2014/main" id="{F34AE91A-7473-8E25-38F9-3A2AA525A583}"/>
                </a:ext>
              </a:extLst>
            </p:cNvPr>
            <p:cNvSpPr/>
            <p:nvPr/>
          </p:nvSpPr>
          <p:spPr>
            <a:xfrm>
              <a:off x="11031898" y="6278254"/>
              <a:ext cx="66278" cy="121426"/>
            </a:xfrm>
            <a:custGeom>
              <a:avLst/>
              <a:gdLst>
                <a:gd name="connsiteX0" fmla="*/ 0 w 66278"/>
                <a:gd name="connsiteY0" fmla="*/ 93347 h 121426"/>
                <a:gd name="connsiteX1" fmla="*/ 30863 w 66278"/>
                <a:gd name="connsiteY1" fmla="*/ 60713 h 121426"/>
                <a:gd name="connsiteX2" fmla="*/ 0 w 66278"/>
                <a:gd name="connsiteY2" fmla="*/ 28080 h 121426"/>
                <a:gd name="connsiteX3" fmla="*/ 0 w 66278"/>
                <a:gd name="connsiteY3" fmla="*/ 0 h 121426"/>
                <a:gd name="connsiteX4" fmla="*/ 66279 w 66278"/>
                <a:gd name="connsiteY4" fmla="*/ 60713 h 121426"/>
                <a:gd name="connsiteX5" fmla="*/ 253 w 66278"/>
                <a:gd name="connsiteY5" fmla="*/ 121427 h 121426"/>
                <a:gd name="connsiteX6" fmla="*/ 0 w 66278"/>
                <a:gd name="connsiteY6" fmla="*/ 121427 h 121426"/>
                <a:gd name="connsiteX7" fmla="*/ 0 w 66278"/>
                <a:gd name="connsiteY7" fmla="*/ 93347 h 121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278" h="121426">
                  <a:moveTo>
                    <a:pt x="0" y="93347"/>
                  </a:moveTo>
                  <a:cubicBezTo>
                    <a:pt x="17455" y="93347"/>
                    <a:pt x="30863" y="81078"/>
                    <a:pt x="30863" y="60713"/>
                  </a:cubicBezTo>
                  <a:cubicBezTo>
                    <a:pt x="30863" y="40349"/>
                    <a:pt x="17455" y="28080"/>
                    <a:pt x="0" y="28080"/>
                  </a:cubicBezTo>
                  <a:lnTo>
                    <a:pt x="0" y="0"/>
                  </a:lnTo>
                  <a:cubicBezTo>
                    <a:pt x="38325" y="0"/>
                    <a:pt x="66279" y="25171"/>
                    <a:pt x="66279" y="60713"/>
                  </a:cubicBezTo>
                  <a:cubicBezTo>
                    <a:pt x="66279" y="96256"/>
                    <a:pt x="38578" y="121427"/>
                    <a:pt x="253" y="121427"/>
                  </a:cubicBezTo>
                  <a:cubicBezTo>
                    <a:pt x="253" y="121427"/>
                    <a:pt x="126" y="121427"/>
                    <a:pt x="0" y="121427"/>
                  </a:cubicBezTo>
                  <a:lnTo>
                    <a:pt x="0" y="93347"/>
                  </a:lnTo>
                  <a:close/>
                </a:path>
              </a:pathLst>
            </a:custGeom>
            <a:solidFill>
              <a:srgbClr val="092340"/>
            </a:solidFill>
            <a:ln w="12614" cap="flat">
              <a:noFill/>
              <a:prstDash val="solid"/>
              <a:miter/>
            </a:ln>
          </p:spPr>
          <p:txBody>
            <a:bodyPr rtlCol="0" anchor="ctr"/>
            <a:lstStyle/>
            <a:p>
              <a:endParaRPr lang="en-IN" sz="3200"/>
            </a:p>
          </p:txBody>
        </p:sp>
      </p:grpSp>
      <p:pic>
        <p:nvPicPr>
          <p:cNvPr id="20" name="Graphic 19">
            <a:extLst>
              <a:ext uri="{FF2B5EF4-FFF2-40B4-BE49-F238E27FC236}">
                <a16:creationId xmlns:a16="http://schemas.microsoft.com/office/drawing/2014/main" id="{0EBBFD31-ED7C-F4EB-19A8-CA6ACC06DD8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91405" y="8537708"/>
            <a:ext cx="15504000" cy="34605"/>
          </a:xfrm>
          <a:prstGeom prst="rect">
            <a:avLst/>
          </a:prstGeom>
        </p:spPr>
      </p:pic>
      <p:cxnSp>
        <p:nvCxnSpPr>
          <p:cNvPr id="3" name="Straight Connector 2">
            <a:extLst>
              <a:ext uri="{FF2B5EF4-FFF2-40B4-BE49-F238E27FC236}">
                <a16:creationId xmlns:a16="http://schemas.microsoft.com/office/drawing/2014/main" id="{83E86FF6-FAF7-3EF9-D8F2-04E09C82B231}"/>
              </a:ext>
            </a:extLst>
          </p:cNvPr>
          <p:cNvCxnSpPr/>
          <p:nvPr/>
        </p:nvCxnSpPr>
        <p:spPr>
          <a:xfrm>
            <a:off x="808731" y="8700533"/>
            <a:ext cx="0" cy="288000"/>
          </a:xfrm>
          <a:prstGeom prst="line">
            <a:avLst/>
          </a:prstGeom>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D679B0A8-6FF4-A26E-10FE-E0A3D7EBEC95}"/>
              </a:ext>
            </a:extLst>
          </p:cNvPr>
          <p:cNvSpPr txBox="1">
            <a:spLocks/>
          </p:cNvSpPr>
          <p:nvPr/>
        </p:nvSpPr>
        <p:spPr>
          <a:xfrm>
            <a:off x="996008" y="8614741"/>
            <a:ext cx="5486400" cy="486833"/>
          </a:xfrm>
          <a:prstGeom prst="rect">
            <a:avLst/>
          </a:prstGeom>
        </p:spPr>
        <p:txBody>
          <a:bodyPr vert="horz" lIns="0" tIns="60960" rIns="121920" bIns="60960"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sz="1333"/>
              <a:t>© Coforge, 2025 | Confidential</a:t>
            </a:r>
          </a:p>
        </p:txBody>
      </p:sp>
      <p:sp>
        <p:nvSpPr>
          <p:cNvPr id="5" name="Footer Placeholder 4">
            <a:extLst>
              <a:ext uri="{FF2B5EF4-FFF2-40B4-BE49-F238E27FC236}">
                <a16:creationId xmlns:a16="http://schemas.microsoft.com/office/drawing/2014/main" id="{D1700ED6-EEAC-DB5E-E470-A91E6DD22703}"/>
              </a:ext>
            </a:extLst>
          </p:cNvPr>
          <p:cNvSpPr txBox="1">
            <a:spLocks/>
          </p:cNvSpPr>
          <p:nvPr/>
        </p:nvSpPr>
        <p:spPr>
          <a:xfrm>
            <a:off x="266955" y="8586165"/>
            <a:ext cx="547888" cy="486833"/>
          </a:xfrm>
          <a:prstGeom prst="rect">
            <a:avLst/>
          </a:prstGeom>
        </p:spPr>
        <p:txBody>
          <a:bodyPr vert="horz" lIns="0" tIns="60960" rIns="121920" bIns="60960" rtlCol="0" anchor="ctr"/>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EF785132-0981-44D9-9CCF-B39EFD8AF1CE}" type="slidenum">
              <a:rPr lang="en-IN" sz="1867" b="1" smtClean="0"/>
              <a:pPr algn="r"/>
              <a:t>‹#›</a:t>
            </a:fld>
            <a:endParaRPr lang="en-IN" sz="1867" b="1"/>
          </a:p>
        </p:txBody>
      </p:sp>
      <p:pic>
        <p:nvPicPr>
          <p:cNvPr id="9" name="Picture 8">
            <a:extLst>
              <a:ext uri="{FF2B5EF4-FFF2-40B4-BE49-F238E27FC236}">
                <a16:creationId xmlns:a16="http://schemas.microsoft.com/office/drawing/2014/main" id="{59BF1BB4-63B3-C3C8-C146-222E572AF55D}"/>
              </a:ext>
            </a:extLst>
          </p:cNvPr>
          <p:cNvPicPr>
            <a:picLocks noChangeAspect="1"/>
          </p:cNvPicPr>
          <p:nvPr userDrawn="1"/>
        </p:nvPicPr>
        <p:blipFill>
          <a:blip r:embed="rId8"/>
          <a:stretch>
            <a:fillRect/>
          </a:stretch>
        </p:blipFill>
        <p:spPr>
          <a:xfrm>
            <a:off x="14597177" y="269616"/>
            <a:ext cx="1267418" cy="468561"/>
          </a:xfrm>
          <a:prstGeom prst="rect">
            <a:avLst/>
          </a:prstGeom>
        </p:spPr>
      </p:pic>
    </p:spTree>
    <p:extLst>
      <p:ext uri="{BB962C8B-B14F-4D97-AF65-F5344CB8AC3E}">
        <p14:creationId xmlns:p14="http://schemas.microsoft.com/office/powerpoint/2010/main" val="3781318615"/>
      </p:ext>
    </p:extLst>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Lst>
  <p:txStyles>
    <p:titleStyle>
      <a:lvl1pPr algn="l" defTabSz="1219170" rtl="0" eaLnBrk="1" latinLnBrk="0" hangingPunct="1">
        <a:lnSpc>
          <a:spcPct val="90000"/>
        </a:lnSpc>
        <a:spcBef>
          <a:spcPct val="0"/>
        </a:spcBef>
        <a:buNone/>
        <a:defRPr sz="4267" kern="1200">
          <a:solidFill>
            <a:schemeClr val="accent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2400"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FACB78-28BF-ECD1-16B1-52B6319273AA}"/>
              </a:ext>
            </a:extLst>
          </p:cNvPr>
          <p:cNvSpPr>
            <a:spLocks noGrp="1"/>
          </p:cNvSpPr>
          <p:nvPr>
            <p:ph type="title"/>
          </p:nvPr>
        </p:nvSpPr>
        <p:spPr>
          <a:xfrm>
            <a:off x="391405" y="3318524"/>
            <a:ext cx="11413908" cy="1645576"/>
          </a:xfrm>
        </p:spPr>
        <p:txBody>
          <a:bodyPr/>
          <a:lstStyle/>
          <a:p>
            <a:r>
              <a:rPr lang="en-US" sz="4800"/>
              <a:t>SATS – Bi-Monthly Infra Review</a:t>
            </a:r>
            <a:endParaRPr lang="en-IN" sz="4800"/>
          </a:p>
        </p:txBody>
      </p:sp>
      <p:sp>
        <p:nvSpPr>
          <p:cNvPr id="4" name="Text Placeholder 3">
            <a:extLst>
              <a:ext uri="{FF2B5EF4-FFF2-40B4-BE49-F238E27FC236}">
                <a16:creationId xmlns:a16="http://schemas.microsoft.com/office/drawing/2014/main" id="{1FF45729-CB0C-A70A-4622-CA9E6B69E3C9}"/>
              </a:ext>
            </a:extLst>
          </p:cNvPr>
          <p:cNvSpPr>
            <a:spLocks noGrp="1"/>
          </p:cNvSpPr>
          <p:nvPr>
            <p:ph type="body" sz="quarter" idx="12"/>
          </p:nvPr>
        </p:nvSpPr>
        <p:spPr>
          <a:xfrm>
            <a:off x="391405" y="4278027"/>
            <a:ext cx="9531552" cy="686074"/>
          </a:xfrm>
        </p:spPr>
        <p:txBody>
          <a:bodyPr vert="horz" lIns="0" tIns="45720" rIns="91440" bIns="45720" rtlCol="0" anchor="t">
            <a:normAutofit/>
          </a:bodyPr>
          <a:lstStyle/>
          <a:p>
            <a:r>
              <a:rPr lang="en-US" sz="3200"/>
              <a:t>June’26</a:t>
            </a:r>
            <a:endParaRPr lang="en-IN"/>
          </a:p>
        </p:txBody>
      </p:sp>
    </p:spTree>
    <p:extLst>
      <p:ext uri="{BB962C8B-B14F-4D97-AF65-F5344CB8AC3E}">
        <p14:creationId xmlns:p14="http://schemas.microsoft.com/office/powerpoint/2010/main" val="2386444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Freeform 4">
            <a:extLst>
              <a:ext uri="{FF2B5EF4-FFF2-40B4-BE49-F238E27FC236}">
                <a16:creationId xmlns:a16="http://schemas.microsoft.com/office/drawing/2014/main" id="{CBA02708-E3F0-7442-AC74-F3BA16FA6A39}"/>
              </a:ext>
            </a:extLst>
          </p:cNvPr>
          <p:cNvSpPr>
            <a:spLocks noChangeArrowheads="1"/>
          </p:cNvSpPr>
          <p:nvPr/>
        </p:nvSpPr>
        <p:spPr bwMode="auto">
          <a:xfrm>
            <a:off x="13956597" y="15007147"/>
            <a:ext cx="483824" cy="597315"/>
          </a:xfrm>
          <a:custGeom>
            <a:avLst/>
            <a:gdLst>
              <a:gd name="T0" fmla="*/ 174 w 358"/>
              <a:gd name="T1" fmla="*/ 0 h 442"/>
              <a:gd name="T2" fmla="*/ 357 w 358"/>
              <a:gd name="T3" fmla="*/ 441 h 442"/>
              <a:gd name="T4" fmla="*/ 174 w 358"/>
              <a:gd name="T5" fmla="*/ 341 h 442"/>
              <a:gd name="T6" fmla="*/ 0 w 358"/>
              <a:gd name="T7" fmla="*/ 441 h 442"/>
              <a:gd name="T8" fmla="*/ 174 w 358"/>
              <a:gd name="T9" fmla="*/ 0 h 442"/>
            </a:gdLst>
            <a:ahLst/>
            <a:cxnLst>
              <a:cxn ang="0">
                <a:pos x="T0" y="T1"/>
              </a:cxn>
              <a:cxn ang="0">
                <a:pos x="T2" y="T3"/>
              </a:cxn>
              <a:cxn ang="0">
                <a:pos x="T4" y="T5"/>
              </a:cxn>
              <a:cxn ang="0">
                <a:pos x="T6" y="T7"/>
              </a:cxn>
              <a:cxn ang="0">
                <a:pos x="T8" y="T9"/>
              </a:cxn>
            </a:cxnLst>
            <a:rect l="0" t="0" r="r" b="b"/>
            <a:pathLst>
              <a:path w="358" h="442">
                <a:moveTo>
                  <a:pt x="174" y="0"/>
                </a:moveTo>
                <a:lnTo>
                  <a:pt x="357" y="441"/>
                </a:lnTo>
                <a:lnTo>
                  <a:pt x="174" y="341"/>
                </a:lnTo>
                <a:lnTo>
                  <a:pt x="0" y="441"/>
                </a:lnTo>
                <a:lnTo>
                  <a:pt x="174" y="0"/>
                </a:lnTo>
              </a:path>
            </a:pathLst>
          </a:custGeom>
          <a:solidFill>
            <a:schemeClr val="tx1">
              <a:lumMod val="20000"/>
              <a:lumOff val="80000"/>
            </a:schemeClr>
          </a:solidFill>
          <a:ln>
            <a:noFill/>
          </a:ln>
          <a:effectLst/>
        </p:spPr>
        <p:txBody>
          <a:bodyPr wrap="none" anchor="ctr"/>
          <a:lstStyle/>
          <a:p>
            <a:endParaRPr lang="en-US" sz="1600">
              <a:latin typeface="+mj-lt"/>
            </a:endParaRPr>
          </a:p>
        </p:txBody>
      </p:sp>
      <p:sp>
        <p:nvSpPr>
          <p:cNvPr id="2" name="Title 1">
            <a:extLst>
              <a:ext uri="{FF2B5EF4-FFF2-40B4-BE49-F238E27FC236}">
                <a16:creationId xmlns:a16="http://schemas.microsoft.com/office/drawing/2014/main" id="{BAE3C0B6-1BF3-07F2-49B1-98BCD4E6CA6B}"/>
              </a:ext>
            </a:extLst>
          </p:cNvPr>
          <p:cNvSpPr>
            <a:spLocks noGrp="1"/>
          </p:cNvSpPr>
          <p:nvPr>
            <p:ph type="title"/>
          </p:nvPr>
        </p:nvSpPr>
        <p:spPr>
          <a:xfrm>
            <a:off x="526097" y="567519"/>
            <a:ext cx="13243691" cy="1260685"/>
          </a:xfrm>
        </p:spPr>
        <p:txBody>
          <a:bodyPr>
            <a:normAutofit/>
          </a:bodyPr>
          <a:lstStyle/>
          <a:p>
            <a:r>
              <a:rPr lang="en-US" sz="5333"/>
              <a:t>Agenda</a:t>
            </a:r>
            <a:endParaRPr lang="en-IN" sz="5333"/>
          </a:p>
        </p:txBody>
      </p:sp>
      <p:sp>
        <p:nvSpPr>
          <p:cNvPr id="11" name="TextBox 10">
            <a:extLst>
              <a:ext uri="{FF2B5EF4-FFF2-40B4-BE49-F238E27FC236}">
                <a16:creationId xmlns:a16="http://schemas.microsoft.com/office/drawing/2014/main" id="{AED02657-F5AF-FC7B-18DF-4F2816ABC9AB}"/>
              </a:ext>
            </a:extLst>
          </p:cNvPr>
          <p:cNvSpPr txBox="1"/>
          <p:nvPr/>
        </p:nvSpPr>
        <p:spPr>
          <a:xfrm>
            <a:off x="526098" y="1778507"/>
            <a:ext cx="4771616" cy="1315745"/>
          </a:xfrm>
          <a:prstGeom prst="rect">
            <a:avLst/>
          </a:prstGeom>
          <a:noFill/>
        </p:spPr>
        <p:txBody>
          <a:bodyPr wrap="square" lIns="91440" tIns="45720" rIns="91440" bIns="45720" rtlCol="0" anchor="t">
            <a:spAutoFit/>
          </a:bodyPr>
          <a:lstStyle/>
          <a:p>
            <a:r>
              <a:rPr lang="en-IN" sz="2650">
                <a:solidFill>
                  <a:schemeClr val="accent2"/>
                </a:solidFill>
              </a:rPr>
              <a:t>Discussion </a:t>
            </a:r>
            <a:r>
              <a:rPr lang="en-IN" sz="2650">
                <a:solidFill>
                  <a:schemeClr val="accent2"/>
                </a:solidFill>
                <a:ea typeface="+mn-lt"/>
                <a:cs typeface="+mn-lt"/>
              </a:rPr>
              <a:t>on Azure operations updates and key infrastructure actions.</a:t>
            </a:r>
            <a:endParaRPr lang="en-IN" sz="2650">
              <a:solidFill>
                <a:schemeClr val="accent2"/>
              </a:solidFill>
              <a:ea typeface="Tahoma"/>
              <a:cs typeface="Tahoma"/>
            </a:endParaRPr>
          </a:p>
        </p:txBody>
      </p:sp>
      <p:graphicFrame>
        <p:nvGraphicFramePr>
          <p:cNvPr id="15" name="Table 15">
            <a:extLst>
              <a:ext uri="{FF2B5EF4-FFF2-40B4-BE49-F238E27FC236}">
                <a16:creationId xmlns:a16="http://schemas.microsoft.com/office/drawing/2014/main" id="{F4F0EF6E-CD73-2614-C28B-B9932879233E}"/>
              </a:ext>
            </a:extLst>
          </p:cNvPr>
          <p:cNvGraphicFramePr>
            <a:graphicFrameLocks noGrp="1"/>
          </p:cNvGraphicFramePr>
          <p:nvPr>
            <p:extLst>
              <p:ext uri="{D42A27DB-BD31-4B8C-83A1-F6EECF244321}">
                <p14:modId xmlns:p14="http://schemas.microsoft.com/office/powerpoint/2010/main" val="1462266050"/>
              </p:ext>
            </p:extLst>
          </p:nvPr>
        </p:nvGraphicFramePr>
        <p:xfrm>
          <a:off x="6265439" y="685804"/>
          <a:ext cx="9547140" cy="7486586"/>
        </p:xfrm>
        <a:graphic>
          <a:graphicData uri="http://schemas.openxmlformats.org/drawingml/2006/table">
            <a:tbl>
              <a:tblPr>
                <a:tableStyleId>{2D5ABB26-0587-4C30-8999-92F81FD0307C}</a:tableStyleId>
              </a:tblPr>
              <a:tblGrid>
                <a:gridCol w="1333623">
                  <a:extLst>
                    <a:ext uri="{9D8B030D-6E8A-4147-A177-3AD203B41FA5}">
                      <a16:colId xmlns:a16="http://schemas.microsoft.com/office/drawing/2014/main" val="1634155257"/>
                    </a:ext>
                  </a:extLst>
                </a:gridCol>
                <a:gridCol w="8213517">
                  <a:extLst>
                    <a:ext uri="{9D8B030D-6E8A-4147-A177-3AD203B41FA5}">
                      <a16:colId xmlns:a16="http://schemas.microsoft.com/office/drawing/2014/main" val="102761808"/>
                    </a:ext>
                  </a:extLst>
                </a:gridCol>
              </a:tblGrid>
              <a:tr h="1232821">
                <a:tc>
                  <a:txBody>
                    <a:bodyPr/>
                    <a:lstStyle/>
                    <a:p>
                      <a:pPr marL="0" algn="l" defTabSz="1219170" rtl="0" eaLnBrk="1" latinLnBrk="0" hangingPunct="1"/>
                      <a:r>
                        <a:rPr lang="en-IN" sz="4000" b="1" kern="1200">
                          <a:solidFill>
                            <a:schemeClr val="accent1"/>
                          </a:solidFill>
                          <a:latin typeface="+mj-lt"/>
                        </a:rPr>
                        <a:t>1</a:t>
                      </a:r>
                    </a:p>
                  </a:txBody>
                  <a:tcPr marL="121920" marR="121920" marT="60960" marB="60960" anchor="ctr">
                    <a:lnL>
                      <a:noFill/>
                    </a:lnL>
                    <a:lnR>
                      <a:noFill/>
                    </a:lnR>
                    <a:lnT>
                      <a:noFill/>
                    </a:lnT>
                    <a:lnB w="381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2000" kern="1200">
                          <a:solidFill>
                            <a:schemeClr val="tx1"/>
                          </a:solidFill>
                          <a:effectLst/>
                          <a:latin typeface="+mn-lt"/>
                          <a:ea typeface="+mn-ea"/>
                          <a:cs typeface="+mn-cs"/>
                        </a:rPr>
                        <a:t>Operational Summary</a:t>
                      </a:r>
                      <a:endParaRPr lang="en-IN" sz="2000"/>
                    </a:p>
                  </a:txBody>
                  <a:tcPr marL="121920" marR="121920" marT="60960" marB="60960" anchor="ctr">
                    <a:lnL>
                      <a:noFill/>
                    </a:lnL>
                    <a:lnR>
                      <a:noFill/>
                    </a:lnR>
                    <a:lnT>
                      <a:noFill/>
                    </a:lnT>
                    <a:lnB w="381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37204989"/>
                  </a:ext>
                </a:extLst>
              </a:tr>
              <a:tr h="1232821">
                <a:tc>
                  <a:txBody>
                    <a:bodyPr/>
                    <a:lstStyle/>
                    <a:p>
                      <a:pPr marL="0" lvl="0" algn="l">
                        <a:buNone/>
                      </a:pPr>
                      <a:r>
                        <a:rPr lang="en-IN" sz="4000" b="1" kern="1200">
                          <a:solidFill>
                            <a:schemeClr val="accent1"/>
                          </a:solidFill>
                          <a:latin typeface="+mj-lt"/>
                        </a:rPr>
                        <a:t>2 </a:t>
                      </a:r>
                    </a:p>
                  </a:txBody>
                  <a:tcPr marL="121920" marR="121920" marT="60959" marB="60959" anchor="ctr">
                    <a:lnL w="0">
                      <a:noFill/>
                    </a:lnL>
                    <a:lnR w="0">
                      <a:noFill/>
                    </a:lnR>
                    <a:lnT w="38100" cap="flat" cmpd="sng" algn="ctr">
                      <a:solidFill>
                        <a:schemeClr val="accent2"/>
                      </a:solidFill>
                      <a:prstDash val="solid"/>
                      <a:round/>
                      <a:headEnd type="none" w="med" len="med"/>
                      <a:tailEnd type="none" w="med" len="med"/>
                    </a:lnT>
                    <a:lnB w="38099">
                      <a:solidFill>
                        <a:schemeClr val="accent2"/>
                      </a:solidFill>
                    </a:lnB>
                    <a:lnTlToBr w="0">
                      <a:noFill/>
                    </a:lnTlToBr>
                    <a:lnBlToTr w="0">
                      <a:noFill/>
                    </a:lnBlToTr>
                  </a:tcPr>
                </a:tc>
                <a:tc>
                  <a:txBody>
                    <a:bodyPr/>
                    <a:lstStyle/>
                    <a:p>
                      <a:pPr lvl="0">
                        <a:buNone/>
                      </a:pPr>
                      <a:r>
                        <a:rPr lang="en-US" sz="2000" b="0" i="0" u="none" strike="noStrike" kern="1200" noProof="0">
                          <a:solidFill>
                            <a:srgbClr val="505050"/>
                          </a:solidFill>
                          <a:effectLst/>
                          <a:latin typeface="Tahoma"/>
                          <a:ea typeface="Tahoma"/>
                          <a:cs typeface="Tahoma"/>
                        </a:rPr>
                        <a:t>Provisioning of NAT Gateway</a:t>
                      </a:r>
                      <a:endParaRPr lang="en-US" sz="2000"/>
                    </a:p>
                  </a:txBody>
                  <a:tcPr marL="121920" marR="121920" marT="60959" marB="60959" anchor="ctr">
                    <a:lnL w="0">
                      <a:noFill/>
                    </a:lnL>
                    <a:lnR w="0">
                      <a:noFill/>
                    </a:lnR>
                    <a:lnT w="38100" cap="flat" cmpd="sng" algn="ctr">
                      <a:solidFill>
                        <a:schemeClr val="accent2"/>
                      </a:solidFill>
                      <a:prstDash val="solid"/>
                      <a:round/>
                      <a:headEnd type="none" w="med" len="med"/>
                      <a:tailEnd type="none" w="med" len="med"/>
                    </a:lnT>
                    <a:lnB w="38099">
                      <a:solidFill>
                        <a:schemeClr val="accent2"/>
                      </a:solidFill>
                    </a:lnB>
                    <a:lnTlToBr w="0">
                      <a:noFill/>
                    </a:lnTlToBr>
                    <a:lnBlToTr w="0">
                      <a:noFill/>
                    </a:lnBlToTr>
                  </a:tcPr>
                </a:tc>
                <a:extLst>
                  <a:ext uri="{0D108BD9-81ED-4DB2-BD59-A6C34878D82A}">
                    <a16:rowId xmlns:a16="http://schemas.microsoft.com/office/drawing/2014/main" val="2094212642"/>
                  </a:ext>
                </a:extLst>
              </a:tr>
              <a:tr h="1232821">
                <a:tc>
                  <a:txBody>
                    <a:bodyPr/>
                    <a:lstStyle/>
                    <a:p>
                      <a:pPr marL="0" lvl="0" algn="l">
                        <a:buNone/>
                      </a:pPr>
                      <a:r>
                        <a:rPr lang="en-IN" sz="4000" b="1" kern="1200">
                          <a:solidFill>
                            <a:schemeClr val="accent1"/>
                          </a:solidFill>
                          <a:latin typeface="+mj-lt"/>
                        </a:rPr>
                        <a:t>3</a:t>
                      </a:r>
                    </a:p>
                  </a:txBody>
                  <a:tcPr marL="121920" marR="121920" marT="60959" marB="60959" anchor="ctr">
                    <a:lnL w="0">
                      <a:noFill/>
                    </a:lnL>
                    <a:lnR w="0">
                      <a:noFill/>
                    </a:lnR>
                    <a:lnT w="38099">
                      <a:solidFill>
                        <a:schemeClr val="accent2"/>
                      </a:solidFill>
                    </a:lnT>
                    <a:lnB w="38099">
                      <a:solidFill>
                        <a:schemeClr val="accent2"/>
                      </a:solidFill>
                    </a:lnB>
                    <a:lnTlToBr w="0">
                      <a:noFill/>
                    </a:lnTlToBr>
                    <a:lnBlToTr w="0">
                      <a:noFill/>
                    </a:lnBlToTr>
                  </a:tcPr>
                </a:tc>
                <a:tc>
                  <a:txBody>
                    <a:bodyPr/>
                    <a:lstStyle/>
                    <a:p>
                      <a:pPr lvl="0">
                        <a:buNone/>
                      </a:pPr>
                      <a:r>
                        <a:rPr lang="en-US" sz="2000" b="0" i="0" u="none" strike="noStrike" kern="1200" noProof="0">
                          <a:solidFill>
                            <a:srgbClr val="505050"/>
                          </a:solidFill>
                          <a:effectLst/>
                          <a:latin typeface="Tahoma"/>
                          <a:ea typeface="Tahoma"/>
                          <a:cs typeface="Tahoma"/>
                        </a:rPr>
                        <a:t>Enabling HTTPS for SAUDI (All Tenants)</a:t>
                      </a:r>
                      <a:endParaRPr lang="en-US" sz="2000"/>
                    </a:p>
                  </a:txBody>
                  <a:tcPr marL="121920" marR="121920" marT="60959" marB="60959" anchor="ctr">
                    <a:lnL w="0">
                      <a:noFill/>
                    </a:lnL>
                    <a:lnR w="0">
                      <a:noFill/>
                    </a:lnR>
                    <a:lnT w="38099">
                      <a:solidFill>
                        <a:schemeClr val="accent2"/>
                      </a:solidFill>
                    </a:lnT>
                    <a:lnB w="38099">
                      <a:solidFill>
                        <a:schemeClr val="accent2"/>
                      </a:solidFill>
                    </a:lnB>
                    <a:lnTlToBr w="0">
                      <a:noFill/>
                    </a:lnTlToBr>
                    <a:lnBlToTr w="0">
                      <a:noFill/>
                    </a:lnBlToTr>
                  </a:tcPr>
                </a:tc>
                <a:extLst>
                  <a:ext uri="{0D108BD9-81ED-4DB2-BD59-A6C34878D82A}">
                    <a16:rowId xmlns:a16="http://schemas.microsoft.com/office/drawing/2014/main" val="3092764499"/>
                  </a:ext>
                </a:extLst>
              </a:tr>
              <a:tr h="1232821">
                <a:tc>
                  <a:txBody>
                    <a:bodyPr/>
                    <a:lstStyle/>
                    <a:p>
                      <a:pPr marL="0" lvl="0" algn="l">
                        <a:buNone/>
                      </a:pPr>
                      <a:r>
                        <a:rPr lang="en-IN" sz="4000" b="1" kern="1200">
                          <a:solidFill>
                            <a:schemeClr val="accent1"/>
                          </a:solidFill>
                          <a:latin typeface="+mj-lt"/>
                        </a:rPr>
                        <a:t>4</a:t>
                      </a:r>
                    </a:p>
                  </a:txBody>
                  <a:tcPr marL="121920" marR="121920" marT="60959" marB="60959" anchor="ctr">
                    <a:lnL w="0">
                      <a:noFill/>
                    </a:lnL>
                    <a:lnR w="0">
                      <a:noFill/>
                    </a:lnR>
                    <a:lnT w="38099" cap="flat" cmpd="sng" algn="ctr">
                      <a:solidFill>
                        <a:schemeClr val="accent2"/>
                      </a:solidFill>
                      <a:prstDash val="solid"/>
                      <a:round/>
                      <a:headEnd type="none" w="med" len="med"/>
                      <a:tailEnd type="none" w="med" len="med"/>
                    </a:lnT>
                    <a:lnB w="38099">
                      <a:solidFill>
                        <a:schemeClr val="accent2"/>
                      </a:solidFill>
                    </a:lnB>
                    <a:lnTlToBr w="0">
                      <a:noFill/>
                    </a:lnTlToBr>
                    <a:lnBlToTr w="0">
                      <a:noFill/>
                    </a:lnBlToTr>
                  </a:tcPr>
                </a:tc>
                <a:tc>
                  <a:txBody>
                    <a:bodyPr/>
                    <a:lstStyle/>
                    <a:p>
                      <a:pPr lvl="0">
                        <a:buNone/>
                      </a:pPr>
                      <a:r>
                        <a:rPr lang="en-US" sz="2000" b="0" i="0" u="none" strike="noStrike" noProof="0">
                          <a:solidFill>
                            <a:srgbClr val="505050"/>
                          </a:solidFill>
                          <a:latin typeface="Tahoma"/>
                          <a:ea typeface="Tahoma"/>
                          <a:cs typeface="Tahoma"/>
                        </a:rPr>
                        <a:t>Enabling HTTPS for AAT</a:t>
                      </a:r>
                      <a:endParaRPr lang="en-US"/>
                    </a:p>
                  </a:txBody>
                  <a:tcPr marL="121920" marR="121920" marT="60959" marB="60959" anchor="ctr">
                    <a:lnL w="0">
                      <a:noFill/>
                    </a:lnL>
                    <a:lnR w="0">
                      <a:noFill/>
                    </a:lnR>
                    <a:lnT w="38099" cap="flat" cmpd="sng" algn="ctr">
                      <a:solidFill>
                        <a:schemeClr val="accent2"/>
                      </a:solidFill>
                      <a:prstDash val="solid"/>
                      <a:round/>
                      <a:headEnd type="none" w="med" len="med"/>
                      <a:tailEnd type="none" w="med" len="med"/>
                    </a:lnT>
                    <a:lnB w="38099">
                      <a:solidFill>
                        <a:schemeClr val="accent2"/>
                      </a:solidFill>
                    </a:lnB>
                    <a:lnTlToBr w="0">
                      <a:noFill/>
                    </a:lnTlToBr>
                    <a:lnBlToTr w="0">
                      <a:noFill/>
                    </a:lnBlToTr>
                  </a:tcPr>
                </a:tc>
                <a:extLst>
                  <a:ext uri="{0D108BD9-81ED-4DB2-BD59-A6C34878D82A}">
                    <a16:rowId xmlns:a16="http://schemas.microsoft.com/office/drawing/2014/main" val="1263097891"/>
                  </a:ext>
                </a:extLst>
              </a:tr>
              <a:tr h="1232821">
                <a:tc>
                  <a:txBody>
                    <a:bodyPr/>
                    <a:lstStyle/>
                    <a:p>
                      <a:pPr marL="0" lvl="0" algn="l">
                        <a:buNone/>
                      </a:pPr>
                      <a:r>
                        <a:rPr lang="en-IN" sz="4000" b="1" kern="1200">
                          <a:solidFill>
                            <a:schemeClr val="accent1"/>
                          </a:solidFill>
                          <a:latin typeface="+mj-lt"/>
                        </a:rPr>
                        <a:t>5</a:t>
                      </a:r>
                    </a:p>
                  </a:txBody>
                  <a:tcPr marL="121920" marR="121920" marT="60959" marB="60959" anchor="ctr">
                    <a:lnL w="0">
                      <a:noFill/>
                    </a:lnL>
                    <a:lnR w="0">
                      <a:noFill/>
                    </a:lnR>
                    <a:lnT w="38099" cap="flat" cmpd="sng" algn="ctr">
                      <a:solidFill>
                        <a:schemeClr val="accent2"/>
                      </a:solidFill>
                      <a:prstDash val="solid"/>
                      <a:round/>
                      <a:headEnd type="none" w="med" len="med"/>
                      <a:tailEnd type="none" w="med" len="med"/>
                    </a:lnT>
                    <a:lnB w="38099">
                      <a:solidFill>
                        <a:schemeClr val="accent2"/>
                      </a:solidFill>
                    </a:lnB>
                    <a:lnTlToBr w="0">
                      <a:noFill/>
                    </a:lnTlToBr>
                    <a:lnBlToTr w="0">
                      <a:noFill/>
                    </a:lnBlToTr>
                  </a:tcPr>
                </a:tc>
                <a:tc>
                  <a:txBody>
                    <a:bodyPr/>
                    <a:lstStyle/>
                    <a:p>
                      <a:pPr lvl="0">
                        <a:buNone/>
                      </a:pPr>
                      <a:r>
                        <a:rPr lang="en-US" sz="2000" dirty="0">
                          <a:ea typeface="Tahoma"/>
                          <a:cs typeface="Tahoma"/>
                        </a:rPr>
                        <a:t>COSYS+ TLS Security Complia</a:t>
                      </a:r>
                      <a:r>
                        <a:rPr lang="en-US" sz="2000">
                          <a:ea typeface="Tahoma"/>
                          <a:cs typeface="Tahoma"/>
                        </a:rPr>
                        <a:t>nce</a:t>
                      </a:r>
                      <a:endParaRPr lang="en-US" sz="2000" dirty="0"/>
                    </a:p>
                  </a:txBody>
                  <a:tcPr marL="121920" marR="121920" marT="60959" marB="60959" anchor="ctr">
                    <a:lnL w="0">
                      <a:noFill/>
                    </a:lnL>
                    <a:lnR w="0">
                      <a:noFill/>
                    </a:lnR>
                    <a:lnT w="38099" cap="flat" cmpd="sng" algn="ctr">
                      <a:solidFill>
                        <a:schemeClr val="accent2"/>
                      </a:solidFill>
                      <a:prstDash val="solid"/>
                      <a:round/>
                      <a:headEnd type="none" w="med" len="med"/>
                      <a:tailEnd type="none" w="med" len="med"/>
                    </a:lnT>
                    <a:lnB w="38099">
                      <a:solidFill>
                        <a:schemeClr val="accent2"/>
                      </a:solidFill>
                    </a:lnB>
                    <a:lnTlToBr w="0">
                      <a:noFill/>
                    </a:lnTlToBr>
                    <a:lnBlToTr w="0">
                      <a:noFill/>
                    </a:lnBlToTr>
                  </a:tcPr>
                </a:tc>
                <a:extLst>
                  <a:ext uri="{0D108BD9-81ED-4DB2-BD59-A6C34878D82A}">
                    <a16:rowId xmlns:a16="http://schemas.microsoft.com/office/drawing/2014/main" val="124613561"/>
                  </a:ext>
                </a:extLst>
              </a:tr>
              <a:tr h="1322481">
                <a:tc>
                  <a:txBody>
                    <a:bodyPr/>
                    <a:lstStyle/>
                    <a:p>
                      <a:pPr marL="0" lvl="0" indent="0" algn="l" defTabSz="1219170">
                        <a:lnSpc>
                          <a:spcPct val="100000"/>
                        </a:lnSpc>
                        <a:spcBef>
                          <a:spcPts val="0"/>
                        </a:spcBef>
                        <a:spcAft>
                          <a:spcPts val="0"/>
                        </a:spcAft>
                        <a:buNone/>
                        <a:tabLst/>
                        <a:defRPr/>
                      </a:pPr>
                      <a:r>
                        <a:rPr lang="en-IN" sz="4400" b="1" i="0" u="none" strike="noStrike" kern="1200" cap="none" spc="0" normalizeH="0" baseline="0" noProof="0">
                          <a:ln>
                            <a:noFill/>
                          </a:ln>
                          <a:solidFill>
                            <a:srgbClr val="082340"/>
                          </a:solidFill>
                          <a:effectLst/>
                          <a:uLnTx/>
                          <a:uFillTx/>
                          <a:latin typeface="Tahoma"/>
                          <a:ea typeface="+mn-ea"/>
                          <a:cs typeface="+mn-cs"/>
                        </a:rPr>
                        <a:t>6</a:t>
                      </a:r>
                      <a:endParaRPr kumimoji="0" lang="en-IN" sz="4400" b="1" i="0" u="none" strike="noStrike" kern="1200" cap="none" spc="0" normalizeH="0" baseline="0" noProof="0">
                        <a:ln>
                          <a:noFill/>
                        </a:ln>
                        <a:solidFill>
                          <a:srgbClr val="082340"/>
                        </a:solidFill>
                        <a:effectLst/>
                        <a:uLnTx/>
                        <a:uFillTx/>
                        <a:latin typeface="Tahoma"/>
                        <a:ea typeface="+mn-ea"/>
                        <a:cs typeface="+mn-cs"/>
                      </a:endParaRPr>
                    </a:p>
                  </a:txBody>
                  <a:tcPr marL="121920" marR="121920" marT="60959" marB="60959" anchor="ctr">
                    <a:lnL w="0">
                      <a:noFill/>
                    </a:lnL>
                    <a:lnR w="0">
                      <a:noFill/>
                    </a:lnR>
                    <a:lnT w="38099">
                      <a:solidFill>
                        <a:schemeClr val="accent2"/>
                      </a:solidFill>
                    </a:lnT>
                    <a:lnB w="38099">
                      <a:solidFill>
                        <a:schemeClr val="accent2"/>
                      </a:solidFill>
                    </a:lnB>
                    <a:lnTlToBr w="0">
                      <a:noFill/>
                    </a:lnTlToBr>
                    <a:lnBlToTr w="0">
                      <a:noFill/>
                    </a:lnBlToTr>
                  </a:tcPr>
                </a:tc>
                <a:tc>
                  <a:txBody>
                    <a:bodyPr/>
                    <a:lstStyle/>
                    <a:p>
                      <a:pPr lvl="0" algn="l">
                        <a:lnSpc>
                          <a:spcPct val="100000"/>
                        </a:lnSpc>
                        <a:spcBef>
                          <a:spcPts val="0"/>
                        </a:spcBef>
                        <a:spcAft>
                          <a:spcPts val="0"/>
                        </a:spcAft>
                        <a:buNone/>
                      </a:pPr>
                      <a:r>
                        <a:rPr lang="en-SG" sz="2000" b="0" i="0" u="none" strike="noStrike" kern="1200" baseline="0" noProof="0">
                          <a:solidFill>
                            <a:srgbClr val="505050"/>
                          </a:solidFill>
                          <a:latin typeface="Tahoma"/>
                          <a:ea typeface="Tahoma"/>
                          <a:cs typeface="Tahoma"/>
                        </a:rPr>
                        <a:t>Azure Service(s) Retirement</a:t>
                      </a:r>
                      <a:endParaRPr lang="en-US" sz="2000"/>
                    </a:p>
                  </a:txBody>
                  <a:tcPr marL="121920" marR="121920" marT="60959" marB="60959" anchor="ctr">
                    <a:lnL w="0">
                      <a:noFill/>
                    </a:lnL>
                    <a:lnR w="0">
                      <a:noFill/>
                    </a:lnR>
                    <a:lnT w="38099">
                      <a:solidFill>
                        <a:schemeClr val="accent2"/>
                      </a:solidFill>
                    </a:lnT>
                    <a:lnB w="38099">
                      <a:solidFill>
                        <a:schemeClr val="accent2"/>
                      </a:solidFill>
                    </a:lnB>
                    <a:lnTlToBr w="0">
                      <a:noFill/>
                    </a:lnTlToBr>
                    <a:lnBlToTr w="0">
                      <a:noFill/>
                    </a:lnBlToTr>
                  </a:tcPr>
                </a:tc>
                <a:extLst>
                  <a:ext uri="{0D108BD9-81ED-4DB2-BD59-A6C34878D82A}">
                    <a16:rowId xmlns:a16="http://schemas.microsoft.com/office/drawing/2014/main" val="1336894607"/>
                  </a:ext>
                </a:extLst>
              </a:tr>
            </a:tbl>
          </a:graphicData>
        </a:graphic>
      </p:graphicFrame>
    </p:spTree>
    <p:extLst>
      <p:ext uri="{BB962C8B-B14F-4D97-AF65-F5344CB8AC3E}">
        <p14:creationId xmlns:p14="http://schemas.microsoft.com/office/powerpoint/2010/main" val="3055989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6573F4-7B5B-C916-3431-214579A3E0F0}"/>
              </a:ext>
            </a:extLst>
          </p:cNvPr>
          <p:cNvSpPr>
            <a:spLocks noGrp="1"/>
          </p:cNvSpPr>
          <p:nvPr>
            <p:ph type="title"/>
          </p:nvPr>
        </p:nvSpPr>
        <p:spPr/>
        <p:txBody>
          <a:bodyPr/>
          <a:lstStyle/>
          <a:p>
            <a:r>
              <a:rPr lang="en-US" sz="4400">
                <a:solidFill>
                  <a:schemeClr val="tx1"/>
                </a:solidFill>
              </a:rPr>
              <a:t>Operational Summary</a:t>
            </a:r>
            <a:endParaRPr lang="en-IN" sz="4400"/>
          </a:p>
        </p:txBody>
      </p:sp>
      <p:sp>
        <p:nvSpPr>
          <p:cNvPr id="2" name="TextBox 1">
            <a:extLst>
              <a:ext uri="{FF2B5EF4-FFF2-40B4-BE49-F238E27FC236}">
                <a16:creationId xmlns:a16="http://schemas.microsoft.com/office/drawing/2014/main" id="{07E3DD20-BDF1-38BE-E111-01060DE3B3BB}"/>
              </a:ext>
            </a:extLst>
          </p:cNvPr>
          <p:cNvSpPr txBox="1"/>
          <p:nvPr/>
        </p:nvSpPr>
        <p:spPr>
          <a:xfrm>
            <a:off x="270825" y="1325579"/>
            <a:ext cx="15499922" cy="5940088"/>
          </a:xfrm>
          <a:prstGeom prst="rect">
            <a:avLst/>
          </a:prstGeom>
          <a:noFill/>
          <a:ln w="12700" cmpd="dbl">
            <a:solidFill>
              <a:schemeClr val="tx1"/>
            </a:solidFill>
          </a:ln>
        </p:spPr>
        <p:txBody>
          <a:bodyPr wrap="square" lIns="91440" tIns="45720" rIns="91440" bIns="45720" rtlCol="0" anchor="t">
            <a:spAutoFit/>
          </a:bodyPr>
          <a:lstStyle/>
          <a:p>
            <a:r>
              <a:rPr lang="en-US" sz="2000" b="1" u="sng" dirty="0">
                <a:latin typeface="Tahoma"/>
                <a:ea typeface="Tahoma"/>
                <a:cs typeface="Tahoma"/>
              </a:rPr>
              <a:t>Update Summary from past couple of Months – </a:t>
            </a:r>
          </a:p>
          <a:p>
            <a:pPr lvl="0"/>
            <a:r>
              <a:rPr lang="en-US" sz="2000" b="1" dirty="0">
                <a:latin typeface="Tahoma"/>
                <a:ea typeface="Tahoma"/>
                <a:cs typeface="Tahoma"/>
              </a:rPr>
              <a:t> </a:t>
            </a:r>
          </a:p>
          <a:p>
            <a:pPr marL="342900" indent="-342900">
              <a:buFont typeface="Wingdings" panose="05000000000000000000" pitchFamily="2" charset="2"/>
              <a:buChar char="q"/>
            </a:pPr>
            <a:r>
              <a:rPr lang="en-US" sz="2000" b="1" dirty="0">
                <a:latin typeface="Tahoma"/>
                <a:ea typeface="Tahoma"/>
                <a:cs typeface="Tahoma"/>
              </a:rPr>
              <a:t>Manage Engine Plugin Installa</a:t>
            </a:r>
            <a:r>
              <a:rPr lang="en-US" sz="2000" b="1">
                <a:latin typeface="Tahoma"/>
                <a:ea typeface="Tahoma"/>
                <a:cs typeface="Tahoma"/>
              </a:rPr>
              <a:t>tion in COSYS+ Environment:</a:t>
            </a:r>
          </a:p>
          <a:p>
            <a:pPr marL="800100" lvl="1" indent="-342900">
              <a:buFont typeface="Arial" panose="05000000000000000000" pitchFamily="2" charset="2"/>
              <a:buChar char="•"/>
            </a:pPr>
            <a:r>
              <a:rPr lang="en-US" sz="2000">
                <a:latin typeface="Tahoma"/>
                <a:ea typeface="Tahoma"/>
                <a:cs typeface="Tahoma"/>
              </a:rPr>
              <a:t>JVM Plugin in UAT &amp; PROD </a:t>
            </a:r>
            <a:r>
              <a:rPr lang="en-US" sz="2000" b="1">
                <a:solidFill>
                  <a:srgbClr val="00B050"/>
                </a:solidFill>
                <a:latin typeface="Tahoma"/>
                <a:ea typeface="Tahoma"/>
                <a:cs typeface="Tahoma"/>
              </a:rPr>
              <a:t>– Completed.</a:t>
            </a:r>
            <a:endParaRPr lang="en-US" b="1">
              <a:solidFill>
                <a:srgbClr val="00B050"/>
              </a:solidFill>
              <a:ea typeface="Tahoma"/>
              <a:cs typeface="Tahoma"/>
            </a:endParaRPr>
          </a:p>
          <a:p>
            <a:pPr marL="800100" lvl="1" indent="-342900">
              <a:buFont typeface="Arial" panose="05000000000000000000" pitchFamily="2" charset="2"/>
              <a:buChar char="•"/>
            </a:pPr>
            <a:r>
              <a:rPr lang="en-US" sz="2000">
                <a:latin typeface="Tahoma"/>
                <a:ea typeface="Tahoma"/>
                <a:cs typeface="Tahoma"/>
              </a:rPr>
              <a:t>AMQ Plugin in UAT &amp; PROD </a:t>
            </a:r>
            <a:r>
              <a:rPr lang="en-US" sz="2000" b="1">
                <a:solidFill>
                  <a:srgbClr val="00B050"/>
                </a:solidFill>
                <a:latin typeface="Tahoma"/>
                <a:ea typeface="Tahoma"/>
                <a:cs typeface="Tahoma"/>
              </a:rPr>
              <a:t>– Completed.</a:t>
            </a:r>
            <a:endParaRPr lang="en-US">
              <a:ea typeface="Tahoma"/>
              <a:cs typeface="Tahoma"/>
            </a:endParaRPr>
          </a:p>
          <a:p>
            <a:pPr marL="800100" lvl="1" indent="-342900">
              <a:buFont typeface="Arial" panose="05000000000000000000" pitchFamily="2" charset="2"/>
              <a:buChar char="•"/>
            </a:pPr>
            <a:r>
              <a:rPr lang="en-US" sz="2000">
                <a:latin typeface="Tahoma"/>
                <a:ea typeface="Tahoma"/>
                <a:cs typeface="Tahoma"/>
              </a:rPr>
              <a:t>Artemis AMQ Plugin Test in UAT </a:t>
            </a:r>
            <a:r>
              <a:rPr lang="en-US" sz="2000" b="1">
                <a:solidFill>
                  <a:srgbClr val="00B050"/>
                </a:solidFill>
                <a:latin typeface="Tahoma"/>
                <a:ea typeface="Tahoma"/>
                <a:cs typeface="Tahoma"/>
              </a:rPr>
              <a:t>– </a:t>
            </a:r>
            <a:r>
              <a:rPr lang="en-US" sz="2000" b="1">
                <a:solidFill>
                  <a:srgbClr val="00B050"/>
                </a:solidFill>
                <a:latin typeface="Tahoma"/>
                <a:ea typeface="+mn-lt"/>
                <a:cs typeface="Tahoma"/>
              </a:rPr>
              <a:t>Completed.</a:t>
            </a:r>
            <a:endParaRPr lang="en-US">
              <a:solidFill>
                <a:srgbClr val="505050"/>
              </a:solidFill>
              <a:ea typeface="Tahoma"/>
              <a:cs typeface="Tahoma"/>
            </a:endParaRPr>
          </a:p>
          <a:p>
            <a:pPr lvl="2"/>
            <a:endParaRPr lang="en-US" sz="2000" dirty="0">
              <a:solidFill>
                <a:srgbClr val="505050"/>
              </a:solidFill>
              <a:latin typeface="Tahoma" panose="020B0604030504040204" pitchFamily="34" charset="0"/>
              <a:ea typeface="Tahoma" panose="020B0604030504040204" pitchFamily="34" charset="0"/>
              <a:cs typeface="Tahoma" panose="020B0604030504040204" pitchFamily="34" charset="0"/>
            </a:endParaRPr>
          </a:p>
          <a:p>
            <a:pPr marL="342900" indent="-342900">
              <a:buFont typeface="Wingdings" panose="05000000000000000000" pitchFamily="2" charset="2"/>
              <a:buChar char="q"/>
            </a:pPr>
            <a:r>
              <a:rPr lang="en-US" sz="2000" b="1" dirty="0">
                <a:ea typeface="+mn-lt"/>
                <a:cs typeface="+mn-lt"/>
              </a:rPr>
              <a:t>Transition from </a:t>
            </a:r>
            <a:r>
              <a:rPr lang="en-US" sz="2000" b="1" dirty="0" err="1">
                <a:ea typeface="+mn-lt"/>
                <a:cs typeface="+mn-lt"/>
              </a:rPr>
              <a:t>Opsramp</a:t>
            </a:r>
            <a:r>
              <a:rPr lang="en-US" sz="2000" b="1" dirty="0">
                <a:ea typeface="+mn-lt"/>
                <a:cs typeface="+mn-lt"/>
              </a:rPr>
              <a:t> to ManageEngine – </a:t>
            </a:r>
            <a:r>
              <a:rPr lang="en-US" sz="2000" dirty="0">
                <a:ea typeface="+mn-lt"/>
                <a:cs typeface="+mn-lt"/>
              </a:rPr>
              <a:t>Final cutover for the transition from </a:t>
            </a:r>
            <a:r>
              <a:rPr lang="en-US" sz="2000" dirty="0" err="1">
                <a:ea typeface="+mn-lt"/>
                <a:cs typeface="+mn-lt"/>
              </a:rPr>
              <a:t>OpsRamp</a:t>
            </a:r>
            <a:r>
              <a:rPr lang="en-US" sz="2000" dirty="0">
                <a:ea typeface="+mn-lt"/>
                <a:cs typeface="+mn-lt"/>
              </a:rPr>
              <a:t> to ManageEngine has been completed successfully </a:t>
            </a:r>
            <a:r>
              <a:rPr lang="en-US" sz="2000" b="1" dirty="0">
                <a:solidFill>
                  <a:srgbClr val="00B050"/>
                </a:solidFill>
                <a:ea typeface="+mn-lt"/>
                <a:cs typeface="+mn-lt"/>
              </a:rPr>
              <a:t>– Completed.</a:t>
            </a:r>
          </a:p>
          <a:p>
            <a:pPr marL="800100" lvl="1" indent="-342900">
              <a:buFont typeface="Arial" panose="020B0604020202020204" pitchFamily="34" charset="0"/>
              <a:buChar char="•"/>
            </a:pPr>
            <a:endParaRPr lang="en-US" sz="2000" dirty="0">
              <a:solidFill>
                <a:srgbClr val="00B050"/>
              </a:solidFill>
              <a:latin typeface="Tahoma" panose="020B0604030504040204" pitchFamily="34" charset="0"/>
              <a:ea typeface="Tahoma" panose="020B0604030504040204" pitchFamily="34" charset="0"/>
              <a:cs typeface="Tahoma" panose="020B0604030504040204" pitchFamily="34" charset="0"/>
            </a:endParaRPr>
          </a:p>
          <a:p>
            <a:pPr marL="342900" indent="-342900">
              <a:buFont typeface="Wingdings" panose="020B0604020202020204" pitchFamily="34" charset="0"/>
              <a:buChar char="q"/>
            </a:pPr>
            <a:r>
              <a:rPr lang="en-US" sz="2000" b="1">
                <a:ea typeface="+mn-lt"/>
                <a:cs typeface="+mn-lt"/>
              </a:rPr>
              <a:t>Realignment of resources as per Resource Groups – </a:t>
            </a:r>
            <a:r>
              <a:rPr lang="en-US" sz="2000">
                <a:ea typeface="+mn-lt"/>
                <a:cs typeface="+mn-lt"/>
              </a:rPr>
              <a:t>Cloud-IMS has planned this activity to be executed in multiple phases due to resource movement dependencies. The phased implementation plan will be shared with the SATS team for review and approval </a:t>
            </a:r>
            <a:r>
              <a:rPr lang="en-US" sz="2000" b="1">
                <a:solidFill>
                  <a:schemeClr val="accent2"/>
                </a:solidFill>
                <a:ea typeface="+mn-lt"/>
                <a:cs typeface="+mn-lt"/>
              </a:rPr>
              <a:t>– In-Progress.</a:t>
            </a:r>
          </a:p>
          <a:p>
            <a:pPr marL="342900" indent="-342900">
              <a:buFont typeface="Wingdings" panose="05000000000000000000" pitchFamily="2" charset="2"/>
              <a:buChar char="q"/>
            </a:pPr>
            <a:endParaRPr lang="en-US" sz="2000" b="1" dirty="0">
              <a:solidFill>
                <a:srgbClr val="F15B40"/>
              </a:solidFill>
              <a:latin typeface="Tahoma" panose="020B0604030504040204" pitchFamily="34" charset="0"/>
              <a:ea typeface="Tahoma" panose="020B0604030504040204" pitchFamily="34" charset="0"/>
              <a:cs typeface="Tahoma" panose="020B0604030504040204" pitchFamily="34" charset="0"/>
            </a:endParaRPr>
          </a:p>
          <a:p>
            <a:pPr marL="342900" indent="-342900">
              <a:buFont typeface="Wingdings" panose="05000000000000000000" pitchFamily="2" charset="2"/>
              <a:buChar char="q"/>
            </a:pPr>
            <a:r>
              <a:rPr lang="en-US" sz="2000" b="1">
                <a:ea typeface="+mn-lt"/>
                <a:cs typeface="+mn-lt"/>
              </a:rPr>
              <a:t>Decommission of Non-Production VMs (QA APP1, QA APP5 and UAT APP1) –</a:t>
            </a:r>
            <a:r>
              <a:rPr lang="en-US" sz="2000" b="1" dirty="0">
                <a:solidFill>
                  <a:schemeClr val="accent2"/>
                </a:solidFill>
                <a:ea typeface="+mn-lt"/>
                <a:cs typeface="+mn-lt"/>
              </a:rPr>
              <a:t> </a:t>
            </a:r>
            <a:r>
              <a:rPr lang="en-US" sz="2000">
                <a:ea typeface="+mn-lt"/>
                <a:cs typeface="+mn-lt"/>
              </a:rPr>
              <a:t>As per the application team's request, Cloud-IMS has successfully decommissioned the servers. </a:t>
            </a:r>
            <a:r>
              <a:rPr lang="en-US" sz="2000" b="1">
                <a:solidFill>
                  <a:srgbClr val="00B050"/>
                </a:solidFill>
                <a:ea typeface="+mn-lt"/>
                <a:cs typeface="+mn-lt"/>
              </a:rPr>
              <a:t>– Completed.</a:t>
            </a:r>
          </a:p>
          <a:p>
            <a:pPr marL="342900" indent="-342900">
              <a:buFont typeface="Wingdings" panose="05000000000000000000" pitchFamily="2" charset="2"/>
              <a:buChar char="q"/>
            </a:pPr>
            <a:endParaRPr lang="en-US" sz="2000" b="1" dirty="0">
              <a:solidFill>
                <a:srgbClr val="00B050"/>
              </a:solidFill>
              <a:ea typeface="+mn-lt"/>
              <a:cs typeface="+mn-lt"/>
            </a:endParaRPr>
          </a:p>
          <a:p>
            <a:pPr marL="342900" indent="-342900">
              <a:buFont typeface="Wingdings" panose="05000000000000000000" pitchFamily="2" charset="2"/>
              <a:buChar char="q"/>
            </a:pPr>
            <a:r>
              <a:rPr lang="en-US" sz="2000" b="1">
                <a:ea typeface="+mn-lt"/>
                <a:cs typeface="+mn-lt"/>
              </a:rPr>
              <a:t>COSYS+ WARA Report – </a:t>
            </a:r>
            <a:r>
              <a:rPr lang="en-US" sz="2000">
                <a:ea typeface="+mn-lt"/>
                <a:cs typeface="+mn-lt"/>
              </a:rPr>
              <a:t>Cloud-IMS received the COSYS+ WARA report from the SATS team for recommendation inputs. The required inputs have been successfully added and shared with the SATS team </a:t>
            </a:r>
            <a:r>
              <a:rPr lang="en-US" sz="2000" b="1">
                <a:solidFill>
                  <a:srgbClr val="00B050"/>
                </a:solidFill>
                <a:ea typeface="+mn-lt"/>
                <a:cs typeface="+mn-lt"/>
              </a:rPr>
              <a:t>– Completed.</a:t>
            </a:r>
            <a:endParaRPr lang="en-US" sz="2000" b="1" dirty="0">
              <a:solidFill>
                <a:srgbClr val="00B050"/>
              </a:solidFill>
              <a:ea typeface="+mn-lt"/>
              <a:cs typeface="+mn-lt"/>
            </a:endParaRPr>
          </a:p>
        </p:txBody>
      </p:sp>
    </p:spTree>
    <p:extLst>
      <p:ext uri="{BB962C8B-B14F-4D97-AF65-F5344CB8AC3E}">
        <p14:creationId xmlns:p14="http://schemas.microsoft.com/office/powerpoint/2010/main" val="1537026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3856F-7938-8BDA-DA95-34E44BD9261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93BB950-0789-DD84-AC5C-EF904C58E1B3}"/>
              </a:ext>
            </a:extLst>
          </p:cNvPr>
          <p:cNvSpPr>
            <a:spLocks noGrp="1"/>
          </p:cNvSpPr>
          <p:nvPr>
            <p:ph type="title"/>
          </p:nvPr>
        </p:nvSpPr>
        <p:spPr/>
        <p:txBody>
          <a:bodyPr/>
          <a:lstStyle/>
          <a:p>
            <a:r>
              <a:rPr lang="en-US" sz="4400">
                <a:solidFill>
                  <a:schemeClr val="tx1"/>
                </a:solidFill>
              </a:rPr>
              <a:t>Operational Summary</a:t>
            </a:r>
            <a:endParaRPr lang="en-IN" sz="4400"/>
          </a:p>
        </p:txBody>
      </p:sp>
      <p:sp>
        <p:nvSpPr>
          <p:cNvPr id="2" name="TextBox 1">
            <a:extLst>
              <a:ext uri="{FF2B5EF4-FFF2-40B4-BE49-F238E27FC236}">
                <a16:creationId xmlns:a16="http://schemas.microsoft.com/office/drawing/2014/main" id="{33A75112-904D-2F14-646D-B91A4EAC7DE0}"/>
              </a:ext>
            </a:extLst>
          </p:cNvPr>
          <p:cNvSpPr txBox="1"/>
          <p:nvPr/>
        </p:nvSpPr>
        <p:spPr>
          <a:xfrm>
            <a:off x="270825" y="1296550"/>
            <a:ext cx="15528950" cy="6247864"/>
          </a:xfrm>
          <a:prstGeom prst="rect">
            <a:avLst/>
          </a:prstGeom>
          <a:noFill/>
          <a:ln w="12700" cmpd="dbl">
            <a:solidFill>
              <a:schemeClr val="tx1"/>
            </a:solidFill>
          </a:ln>
        </p:spPr>
        <p:txBody>
          <a:bodyPr wrap="square" lIns="91440" tIns="45720" rIns="91440" bIns="45720" rtlCol="0" anchor="t">
            <a:spAutoFit/>
          </a:bodyPr>
          <a:lstStyle/>
          <a:p>
            <a:endParaRPr lang="en-US" sz="2000" b="1" dirty="0">
              <a:solidFill>
                <a:srgbClr val="505050"/>
              </a:solidFill>
              <a:latin typeface="Tahoma"/>
              <a:ea typeface="Tahoma"/>
              <a:cs typeface="Tahoma"/>
            </a:endParaRPr>
          </a:p>
          <a:p>
            <a:pPr marL="342900" indent="-342900">
              <a:buFont typeface="Wingdings" panose="05000000000000000000" pitchFamily="2" charset="2"/>
              <a:buChar char="q"/>
            </a:pPr>
            <a:r>
              <a:rPr lang="en-US" sz="2000" b="1">
                <a:ea typeface="+mn-lt"/>
                <a:cs typeface="+mn-lt"/>
              </a:rPr>
              <a:t>Enabling Resource Health Alerts for VPN Gateways &amp; its Connections – </a:t>
            </a:r>
            <a:r>
              <a:rPr lang="en-US" sz="2000">
                <a:ea typeface="+mn-lt"/>
                <a:cs typeface="+mn-lt"/>
              </a:rPr>
              <a:t>Based on the discussion in the COSYS+ WARA resiliency improvement meeting with the SATS team, Cloud-IMS have enabled Resource Health Alerts across all VPN Gateways &amp; its Connections is required to strengthen resiliency </a:t>
            </a:r>
            <a:r>
              <a:rPr lang="en-US" sz="2000" b="1" dirty="0">
                <a:solidFill>
                  <a:srgbClr val="00B050"/>
                </a:solidFill>
                <a:ea typeface="+mn-lt"/>
                <a:cs typeface="+mn-lt"/>
              </a:rPr>
              <a:t>– Completed.</a:t>
            </a:r>
          </a:p>
          <a:p>
            <a:pPr marL="342900" indent="-342900">
              <a:buFont typeface="Wingdings" panose="05000000000000000000" pitchFamily="2" charset="2"/>
              <a:buChar char="q"/>
            </a:pPr>
            <a:endParaRPr lang="en-US" sz="2000" b="1" dirty="0">
              <a:solidFill>
                <a:srgbClr val="00B050"/>
              </a:solidFill>
              <a:latin typeface="Tahoma" panose="020B0604030504040204" pitchFamily="34" charset="0"/>
              <a:ea typeface="Tahoma" panose="020B0604030504040204" pitchFamily="34" charset="0"/>
              <a:cs typeface="Tahoma" panose="020B0604030504040204" pitchFamily="34" charset="0"/>
            </a:endParaRPr>
          </a:p>
          <a:p>
            <a:pPr marL="342900" indent="-342900">
              <a:buFont typeface="Wingdings" panose="05000000000000000000" pitchFamily="2" charset="2"/>
              <a:buChar char="q"/>
            </a:pPr>
            <a:r>
              <a:rPr lang="en-US" sz="2000" b="1">
                <a:ea typeface="+mn-lt"/>
                <a:cs typeface="+mn-lt"/>
              </a:rPr>
              <a:t>Enabling Service Health Alerts for all COSYS+ resources – </a:t>
            </a:r>
            <a:r>
              <a:rPr lang="en-US" sz="2000">
                <a:ea typeface="+mn-lt"/>
                <a:cs typeface="+mn-lt"/>
              </a:rPr>
              <a:t>Based on the discussion in the COSYS+ WARA resiliency improvement meeting with the SATS team, Cloud-IMS have enabled Service Health Alerts across all Azure services is required to strengthen resiliency </a:t>
            </a:r>
            <a:r>
              <a:rPr lang="en-US" sz="2000" b="1">
                <a:solidFill>
                  <a:srgbClr val="00B050"/>
                </a:solidFill>
                <a:ea typeface="+mn-lt"/>
                <a:cs typeface="+mn-lt"/>
              </a:rPr>
              <a:t>– Completed.</a:t>
            </a:r>
          </a:p>
          <a:p>
            <a:pPr marL="800100" lvl="1" indent="-342900">
              <a:buFont typeface="Arial" panose="020B0604020202020204" pitchFamily="34" charset="0"/>
              <a:buChar char="•"/>
            </a:pPr>
            <a:endParaRPr lang="en-US" sz="2000" dirty="0">
              <a:solidFill>
                <a:srgbClr val="00B050"/>
              </a:solidFill>
              <a:latin typeface="Tahoma" panose="020B0604030504040204" pitchFamily="34" charset="0"/>
              <a:ea typeface="Tahoma" panose="020B0604030504040204" pitchFamily="34" charset="0"/>
              <a:cs typeface="Tahoma" panose="020B0604030504040204" pitchFamily="34" charset="0"/>
            </a:endParaRPr>
          </a:p>
          <a:p>
            <a:pPr marL="342900" indent="-342900">
              <a:buFont typeface="Wingdings" panose="020B0604020202020204" pitchFamily="34" charset="0"/>
              <a:buChar char="q"/>
            </a:pPr>
            <a:r>
              <a:rPr lang="en-US" sz="2000" b="1">
                <a:ea typeface="+mn-lt"/>
                <a:cs typeface="+mn-lt"/>
              </a:rPr>
              <a:t>Provisioning of S2S connectivity between COSYS+ PROD to AISATS DXN PROD – </a:t>
            </a:r>
            <a:r>
              <a:rPr lang="en-US" sz="2000">
                <a:ea typeface="+mn-lt"/>
                <a:cs typeface="+mn-lt"/>
              </a:rPr>
              <a:t>Cloud-IMS has successfully provisioned the backup S2S tunnel for DXN-PROD </a:t>
            </a:r>
            <a:r>
              <a:rPr lang="en-US" sz="2000" b="1">
                <a:solidFill>
                  <a:srgbClr val="00B050"/>
                </a:solidFill>
                <a:ea typeface="+mn-lt"/>
                <a:cs typeface="+mn-lt"/>
              </a:rPr>
              <a:t>– Completed.</a:t>
            </a:r>
          </a:p>
          <a:p>
            <a:pPr marL="800100" lvl="1" indent="-342900">
              <a:buFont typeface="Arial"/>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342900" indent="-342900" algn="just">
              <a:buFont typeface="Wingdings" panose="05000000000000000000" pitchFamily="2" charset="2"/>
              <a:buChar char="q"/>
            </a:pPr>
            <a:r>
              <a:rPr lang="en-US" sz="2000" b="1">
                <a:ea typeface="+mn-lt"/>
                <a:cs typeface="+mn-lt"/>
              </a:rPr>
              <a:t>Restriction of direct LB Access for COSYS+ AISATS (All tenants) &amp; Saudi (All tenants) – </a:t>
            </a:r>
            <a:r>
              <a:rPr lang="en-US" sz="2000">
                <a:ea typeface="+mn-lt"/>
                <a:cs typeface="+mn-lt"/>
              </a:rPr>
              <a:t>Cloud-IMS has completed the activity in the UAT environment. For PROD, few changes have been made in the WAF exception list and gateway as few users were reporting issues in accessing the FQDN URLs. Further, the PROD rollout will be planned in a progressive phased manner </a:t>
            </a:r>
            <a:r>
              <a:rPr lang="en-US" sz="2000" b="1">
                <a:solidFill>
                  <a:schemeClr val="accent2"/>
                </a:solidFill>
                <a:ea typeface="+mn-lt"/>
                <a:cs typeface="+mn-lt"/>
              </a:rPr>
              <a:t>– In-Progress.</a:t>
            </a:r>
            <a:endParaRPr lang="en-US" sz="2000" b="1" dirty="0">
              <a:solidFill>
                <a:schemeClr val="accent2"/>
              </a:solidFill>
              <a:ea typeface="+mn-lt"/>
              <a:cs typeface="+mn-lt"/>
            </a:endParaRPr>
          </a:p>
          <a:p>
            <a:pPr marL="342900" indent="-342900" algn="just">
              <a:buFont typeface="Wingdings" panose="05000000000000000000" pitchFamily="2" charset="2"/>
              <a:buChar char="q"/>
            </a:pPr>
            <a:endParaRPr lang="en-US" sz="2000" b="1" dirty="0">
              <a:solidFill>
                <a:srgbClr val="505050"/>
              </a:solidFill>
              <a:latin typeface="Tahoma"/>
              <a:ea typeface="+mn-lt"/>
              <a:cs typeface="Tahoma"/>
            </a:endParaRPr>
          </a:p>
          <a:p>
            <a:pPr marL="342900" indent="-342900" algn="just">
              <a:buFont typeface="Wingdings" panose="05000000000000000000" pitchFamily="2" charset="2"/>
              <a:buChar char="q"/>
            </a:pPr>
            <a:r>
              <a:rPr lang="en-US" sz="2000" b="1" dirty="0">
                <a:solidFill>
                  <a:srgbClr val="505050"/>
                </a:solidFill>
                <a:ea typeface="+mn-lt"/>
                <a:cs typeface="+mn-lt"/>
              </a:rPr>
              <a:t>Linux OS Patching for Vulnerability Remediation – </a:t>
            </a:r>
            <a:r>
              <a:rPr lang="en-US" sz="2000" dirty="0">
                <a:solidFill>
                  <a:srgbClr val="505050"/>
                </a:solidFill>
                <a:ea typeface="+mn-lt"/>
                <a:cs typeface="+mn-lt"/>
              </a:rPr>
              <a:t>Cloud-IMS has successfully completed the patching activity to remediate the vulnerability CVE-2026-31431 (Copy Fail). Additionally, based on the findings shared by the SATS Cybersecurity team, the vulnerability CVE-2026-43284 (</a:t>
            </a:r>
            <a:r>
              <a:rPr lang="en-US" sz="2000" dirty="0" err="1">
                <a:solidFill>
                  <a:srgbClr val="505050"/>
                </a:solidFill>
                <a:ea typeface="+mn-lt"/>
                <a:cs typeface="+mn-lt"/>
              </a:rPr>
              <a:t>DirtyFrag</a:t>
            </a:r>
            <a:r>
              <a:rPr lang="en-US" sz="2000" dirty="0">
                <a:solidFill>
                  <a:srgbClr val="505050"/>
                </a:solidFill>
                <a:ea typeface="+mn-lt"/>
                <a:cs typeface="+mn-lt"/>
              </a:rPr>
              <a:t>) was identified and successfully patched by Cloud-IMS </a:t>
            </a:r>
            <a:r>
              <a:rPr lang="en-US" sz="2000" b="1" dirty="0">
                <a:solidFill>
                  <a:srgbClr val="00B050"/>
                </a:solidFill>
                <a:ea typeface="+mn-lt"/>
                <a:cs typeface="+mn-lt"/>
              </a:rPr>
              <a:t>– Completed.</a:t>
            </a:r>
            <a:endParaRPr lang="en-US" sz="2000" b="1" dirty="0">
              <a:solidFill>
                <a:srgbClr val="00B050"/>
              </a:solidFill>
              <a:latin typeface="Tahoma"/>
              <a:ea typeface="+mn-lt"/>
              <a:cs typeface="Tahoma"/>
            </a:endParaRPr>
          </a:p>
        </p:txBody>
      </p:sp>
    </p:spTree>
    <p:extLst>
      <p:ext uri="{BB962C8B-B14F-4D97-AF65-F5344CB8AC3E}">
        <p14:creationId xmlns:p14="http://schemas.microsoft.com/office/powerpoint/2010/main" val="288503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172F7-E00B-0A27-E513-4F21BB08FA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EC8F382-B526-34DA-7E9E-065B216F3698}"/>
              </a:ext>
            </a:extLst>
          </p:cNvPr>
          <p:cNvSpPr>
            <a:spLocks noGrp="1"/>
          </p:cNvSpPr>
          <p:nvPr>
            <p:ph type="title"/>
          </p:nvPr>
        </p:nvSpPr>
        <p:spPr/>
        <p:txBody>
          <a:bodyPr/>
          <a:lstStyle/>
          <a:p>
            <a:r>
              <a:rPr lang="en-US" sz="4400">
                <a:solidFill>
                  <a:schemeClr val="tx1"/>
                </a:solidFill>
              </a:rPr>
              <a:t>Operational Summary</a:t>
            </a:r>
            <a:endParaRPr lang="en-IN" sz="4400"/>
          </a:p>
        </p:txBody>
      </p:sp>
      <p:sp>
        <p:nvSpPr>
          <p:cNvPr id="2" name="TextBox 1">
            <a:extLst>
              <a:ext uri="{FF2B5EF4-FFF2-40B4-BE49-F238E27FC236}">
                <a16:creationId xmlns:a16="http://schemas.microsoft.com/office/drawing/2014/main" id="{6ED91CF7-7430-863F-4911-E2195C1BAE05}"/>
              </a:ext>
            </a:extLst>
          </p:cNvPr>
          <p:cNvSpPr txBox="1"/>
          <p:nvPr/>
        </p:nvSpPr>
        <p:spPr>
          <a:xfrm rot="-10800000" flipV="1">
            <a:off x="256311" y="1337625"/>
            <a:ext cx="15499922" cy="4985980"/>
          </a:xfrm>
          <a:prstGeom prst="rect">
            <a:avLst/>
          </a:prstGeom>
          <a:noFill/>
          <a:ln w="12700" cmpd="dbl">
            <a:solidFill>
              <a:schemeClr val="tx1"/>
            </a:solidFill>
          </a:ln>
        </p:spPr>
        <p:txBody>
          <a:bodyPr wrap="square" lIns="91440" tIns="45720" rIns="91440" bIns="45720" rtlCol="0" anchor="t">
            <a:spAutoFit/>
          </a:bodyPr>
          <a:lstStyle/>
          <a:p>
            <a:pPr marL="342900" indent="-342900">
              <a:buFont typeface="Wingdings"/>
              <a:buChar char="q"/>
            </a:pPr>
            <a:r>
              <a:rPr lang="en-US" sz="2000" b="1">
                <a:solidFill>
                  <a:srgbClr val="505050"/>
                </a:solidFill>
                <a:ea typeface="+mn-lt"/>
                <a:cs typeface="+mn-lt"/>
              </a:rPr>
              <a:t>Enhancement</a:t>
            </a:r>
            <a:r>
              <a:rPr lang="en-US" sz="2000" b="1">
                <a:ea typeface="+mn-lt"/>
                <a:cs typeface="+mn-lt"/>
              </a:rPr>
              <a:t> of Printer &amp; JVM Plugins in Manage Engine – </a:t>
            </a:r>
            <a:r>
              <a:rPr lang="en-US" sz="2000">
                <a:ea typeface="+mn-lt"/>
                <a:cs typeface="+mn-lt"/>
              </a:rPr>
              <a:t>Cloud-IMS has successfully updated the Printer and JVM plugins across all applicable COSYS+ servers, resulting in improved alert monitoring efficiency</a:t>
            </a:r>
            <a:r>
              <a:rPr lang="en-US" sz="2000" dirty="0">
                <a:solidFill>
                  <a:srgbClr val="505050"/>
                </a:solidFill>
                <a:ea typeface="+mn-lt"/>
                <a:cs typeface="+mn-lt"/>
              </a:rPr>
              <a:t> </a:t>
            </a:r>
            <a:r>
              <a:rPr lang="en-US" sz="2000" b="1">
                <a:solidFill>
                  <a:srgbClr val="00B050"/>
                </a:solidFill>
                <a:ea typeface="+mn-lt"/>
                <a:cs typeface="+mn-lt"/>
              </a:rPr>
              <a:t>– Completed.</a:t>
            </a:r>
            <a:endParaRPr lang="en-US">
              <a:solidFill>
                <a:srgbClr val="505050"/>
              </a:solidFill>
              <a:ea typeface="Tahoma"/>
              <a:cs typeface="Tahoma"/>
            </a:endParaRPr>
          </a:p>
          <a:p>
            <a:pPr marL="342900" indent="-342900">
              <a:buFont typeface="Wingdings" panose="05000000000000000000" pitchFamily="2" charset="2"/>
              <a:buChar char="q"/>
            </a:pPr>
            <a:endParaRPr lang="en-US" sz="2000" b="1" dirty="0">
              <a:solidFill>
                <a:srgbClr val="00B050"/>
              </a:solidFill>
              <a:latin typeface="Tahoma" panose="020B0604030504040204" pitchFamily="34" charset="0"/>
              <a:ea typeface="Tahoma" panose="020B0604030504040204" pitchFamily="34" charset="0"/>
              <a:cs typeface="Tahoma" panose="020B0604030504040204" pitchFamily="34" charset="0"/>
            </a:endParaRPr>
          </a:p>
          <a:p>
            <a:pPr marL="342900" indent="-342900">
              <a:buFont typeface="Wingdings" panose="05000000000000000000" pitchFamily="2" charset="2"/>
              <a:buChar char="q"/>
            </a:pPr>
            <a:r>
              <a:rPr lang="en-US" sz="2000" b="1">
                <a:ea typeface="+mn-lt"/>
                <a:cs typeface="+mn-lt"/>
              </a:rPr>
              <a:t>Onboarding of New Tenant GTR-MY: </a:t>
            </a:r>
          </a:p>
          <a:p>
            <a:pPr marL="800100" lvl="1" indent="-342900">
              <a:buFont typeface="Courier New" panose="05000000000000000000" pitchFamily="2" charset="2"/>
              <a:buChar char="o"/>
            </a:pPr>
            <a:r>
              <a:rPr lang="en-US" sz="2000" b="1">
                <a:ea typeface="+mn-lt"/>
                <a:cs typeface="+mn-lt"/>
              </a:rPr>
              <a:t>NON-PROD Environment: </a:t>
            </a:r>
            <a:endParaRPr lang="en-US">
              <a:ea typeface="Tahoma"/>
              <a:cs typeface="Tahoma"/>
            </a:endParaRPr>
          </a:p>
          <a:p>
            <a:pPr marL="1257300" lvl="2" indent="-342900">
              <a:buFont typeface="Arial" panose="05000000000000000000" pitchFamily="2" charset="2"/>
              <a:buChar char="•"/>
            </a:pPr>
            <a:r>
              <a:rPr lang="en-US" sz="2000">
                <a:ea typeface="+mn-lt"/>
                <a:cs typeface="+mn-lt"/>
              </a:rPr>
              <a:t>Cloud-IMS has successfully created the Site-to-Site tunnels for GTR MY </a:t>
            </a:r>
            <a:r>
              <a:rPr lang="en-US" sz="2000" b="1">
                <a:solidFill>
                  <a:srgbClr val="00B050"/>
                </a:solidFill>
                <a:ea typeface="+mn-lt"/>
                <a:cs typeface="+mn-lt"/>
              </a:rPr>
              <a:t>– Completed.</a:t>
            </a:r>
            <a:endParaRPr lang="en-US" sz="2000" b="1">
              <a:solidFill>
                <a:srgbClr val="00B050"/>
              </a:solidFill>
              <a:ea typeface="Tahoma"/>
              <a:cs typeface="Tahoma"/>
            </a:endParaRPr>
          </a:p>
          <a:p>
            <a:pPr marL="1257300" lvl="2" indent="-342900">
              <a:buFont typeface="Arial" panose="05000000000000000000" pitchFamily="2" charset="2"/>
              <a:buChar char="•"/>
            </a:pPr>
            <a:r>
              <a:rPr lang="en-US" sz="2000">
                <a:ea typeface="+mn-lt"/>
                <a:cs typeface="+mn-lt"/>
              </a:rPr>
              <a:t>Two VMs (ESB &amp; SITA) have also been provisioned successfully </a:t>
            </a:r>
            <a:r>
              <a:rPr lang="en-US" sz="2000" b="1">
                <a:solidFill>
                  <a:srgbClr val="00B050"/>
                </a:solidFill>
                <a:ea typeface="+mn-lt"/>
                <a:cs typeface="+mn-lt"/>
              </a:rPr>
              <a:t>– Completed.</a:t>
            </a:r>
            <a:endParaRPr lang="en-US" sz="2000">
              <a:ea typeface="Tahoma"/>
              <a:cs typeface="Tahoma"/>
            </a:endParaRPr>
          </a:p>
          <a:p>
            <a:pPr marL="1257300" lvl="2" indent="-342900">
              <a:buFont typeface="Arial" panose="05000000000000000000" pitchFamily="2" charset="2"/>
              <a:buChar char="•"/>
            </a:pPr>
            <a:r>
              <a:rPr lang="en-US" sz="2000">
                <a:ea typeface="+mn-lt"/>
                <a:cs typeface="+mn-lt"/>
              </a:rPr>
              <a:t>Cloud-IMS has successfully configured the Load Balancer for NON-PROD environment </a:t>
            </a:r>
            <a:r>
              <a:rPr lang="en-US" sz="2000" b="1">
                <a:solidFill>
                  <a:srgbClr val="00B050"/>
                </a:solidFill>
                <a:ea typeface="+mn-lt"/>
                <a:cs typeface="+mn-lt"/>
              </a:rPr>
              <a:t>– Completed.</a:t>
            </a:r>
            <a:endParaRPr lang="en-US" sz="2000">
              <a:ea typeface="Tahoma"/>
              <a:cs typeface="Tahoma"/>
            </a:endParaRPr>
          </a:p>
          <a:p>
            <a:pPr marL="1257300" lvl="2" indent="-342900">
              <a:buFont typeface="Arial" panose="05000000000000000000" pitchFamily="2" charset="2"/>
              <a:buChar char="•"/>
            </a:pPr>
            <a:r>
              <a:rPr lang="en-US" sz="2000">
                <a:ea typeface="+mn-lt"/>
                <a:cs typeface="+mn-lt"/>
              </a:rPr>
              <a:t>Cloud-IMS have successfully configured FQDNs for accessing NON-PROD (STG &amp; UAT) environments </a:t>
            </a:r>
            <a:r>
              <a:rPr lang="en-US" sz="2000" b="1">
                <a:solidFill>
                  <a:srgbClr val="00B050"/>
                </a:solidFill>
                <a:ea typeface="+mn-lt"/>
                <a:cs typeface="+mn-lt"/>
              </a:rPr>
              <a:t>– Completed.</a:t>
            </a:r>
            <a:endParaRPr lang="en-US">
              <a:ea typeface="Tahoma"/>
              <a:cs typeface="Tahoma"/>
            </a:endParaRPr>
          </a:p>
          <a:p>
            <a:pPr marL="342900" indent="-342900">
              <a:buFont typeface="Wingdings" panose="05000000000000000000" pitchFamily="2" charset="2"/>
              <a:buChar char="q"/>
            </a:pPr>
            <a:endParaRPr lang="en-US" dirty="0">
              <a:ea typeface="Tahoma"/>
              <a:cs typeface="Tahoma"/>
            </a:endParaRPr>
          </a:p>
          <a:p>
            <a:pPr marL="800100" lvl="1" indent="-342900">
              <a:buFont typeface="Courier New" panose="05000000000000000000" pitchFamily="2" charset="2"/>
              <a:buChar char="o"/>
            </a:pPr>
            <a:r>
              <a:rPr lang="en-US" sz="2000" b="1">
                <a:ea typeface="+mn-lt"/>
                <a:cs typeface="+mn-lt"/>
              </a:rPr>
              <a:t>PROD Environment:</a:t>
            </a:r>
            <a:endParaRPr lang="en-US">
              <a:ea typeface="Tahoma"/>
              <a:cs typeface="Tahoma"/>
            </a:endParaRPr>
          </a:p>
          <a:p>
            <a:pPr marL="1257300" lvl="2" indent="-342900">
              <a:buFont typeface="Arial" panose="05000000000000000000" pitchFamily="2" charset="2"/>
              <a:buChar char="•"/>
            </a:pPr>
            <a:r>
              <a:rPr lang="en-US" sz="2000">
                <a:ea typeface="+mn-lt"/>
                <a:cs typeface="+mn-lt"/>
              </a:rPr>
              <a:t>Cloud-IMS has successfully created the Site-to-Site tunnels for GTR MY </a:t>
            </a:r>
            <a:r>
              <a:rPr lang="en-US" sz="2000" b="1">
                <a:solidFill>
                  <a:srgbClr val="00B050"/>
                </a:solidFill>
                <a:ea typeface="+mn-lt"/>
                <a:cs typeface="+mn-lt"/>
              </a:rPr>
              <a:t>– Completed.</a:t>
            </a:r>
            <a:endParaRPr lang="en-US" sz="2000">
              <a:ea typeface="Tahoma"/>
              <a:cs typeface="Tahoma"/>
            </a:endParaRPr>
          </a:p>
          <a:p>
            <a:pPr marL="1257300" lvl="2" indent="-342900">
              <a:buFont typeface="Arial" panose="05000000000000000000" pitchFamily="2" charset="2"/>
              <a:buChar char="•"/>
            </a:pPr>
            <a:r>
              <a:rPr lang="en-US" sz="2000">
                <a:ea typeface="+mn-lt"/>
                <a:cs typeface="+mn-lt"/>
              </a:rPr>
              <a:t>Cloud-IMS have successfully configured FQDNs for accessing PROD environment </a:t>
            </a:r>
            <a:r>
              <a:rPr lang="en-US" sz="2000" b="1">
                <a:solidFill>
                  <a:srgbClr val="00B050"/>
                </a:solidFill>
                <a:ea typeface="+mn-lt"/>
                <a:cs typeface="+mn-lt"/>
              </a:rPr>
              <a:t>– Completed.</a:t>
            </a:r>
            <a:endParaRPr lang="en-US" sz="2000">
              <a:ea typeface="Tahoma"/>
              <a:cs typeface="Tahoma"/>
            </a:endParaRPr>
          </a:p>
          <a:p>
            <a:pPr marL="1257300" lvl="2" indent="-342900">
              <a:buFont typeface="Arial" panose="05000000000000000000" pitchFamily="2" charset="2"/>
              <a:buChar char="•"/>
            </a:pPr>
            <a:r>
              <a:rPr lang="en-US" sz="2000">
                <a:ea typeface="+mn-lt"/>
                <a:cs typeface="+mn-lt"/>
              </a:rPr>
              <a:t>Provisioning of SQL database </a:t>
            </a:r>
            <a:r>
              <a:rPr lang="en-US" sz="2000" b="1">
                <a:solidFill>
                  <a:srgbClr val="00B050"/>
                </a:solidFill>
                <a:ea typeface="+mn-lt"/>
                <a:cs typeface="+mn-lt"/>
              </a:rPr>
              <a:t>– Completed.</a:t>
            </a:r>
            <a:endParaRPr lang="en-US" sz="2000" b="1">
              <a:solidFill>
                <a:srgbClr val="00B050"/>
              </a:solidFill>
              <a:ea typeface="Tahoma"/>
              <a:cs typeface="Tahoma"/>
            </a:endParaRPr>
          </a:p>
          <a:p>
            <a:pPr marL="1257300" lvl="2" indent="-342900">
              <a:buFont typeface="Arial" panose="05000000000000000000" pitchFamily="2" charset="2"/>
              <a:buChar char="•"/>
            </a:pPr>
            <a:r>
              <a:rPr lang="en-US" sz="2000">
                <a:ea typeface="+mn-lt"/>
                <a:cs typeface="+mn-lt"/>
              </a:rPr>
              <a:t>Provisioning of ESB &amp; SITA VMs </a:t>
            </a:r>
            <a:r>
              <a:rPr lang="en-US" sz="2000" b="1">
                <a:solidFill>
                  <a:schemeClr val="accent2"/>
                </a:solidFill>
                <a:ea typeface="+mn-lt"/>
                <a:cs typeface="+mn-lt"/>
              </a:rPr>
              <a:t>– In-Progress.</a:t>
            </a:r>
            <a:endParaRPr lang="en-US" sz="2000">
              <a:ea typeface="Tahoma"/>
              <a:cs typeface="Tahoma"/>
            </a:endParaRPr>
          </a:p>
          <a:p>
            <a:pPr marL="1257300" lvl="2" indent="-342900">
              <a:buFont typeface="Arial" panose="05000000000000000000" pitchFamily="2" charset="2"/>
              <a:buChar char="•"/>
            </a:pPr>
            <a:r>
              <a:rPr lang="en-US" sz="2000">
                <a:ea typeface="+mn-lt"/>
                <a:cs typeface="+mn-lt"/>
              </a:rPr>
              <a:t>Provisioning of Load balancer </a:t>
            </a:r>
            <a:r>
              <a:rPr lang="en-US" sz="2000" b="1">
                <a:solidFill>
                  <a:srgbClr val="00B050"/>
                </a:solidFill>
                <a:ea typeface="+mn-lt"/>
                <a:cs typeface="+mn-lt"/>
              </a:rPr>
              <a:t>– Completed.</a:t>
            </a:r>
            <a:endParaRPr lang="en-US" sz="2000">
              <a:solidFill>
                <a:srgbClr val="505050"/>
              </a:solidFill>
              <a:ea typeface="Tahoma"/>
              <a:cs typeface="Tahoma"/>
            </a:endParaRPr>
          </a:p>
        </p:txBody>
      </p:sp>
    </p:spTree>
    <p:extLst>
      <p:ext uri="{BB962C8B-B14F-4D97-AF65-F5344CB8AC3E}">
        <p14:creationId xmlns:p14="http://schemas.microsoft.com/office/powerpoint/2010/main" val="3568229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6573F4-7B5B-C916-3431-214579A3E0F0}"/>
              </a:ext>
            </a:extLst>
          </p:cNvPr>
          <p:cNvSpPr>
            <a:spLocks noGrp="1"/>
          </p:cNvSpPr>
          <p:nvPr>
            <p:ph type="title"/>
          </p:nvPr>
        </p:nvSpPr>
        <p:spPr/>
        <p:txBody>
          <a:bodyPr/>
          <a:lstStyle/>
          <a:p>
            <a:r>
              <a:rPr lang="en-US" sz="4250"/>
              <a:t>Provisioning of NAT Gateway</a:t>
            </a:r>
            <a:endParaRPr lang="en-US" sz="4300">
              <a:ea typeface="Tahoma"/>
              <a:cs typeface="Tahoma"/>
            </a:endParaRPr>
          </a:p>
        </p:txBody>
      </p:sp>
      <p:sp>
        <p:nvSpPr>
          <p:cNvPr id="2" name="TextBox 1">
            <a:extLst>
              <a:ext uri="{FF2B5EF4-FFF2-40B4-BE49-F238E27FC236}">
                <a16:creationId xmlns:a16="http://schemas.microsoft.com/office/drawing/2014/main" id="{07E3DD20-BDF1-38BE-E111-01060DE3B3BB}"/>
              </a:ext>
            </a:extLst>
          </p:cNvPr>
          <p:cNvSpPr txBox="1"/>
          <p:nvPr/>
        </p:nvSpPr>
        <p:spPr>
          <a:xfrm>
            <a:off x="270825" y="1181772"/>
            <a:ext cx="15303879" cy="7171194"/>
          </a:xfrm>
          <a:prstGeom prst="rect">
            <a:avLst/>
          </a:prstGeom>
          <a:noFill/>
          <a:ln w="12700" cmpd="dbl">
            <a:solidFill>
              <a:schemeClr val="tx1"/>
            </a:solidFill>
          </a:ln>
        </p:spPr>
        <p:txBody>
          <a:bodyPr wrap="square" lIns="91440" tIns="45720" rIns="91440" bIns="45720" rtlCol="0" anchor="t">
            <a:spAutoFit/>
          </a:bodyPr>
          <a:lstStyle/>
          <a:p>
            <a:pPr marL="342900" indent="-342900">
              <a:buFont typeface="Wingdings"/>
              <a:buChar char="q"/>
            </a:pPr>
            <a:r>
              <a:rPr lang="en-US" sz="2000" b="1">
                <a:solidFill>
                  <a:srgbClr val="505050"/>
                </a:solidFill>
                <a:ea typeface="+mn-lt"/>
                <a:cs typeface="+mn-lt"/>
              </a:rPr>
              <a:t>Implementation of a NAT Gateway in COSYS+ Infrastructure – </a:t>
            </a:r>
            <a:r>
              <a:rPr lang="en-US" sz="2000">
                <a:solidFill>
                  <a:srgbClr val="505050"/>
                </a:solidFill>
                <a:ea typeface="+mn-lt"/>
                <a:cs typeface="+mn-lt"/>
              </a:rPr>
              <a:t>Cloud-IMS has received approval for the NAT Gateway implementation, however, approval for the activity schedule/phase in which the implementation will be carried out is still pending </a:t>
            </a:r>
            <a:r>
              <a:rPr lang="en-US" sz="2000" b="1">
                <a:solidFill>
                  <a:schemeClr val="accent1">
                    <a:lumMod val="49000"/>
                    <a:lumOff val="51000"/>
                  </a:schemeClr>
                </a:solidFill>
                <a:ea typeface="+mn-lt"/>
                <a:cs typeface="+mn-lt"/>
              </a:rPr>
              <a:t>– Awaiting Implementation Schedule Approval</a:t>
            </a:r>
            <a:endParaRPr lang="en-US" b="1">
              <a:solidFill>
                <a:schemeClr val="accent1">
                  <a:lumMod val="49000"/>
                  <a:lumOff val="51000"/>
                </a:schemeClr>
              </a:solidFill>
              <a:ea typeface="Tahoma"/>
              <a:cs typeface="Tahoma"/>
            </a:endParaRPr>
          </a:p>
          <a:p>
            <a:pPr marL="800100" lvl="1"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lvl="1"/>
            <a:endParaRPr lang="en-US" sz="2000" dirty="0">
              <a:latin typeface="Tahoma" panose="020B0604030504040204" pitchFamily="34" charset="0"/>
              <a:ea typeface="Tahoma" panose="020B0604030504040204" pitchFamily="34" charset="0"/>
              <a:cs typeface="Tahoma" panose="020B0604030504040204" pitchFamily="34" charset="0"/>
            </a:endParaRPr>
          </a:p>
          <a:p>
            <a:pPr lvl="1"/>
            <a:endParaRPr lang="en-US"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lvl="1"/>
            <a:endParaRPr lang="en-US"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panose="020B0604020202020204" pitchFamily="34" charset="0"/>
              <a:buChar char="•"/>
            </a:pPr>
            <a:endParaRPr lang="en-US" sz="2000" dirty="0">
              <a:latin typeface="Tahoma" panose="020B0604030504040204" pitchFamily="34" charset="0"/>
              <a:ea typeface="Tahoma" panose="020B0604030504040204" pitchFamily="34" charset="0"/>
              <a:cs typeface="Tahoma" panose="020B0604030504040204" pitchFamily="34" charset="0"/>
            </a:endParaRPr>
          </a:p>
        </p:txBody>
      </p:sp>
      <p:graphicFrame>
        <p:nvGraphicFramePr>
          <p:cNvPr id="3" name="Table 2">
            <a:extLst>
              <a:ext uri="{FF2B5EF4-FFF2-40B4-BE49-F238E27FC236}">
                <a16:creationId xmlns:a16="http://schemas.microsoft.com/office/drawing/2014/main" id="{8A69E16B-4237-384F-FBE1-456D86A5D640}"/>
              </a:ext>
            </a:extLst>
          </p:cNvPr>
          <p:cNvGraphicFramePr>
            <a:graphicFrameLocks noGrp="1"/>
          </p:cNvGraphicFramePr>
          <p:nvPr>
            <p:extLst>
              <p:ext uri="{D42A27DB-BD31-4B8C-83A1-F6EECF244321}">
                <p14:modId xmlns:p14="http://schemas.microsoft.com/office/powerpoint/2010/main" val="642516042"/>
              </p:ext>
            </p:extLst>
          </p:nvPr>
        </p:nvGraphicFramePr>
        <p:xfrm>
          <a:off x="763452" y="2289919"/>
          <a:ext cx="14516998" cy="5757674"/>
        </p:xfrm>
        <a:graphic>
          <a:graphicData uri="http://schemas.openxmlformats.org/drawingml/2006/table">
            <a:tbl>
              <a:tblPr firstRow="1" bandRow="1">
                <a:tableStyleId>{5C22544A-7EE6-4342-B048-85BDC9FD1C3A}</a:tableStyleId>
              </a:tblPr>
              <a:tblGrid>
                <a:gridCol w="4832069">
                  <a:extLst>
                    <a:ext uri="{9D8B030D-6E8A-4147-A177-3AD203B41FA5}">
                      <a16:colId xmlns:a16="http://schemas.microsoft.com/office/drawing/2014/main" val="702169564"/>
                    </a:ext>
                  </a:extLst>
                </a:gridCol>
                <a:gridCol w="2281809">
                  <a:extLst>
                    <a:ext uri="{9D8B030D-6E8A-4147-A177-3AD203B41FA5}">
                      <a16:colId xmlns:a16="http://schemas.microsoft.com/office/drawing/2014/main" val="1890212461"/>
                    </a:ext>
                  </a:extLst>
                </a:gridCol>
                <a:gridCol w="1986242">
                  <a:extLst>
                    <a:ext uri="{9D8B030D-6E8A-4147-A177-3AD203B41FA5}">
                      <a16:colId xmlns:a16="http://schemas.microsoft.com/office/drawing/2014/main" val="4199075236"/>
                    </a:ext>
                  </a:extLst>
                </a:gridCol>
                <a:gridCol w="2513209">
                  <a:extLst>
                    <a:ext uri="{9D8B030D-6E8A-4147-A177-3AD203B41FA5}">
                      <a16:colId xmlns:a16="http://schemas.microsoft.com/office/drawing/2014/main" val="3835210310"/>
                    </a:ext>
                  </a:extLst>
                </a:gridCol>
                <a:gridCol w="2903669">
                  <a:extLst>
                    <a:ext uri="{9D8B030D-6E8A-4147-A177-3AD203B41FA5}">
                      <a16:colId xmlns:a16="http://schemas.microsoft.com/office/drawing/2014/main" val="4256071014"/>
                    </a:ext>
                  </a:extLst>
                </a:gridCol>
              </a:tblGrid>
              <a:tr h="483408">
                <a:tc rowSpan="2">
                  <a:txBody>
                    <a:bodyPr/>
                    <a:lstStyle/>
                    <a:p>
                      <a:pPr lvl="0" algn="ctr">
                        <a:buNone/>
                      </a:pPr>
                      <a:r>
                        <a:rPr lang="en-US" sz="2000" b="1" i="0" u="none" strike="noStrike" baseline="0" noProof="0">
                          <a:solidFill>
                            <a:srgbClr val="FFFFFF"/>
                          </a:solidFill>
                          <a:latin typeface="Tahoma"/>
                          <a:ea typeface="Tahoma"/>
                          <a:cs typeface="Tahoma"/>
                        </a:rPr>
                        <a:t>Proposed Nat Gateway</a:t>
                      </a:r>
                      <a:endParaRPr lang="en-US" sz="2000"/>
                    </a:p>
                  </a:txBody>
                  <a:tcPr anchor="ctr"/>
                </a:tc>
                <a:tc rowSpan="2">
                  <a:txBody>
                    <a:bodyPr/>
                    <a:lstStyle/>
                    <a:p>
                      <a:pPr algn="ctr"/>
                      <a:r>
                        <a:rPr lang="en-US" sz="2000"/>
                        <a:t>Environment</a:t>
                      </a:r>
                    </a:p>
                  </a:txBody>
                  <a:tcPr anchor="ctr"/>
                </a:tc>
                <a:tc rowSpan="2">
                  <a:txBody>
                    <a:bodyPr/>
                    <a:lstStyle/>
                    <a:p>
                      <a:pPr algn="ctr"/>
                      <a:r>
                        <a:rPr lang="en-US" sz="2000"/>
                        <a:t>Phase</a:t>
                      </a:r>
                    </a:p>
                  </a:txBody>
                  <a:tcPr anchor="ctr"/>
                </a:tc>
                <a:tc gridSpan="2">
                  <a:txBody>
                    <a:bodyPr/>
                    <a:lstStyle/>
                    <a:p>
                      <a:pPr algn="ctr"/>
                      <a:r>
                        <a:rPr lang="en-US" sz="2000"/>
                        <a:t>Schedule</a:t>
                      </a:r>
                    </a:p>
                  </a:txBody>
                  <a:tcPr anchor="ctr"/>
                </a:tc>
                <a:tc hMerge="1">
                  <a:txBody>
                    <a:bodyPr/>
                    <a:lstStyle/>
                    <a:p>
                      <a:endParaRPr lang="en-US"/>
                    </a:p>
                  </a:txBody>
                  <a:tcPr/>
                </a:tc>
                <a:extLst>
                  <a:ext uri="{0D108BD9-81ED-4DB2-BD59-A6C34878D82A}">
                    <a16:rowId xmlns:a16="http://schemas.microsoft.com/office/drawing/2014/main" val="937925018"/>
                  </a:ext>
                </a:extLst>
              </a:tr>
              <a:tr h="39551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a:r>
                        <a:rPr lang="en-US" sz="2000" b="1">
                          <a:solidFill>
                            <a:schemeClr val="bg1"/>
                          </a:solidFill>
                        </a:rPr>
                        <a:t>Date</a:t>
                      </a:r>
                    </a:p>
                  </a:txBody>
                  <a:tcPr anchor="ctr">
                    <a:solidFill>
                      <a:schemeClr val="accent1"/>
                    </a:solidFill>
                  </a:tcPr>
                </a:tc>
                <a:tc>
                  <a:txBody>
                    <a:bodyPr/>
                    <a:lstStyle/>
                    <a:p>
                      <a:pPr algn="ctr"/>
                      <a:r>
                        <a:rPr lang="en-US" sz="2000" b="1">
                          <a:solidFill>
                            <a:schemeClr val="bg1"/>
                          </a:solidFill>
                        </a:rPr>
                        <a:t>Time</a:t>
                      </a:r>
                    </a:p>
                  </a:txBody>
                  <a:tcPr anchor="ctr">
                    <a:solidFill>
                      <a:schemeClr val="accent1"/>
                    </a:solidFill>
                  </a:tcPr>
                </a:tc>
                <a:extLst>
                  <a:ext uri="{0D108BD9-81ED-4DB2-BD59-A6C34878D82A}">
                    <a16:rowId xmlns:a16="http://schemas.microsoft.com/office/drawing/2014/main" val="2078159168"/>
                  </a:ext>
                </a:extLst>
              </a:tr>
              <a:tr h="527354">
                <a:tc gridSpan="5">
                  <a:txBody>
                    <a:bodyPr/>
                    <a:lstStyle/>
                    <a:p>
                      <a:pPr lvl="0" algn="ctr">
                        <a:buNone/>
                      </a:pPr>
                      <a:r>
                        <a:rPr lang="en-US" sz="2000" b="1" i="0" u="none" strike="noStrike" baseline="0" noProof="0">
                          <a:solidFill>
                            <a:srgbClr val="FFFFFF"/>
                          </a:solidFill>
                          <a:latin typeface="Tahoma"/>
                          <a:ea typeface="Tahoma"/>
                          <a:cs typeface="Tahoma"/>
                        </a:rPr>
                        <a:t>NON-PROD</a:t>
                      </a:r>
                      <a:endParaRPr lang="en-US" sz="2000" b="1" i="0" u="none" strike="noStrike" baseline="0" noProof="0" dirty="0">
                        <a:solidFill>
                          <a:srgbClr val="FFFFFF"/>
                        </a:solidFill>
                        <a:latin typeface="Tahoma"/>
                        <a:ea typeface="Tahoma"/>
                        <a:cs typeface="Tahoma"/>
                      </a:endParaRPr>
                    </a:p>
                  </a:txBody>
                  <a:tcPr anchor="ctr">
                    <a:solidFill>
                      <a:schemeClr val="accent1"/>
                    </a:solidFill>
                  </a:tcPr>
                </a:tc>
                <a:tc hMerge="1">
                  <a:txBody>
                    <a:bodyPr/>
                    <a:lstStyle/>
                    <a:p>
                      <a:endParaRPr lang="en-US"/>
                    </a:p>
                  </a:txBody>
                  <a:tcPr anchor="ctr">
                    <a:solidFill>
                      <a:schemeClr val="accent1"/>
                    </a:solidFill>
                  </a:tcPr>
                </a:tc>
                <a:tc hMerge="1">
                  <a:txBody>
                    <a:bodyPr/>
                    <a:lstStyle/>
                    <a:p>
                      <a:endParaRPr lang="en-US"/>
                    </a:p>
                  </a:txBody>
                  <a:tcPr anchor="ctr">
                    <a:solidFill>
                      <a:schemeClr val="accent1"/>
                    </a:solidFill>
                  </a:tcPr>
                </a:tc>
                <a:tc hMerge="1">
                  <a:txBody>
                    <a:bodyPr/>
                    <a:lstStyle/>
                    <a:p>
                      <a:endParaRPr lang="en-US"/>
                    </a:p>
                  </a:txBody>
                  <a:tcPr anchor="ctr">
                    <a:solidFill>
                      <a:schemeClr val="accent1"/>
                    </a:solidFill>
                  </a:tcPr>
                </a:tc>
                <a:tc hMerge="1">
                  <a:txBody>
                    <a:bodyPr/>
                    <a:lstStyle/>
                    <a:p>
                      <a:endParaRPr lang="en-US"/>
                    </a:p>
                  </a:txBody>
                  <a:tcPr anchor="ctr">
                    <a:solidFill>
                      <a:schemeClr val="accent1"/>
                    </a:solidFill>
                  </a:tcPr>
                </a:tc>
                <a:extLst>
                  <a:ext uri="{0D108BD9-81ED-4DB2-BD59-A6C34878D82A}">
                    <a16:rowId xmlns:a16="http://schemas.microsoft.com/office/drawing/2014/main" val="4088001797"/>
                  </a:ext>
                </a:extLst>
              </a:tr>
              <a:tr h="527354">
                <a:tc>
                  <a:txBody>
                    <a:bodyPr/>
                    <a:lstStyle/>
                    <a:p>
                      <a:pPr lvl="0" algn="ctr">
                        <a:buNone/>
                      </a:pPr>
                      <a:r>
                        <a:rPr lang="en-US" sz="1800" b="0" i="0" u="none" strike="noStrike" noProof="0">
                          <a:solidFill>
                            <a:schemeClr val="tx1">
                              <a:lumMod val="49000"/>
                            </a:schemeClr>
                          </a:solidFill>
                          <a:latin typeface="Tahoma"/>
                          <a:ea typeface="Tahoma"/>
                          <a:cs typeface="Tahoma"/>
                        </a:rPr>
                        <a:t>(new) COSYS-SEA-UAT2-NATGW</a:t>
                      </a:r>
                      <a:endParaRPr lang="en-US" sz="1800" dirty="0">
                        <a:solidFill>
                          <a:schemeClr val="tx1">
                            <a:lumMod val="49000"/>
                          </a:schemeClr>
                        </a:solidFill>
                      </a:endParaRPr>
                    </a:p>
                  </a:txBody>
                  <a:tcPr anchor="ctr"/>
                </a:tc>
                <a:tc>
                  <a:txBody>
                    <a:bodyPr/>
                    <a:lstStyle/>
                    <a:p>
                      <a:pPr lvl="0" algn="ctr">
                        <a:buNone/>
                      </a:pPr>
                      <a:r>
                        <a:rPr lang="en-US" sz="1800" b="0" i="0" u="none" strike="noStrike" noProof="0">
                          <a:solidFill>
                            <a:schemeClr val="tx1">
                              <a:lumMod val="49000"/>
                            </a:schemeClr>
                          </a:solidFill>
                          <a:latin typeface="Tahoma"/>
                          <a:ea typeface="Tahoma"/>
                          <a:cs typeface="Tahoma"/>
                        </a:rPr>
                        <a:t>STG2</a:t>
                      </a:r>
                      <a:endParaRPr lang="en-US" sz="1800" dirty="0">
                        <a:solidFill>
                          <a:schemeClr val="tx1">
                            <a:lumMod val="49000"/>
                          </a:schemeClr>
                        </a:solidFill>
                      </a:endParaRPr>
                    </a:p>
                  </a:txBody>
                  <a:tcPr anchor="ctr"/>
                </a:tc>
                <a:tc>
                  <a:txBody>
                    <a:bodyPr/>
                    <a:lstStyle/>
                    <a:p>
                      <a:pPr algn="ctr"/>
                      <a:r>
                        <a:rPr lang="en-US" sz="1800">
                          <a:solidFill>
                            <a:schemeClr val="tx1">
                              <a:lumMod val="49000"/>
                            </a:schemeClr>
                          </a:solidFill>
                        </a:rPr>
                        <a:t>Phase-1</a:t>
                      </a:r>
                      <a:endParaRPr lang="en-US" sz="1800" dirty="0">
                        <a:solidFill>
                          <a:schemeClr val="tx1">
                            <a:lumMod val="49000"/>
                          </a:schemeClr>
                        </a:solidFill>
                      </a:endParaRPr>
                    </a:p>
                  </a:txBody>
                  <a:tcPr anchor="ctr"/>
                </a:tc>
                <a:tc>
                  <a:txBody>
                    <a:bodyPr/>
                    <a:lstStyle/>
                    <a:p>
                      <a:pPr algn="ctr"/>
                      <a:endParaRPr lang="en-US" sz="1800" dirty="0">
                        <a:solidFill>
                          <a:schemeClr val="tx1">
                            <a:lumMod val="49000"/>
                          </a:schemeClr>
                        </a:solidFill>
                      </a:endParaRPr>
                    </a:p>
                  </a:txBody>
                  <a:tcPr anchor="ctr"/>
                </a:tc>
                <a:tc>
                  <a:txBody>
                    <a:bodyPr/>
                    <a:lstStyle/>
                    <a:p>
                      <a:pPr lvl="0" algn="ctr">
                        <a:buNone/>
                      </a:pPr>
                      <a:r>
                        <a:rPr lang="en-US" sz="1800" b="0" i="0" u="none" strike="noStrike" noProof="0">
                          <a:solidFill>
                            <a:schemeClr val="tx1">
                              <a:lumMod val="49000"/>
                            </a:schemeClr>
                          </a:solidFill>
                          <a:latin typeface="Tahoma"/>
                          <a:ea typeface="Tahoma"/>
                          <a:cs typeface="Tahoma"/>
                        </a:rPr>
                        <a:t>12:30 PM – 3:00 PM </a:t>
                      </a:r>
                      <a:r>
                        <a:rPr lang="en-US" sz="1800" b="0" i="0" u="none" strike="noStrike" noProof="0" dirty="0">
                          <a:solidFill>
                            <a:schemeClr val="tx1">
                              <a:lumMod val="49000"/>
                            </a:schemeClr>
                          </a:solidFill>
                          <a:latin typeface="Tahoma"/>
                          <a:ea typeface="Tahoma"/>
                          <a:cs typeface="Tahoma"/>
                        </a:rPr>
                        <a:t>SGT</a:t>
                      </a:r>
                      <a:endParaRPr lang="en-US" sz="1800" dirty="0">
                        <a:solidFill>
                          <a:schemeClr val="tx1">
                            <a:lumMod val="49000"/>
                          </a:schemeClr>
                        </a:solidFill>
                      </a:endParaRPr>
                    </a:p>
                  </a:txBody>
                  <a:tcPr anchor="ctr"/>
                </a:tc>
                <a:extLst>
                  <a:ext uri="{0D108BD9-81ED-4DB2-BD59-A6C34878D82A}">
                    <a16:rowId xmlns:a16="http://schemas.microsoft.com/office/drawing/2014/main" val="1029488199"/>
                  </a:ext>
                </a:extLst>
              </a:tr>
              <a:tr h="659194">
                <a:tc>
                  <a:txBody>
                    <a:bodyPr/>
                    <a:lstStyle/>
                    <a:p>
                      <a:pPr lvl="0" algn="ctr">
                        <a:buNone/>
                      </a:pPr>
                      <a:r>
                        <a:rPr lang="en-US" sz="1800" b="0" i="0" u="none" strike="noStrike" noProof="0">
                          <a:solidFill>
                            <a:schemeClr val="tx1">
                              <a:lumMod val="49000"/>
                            </a:schemeClr>
                          </a:solidFill>
                          <a:latin typeface="Tahoma"/>
                          <a:ea typeface="Tahoma"/>
                          <a:cs typeface="Tahoma"/>
                        </a:rPr>
                        <a:t>(new) COSYS-SEA-UAT-NATGW</a:t>
                      </a:r>
                      <a:endParaRPr lang="en-US" sz="1800" dirty="0">
                        <a:solidFill>
                          <a:schemeClr val="tx1">
                            <a:lumMod val="49000"/>
                          </a:schemeClr>
                        </a:solidFill>
                      </a:endParaRPr>
                    </a:p>
                  </a:txBody>
                  <a:tcPr anchor="ctr"/>
                </a:tc>
                <a:tc>
                  <a:txBody>
                    <a:bodyPr/>
                    <a:lstStyle/>
                    <a:p>
                      <a:pPr lvl="0" algn="ctr">
                        <a:buNone/>
                      </a:pPr>
                      <a:r>
                        <a:rPr lang="en-US" sz="1800" b="0" i="0" u="none" strike="noStrike" noProof="0" dirty="0">
                          <a:solidFill>
                            <a:schemeClr val="tx1">
                              <a:lumMod val="49000"/>
                            </a:schemeClr>
                          </a:solidFill>
                          <a:latin typeface="Tahoma"/>
                          <a:ea typeface="Tahoma"/>
                          <a:cs typeface="Tahoma"/>
                        </a:rPr>
                        <a:t>All Non-PROD+DevOps</a:t>
                      </a:r>
                      <a:endParaRPr lang="en-US" sz="1800" dirty="0">
                        <a:solidFill>
                          <a:schemeClr val="tx1">
                            <a:lumMod val="49000"/>
                          </a:schemeClr>
                        </a:solidFill>
                      </a:endParaRPr>
                    </a:p>
                  </a:txBody>
                  <a:tcPr anchor="ctr"/>
                </a:tc>
                <a:tc>
                  <a:txBody>
                    <a:bodyPr/>
                    <a:lstStyle/>
                    <a:p>
                      <a:pPr algn="ctr"/>
                      <a:r>
                        <a:rPr lang="en-US" sz="1800">
                          <a:solidFill>
                            <a:schemeClr val="tx1">
                              <a:lumMod val="49000"/>
                            </a:schemeClr>
                          </a:solidFill>
                        </a:rPr>
                        <a:t>Phase-2</a:t>
                      </a:r>
                      <a:endParaRPr lang="en-US" sz="1800" dirty="0">
                        <a:solidFill>
                          <a:schemeClr val="tx1">
                            <a:lumMod val="49000"/>
                          </a:schemeClr>
                        </a:solidFill>
                      </a:endParaRPr>
                    </a:p>
                  </a:txBody>
                  <a:tcPr anchor="ctr"/>
                </a:tc>
                <a:tc>
                  <a:txBody>
                    <a:bodyPr/>
                    <a:lstStyle/>
                    <a:p>
                      <a:pPr algn="ctr"/>
                      <a:endParaRPr lang="en-US" sz="1800" dirty="0">
                        <a:solidFill>
                          <a:schemeClr val="tx1">
                            <a:lumMod val="49000"/>
                          </a:schemeClr>
                        </a:solidFill>
                      </a:endParaRPr>
                    </a:p>
                  </a:txBody>
                  <a:tcPr anchor="ctr"/>
                </a:tc>
                <a:tc>
                  <a:txBody>
                    <a:bodyPr/>
                    <a:lstStyle/>
                    <a:p>
                      <a:pPr lvl="0" algn="ctr">
                        <a:buNone/>
                      </a:pPr>
                      <a:r>
                        <a:rPr lang="en-US" sz="1800" b="0" i="0" u="none" strike="noStrike" noProof="0">
                          <a:solidFill>
                            <a:schemeClr val="tx1">
                              <a:lumMod val="49000"/>
                            </a:schemeClr>
                          </a:solidFill>
                          <a:latin typeface="Tahoma"/>
                          <a:ea typeface="Tahoma"/>
                          <a:cs typeface="Tahoma"/>
                        </a:rPr>
                        <a:t>12:30 PM – 3:00 PM SGT</a:t>
                      </a:r>
                      <a:endParaRPr lang="en-US" sz="1800" dirty="0">
                        <a:solidFill>
                          <a:schemeClr val="tx1">
                            <a:lumMod val="49000"/>
                          </a:schemeClr>
                        </a:solidFill>
                      </a:endParaRPr>
                    </a:p>
                  </a:txBody>
                  <a:tcPr anchor="ctr"/>
                </a:tc>
                <a:extLst>
                  <a:ext uri="{0D108BD9-81ED-4DB2-BD59-A6C34878D82A}">
                    <a16:rowId xmlns:a16="http://schemas.microsoft.com/office/drawing/2014/main" val="1354505340"/>
                  </a:ext>
                </a:extLst>
              </a:tr>
              <a:tr h="527354">
                <a:tc>
                  <a:txBody>
                    <a:bodyPr/>
                    <a:lstStyle/>
                    <a:p>
                      <a:pPr lvl="0" algn="ctr">
                        <a:buNone/>
                      </a:pPr>
                      <a:r>
                        <a:rPr lang="en-US" sz="1800" b="0" i="0" u="none" strike="noStrike" noProof="0">
                          <a:solidFill>
                            <a:schemeClr val="tx1">
                              <a:lumMod val="49000"/>
                            </a:schemeClr>
                          </a:solidFill>
                          <a:latin typeface="Tahoma"/>
                          <a:ea typeface="Tahoma"/>
                          <a:cs typeface="Tahoma"/>
                        </a:rPr>
                        <a:t>(new) COSYS-CIN-UAT-Saudi-NATGW</a:t>
                      </a:r>
                      <a:endParaRPr lang="en-US" sz="1800" dirty="0">
                        <a:solidFill>
                          <a:schemeClr val="tx1">
                            <a:lumMod val="49000"/>
                          </a:schemeClr>
                        </a:solidFill>
                      </a:endParaRPr>
                    </a:p>
                  </a:txBody>
                  <a:tcPr anchor="ctr"/>
                </a:tc>
                <a:tc>
                  <a:txBody>
                    <a:bodyPr/>
                    <a:lstStyle/>
                    <a:p>
                      <a:pPr lvl="0" algn="ctr">
                        <a:buNone/>
                      </a:pPr>
                      <a:r>
                        <a:rPr lang="en-US" sz="1800" b="0" i="0" u="none" strike="noStrike" noProof="0">
                          <a:solidFill>
                            <a:schemeClr val="tx1">
                              <a:lumMod val="49000"/>
                            </a:schemeClr>
                          </a:solidFill>
                          <a:latin typeface="Tahoma"/>
                          <a:ea typeface="Tahoma"/>
                          <a:cs typeface="Tahoma"/>
                        </a:rPr>
                        <a:t>UAT-SAUDI-ESBs</a:t>
                      </a:r>
                      <a:endParaRPr lang="en-US" sz="1800" dirty="0">
                        <a:solidFill>
                          <a:schemeClr val="tx1">
                            <a:lumMod val="49000"/>
                          </a:schemeClr>
                        </a:solidFill>
                      </a:endParaRPr>
                    </a:p>
                  </a:txBody>
                  <a:tcPr anchor="ctr"/>
                </a:tc>
                <a:tc>
                  <a:txBody>
                    <a:bodyPr/>
                    <a:lstStyle/>
                    <a:p>
                      <a:pPr algn="ctr"/>
                      <a:r>
                        <a:rPr lang="en-US" sz="1800">
                          <a:solidFill>
                            <a:schemeClr val="tx1">
                              <a:lumMod val="49000"/>
                            </a:schemeClr>
                          </a:solidFill>
                        </a:rPr>
                        <a:t>Phase-3</a:t>
                      </a:r>
                      <a:endParaRPr lang="en-US" sz="1800" dirty="0">
                        <a:solidFill>
                          <a:schemeClr val="tx1">
                            <a:lumMod val="49000"/>
                          </a:schemeClr>
                        </a:solidFill>
                      </a:endParaRPr>
                    </a:p>
                  </a:txBody>
                  <a:tcPr anchor="ctr"/>
                </a:tc>
                <a:tc>
                  <a:txBody>
                    <a:bodyPr/>
                    <a:lstStyle/>
                    <a:p>
                      <a:pPr algn="ctr"/>
                      <a:endParaRPr lang="en-US" sz="1800" dirty="0">
                        <a:solidFill>
                          <a:schemeClr val="tx1">
                            <a:lumMod val="49000"/>
                          </a:schemeClr>
                        </a:solidFill>
                      </a:endParaRPr>
                    </a:p>
                  </a:txBody>
                  <a:tcPr anchor="ctr"/>
                </a:tc>
                <a:tc>
                  <a:txBody>
                    <a:bodyPr/>
                    <a:lstStyle/>
                    <a:p>
                      <a:pPr lvl="0" algn="ctr">
                        <a:buNone/>
                      </a:pPr>
                      <a:r>
                        <a:rPr lang="en-US" sz="1800" b="0" i="0" u="none" strike="noStrike" noProof="0">
                          <a:solidFill>
                            <a:schemeClr val="tx1">
                              <a:lumMod val="49000"/>
                            </a:schemeClr>
                          </a:solidFill>
                          <a:latin typeface="Tahoma"/>
                          <a:ea typeface="Tahoma"/>
                          <a:cs typeface="Tahoma"/>
                        </a:rPr>
                        <a:t>12:30 PM – 3:00 PM SGT</a:t>
                      </a:r>
                      <a:endParaRPr lang="en-US" sz="1800" dirty="0">
                        <a:solidFill>
                          <a:schemeClr val="tx1">
                            <a:lumMod val="49000"/>
                          </a:schemeClr>
                        </a:solidFill>
                      </a:endParaRPr>
                    </a:p>
                  </a:txBody>
                  <a:tcPr anchor="ctr"/>
                </a:tc>
                <a:extLst>
                  <a:ext uri="{0D108BD9-81ED-4DB2-BD59-A6C34878D82A}">
                    <a16:rowId xmlns:a16="http://schemas.microsoft.com/office/drawing/2014/main" val="469784440"/>
                  </a:ext>
                </a:extLst>
              </a:tr>
              <a:tr h="527354">
                <a:tc>
                  <a:txBody>
                    <a:bodyPr/>
                    <a:lstStyle/>
                    <a:p>
                      <a:pPr lvl="0" algn="ctr">
                        <a:buNone/>
                      </a:pPr>
                      <a:r>
                        <a:rPr lang="en-US" sz="1800" b="0" i="0" u="none" strike="noStrike" noProof="0">
                          <a:solidFill>
                            <a:schemeClr val="tx1">
                              <a:lumMod val="49000"/>
                            </a:schemeClr>
                          </a:solidFill>
                          <a:latin typeface="Tahoma"/>
                          <a:ea typeface="Tahoma"/>
                          <a:cs typeface="Tahoma"/>
                        </a:rPr>
                        <a:t>(new) COSYS-CIN-UAT-DXN-NATGW</a:t>
                      </a:r>
                      <a:endParaRPr lang="en-US" sz="1800" dirty="0">
                        <a:solidFill>
                          <a:schemeClr val="tx1">
                            <a:lumMod val="49000"/>
                          </a:schemeClr>
                        </a:solidFill>
                      </a:endParaRPr>
                    </a:p>
                  </a:txBody>
                  <a:tcPr anchor="ctr"/>
                </a:tc>
                <a:tc>
                  <a:txBody>
                    <a:bodyPr/>
                    <a:lstStyle/>
                    <a:p>
                      <a:pPr lvl="0" algn="ctr">
                        <a:buNone/>
                      </a:pPr>
                      <a:r>
                        <a:rPr lang="en-US" sz="1800" b="0" i="0" u="none" strike="noStrike" noProof="0">
                          <a:solidFill>
                            <a:schemeClr val="tx1">
                              <a:lumMod val="49000"/>
                            </a:schemeClr>
                          </a:solidFill>
                          <a:latin typeface="Tahoma"/>
                          <a:ea typeface="Tahoma"/>
                          <a:cs typeface="Tahoma"/>
                        </a:rPr>
                        <a:t>UAT-DXN-ESBs</a:t>
                      </a:r>
                      <a:endParaRPr lang="en-US" sz="1800" dirty="0">
                        <a:solidFill>
                          <a:schemeClr val="tx1">
                            <a:lumMod val="49000"/>
                          </a:schemeClr>
                        </a:solidFill>
                      </a:endParaRPr>
                    </a:p>
                  </a:txBody>
                  <a:tcPr anchor="ctr"/>
                </a:tc>
                <a:tc>
                  <a:txBody>
                    <a:bodyPr/>
                    <a:lstStyle/>
                    <a:p>
                      <a:pPr algn="ctr"/>
                      <a:r>
                        <a:rPr lang="en-US" sz="1800">
                          <a:solidFill>
                            <a:schemeClr val="tx1">
                              <a:lumMod val="49000"/>
                            </a:schemeClr>
                          </a:solidFill>
                        </a:rPr>
                        <a:t>Phase-4</a:t>
                      </a:r>
                      <a:endParaRPr lang="en-US" sz="1800" dirty="0">
                        <a:solidFill>
                          <a:schemeClr val="tx1">
                            <a:lumMod val="49000"/>
                          </a:schemeClr>
                        </a:solidFill>
                      </a:endParaRPr>
                    </a:p>
                  </a:txBody>
                  <a:tcPr anchor="ctr"/>
                </a:tc>
                <a:tc>
                  <a:txBody>
                    <a:bodyPr/>
                    <a:lstStyle/>
                    <a:p>
                      <a:pPr algn="ctr"/>
                      <a:endParaRPr lang="en-US" sz="1800" dirty="0">
                        <a:solidFill>
                          <a:schemeClr val="tx1">
                            <a:lumMod val="49000"/>
                          </a:schemeClr>
                        </a:solidFill>
                      </a:endParaRPr>
                    </a:p>
                  </a:txBody>
                  <a:tcPr anchor="ctr"/>
                </a:tc>
                <a:tc>
                  <a:txBody>
                    <a:bodyPr/>
                    <a:lstStyle/>
                    <a:p>
                      <a:pPr lvl="0" algn="ctr">
                        <a:buNone/>
                      </a:pPr>
                      <a:r>
                        <a:rPr lang="en-US" sz="1800" b="0" i="0" u="none" strike="noStrike" noProof="0">
                          <a:solidFill>
                            <a:schemeClr val="tx1">
                              <a:lumMod val="49000"/>
                            </a:schemeClr>
                          </a:solidFill>
                          <a:latin typeface="Tahoma"/>
                          <a:ea typeface="Tahoma"/>
                          <a:cs typeface="Tahoma"/>
                        </a:rPr>
                        <a:t>12:30 PM – 3:00 PM SGT</a:t>
                      </a:r>
                      <a:endParaRPr lang="en-US" sz="1800" dirty="0">
                        <a:solidFill>
                          <a:schemeClr val="tx1">
                            <a:lumMod val="49000"/>
                          </a:schemeClr>
                        </a:solidFill>
                      </a:endParaRPr>
                    </a:p>
                  </a:txBody>
                  <a:tcPr anchor="ctr"/>
                </a:tc>
                <a:extLst>
                  <a:ext uri="{0D108BD9-81ED-4DB2-BD59-A6C34878D82A}">
                    <a16:rowId xmlns:a16="http://schemas.microsoft.com/office/drawing/2014/main" val="1155761442"/>
                  </a:ext>
                </a:extLst>
              </a:tr>
              <a:tr h="527354">
                <a:tc gridSpan="5">
                  <a:txBody>
                    <a:bodyPr/>
                    <a:lstStyle/>
                    <a:p>
                      <a:pPr lvl="0" algn="ctr">
                        <a:buNone/>
                      </a:pPr>
                      <a:r>
                        <a:rPr lang="en-US" sz="2000" b="1">
                          <a:solidFill>
                            <a:schemeClr val="bg1"/>
                          </a:solidFill>
                        </a:rPr>
                        <a:t>PROD</a:t>
                      </a:r>
                      <a:endParaRPr lang="en-US" sz="2000" b="1"/>
                    </a:p>
                  </a:txBody>
                  <a:tcPr anchor="ctr">
                    <a:solidFill>
                      <a:schemeClr val="accent1"/>
                    </a:solidFill>
                  </a:tcPr>
                </a:tc>
                <a:tc hMerge="1">
                  <a:txBody>
                    <a:bodyPr/>
                    <a:lstStyle/>
                    <a:p>
                      <a:endParaRPr lang="en-US"/>
                    </a:p>
                  </a:txBody>
                  <a:tcPr anchor="ctr">
                    <a:solidFill>
                      <a:schemeClr val="accent1"/>
                    </a:solidFill>
                  </a:tcPr>
                </a:tc>
                <a:tc hMerge="1">
                  <a:txBody>
                    <a:bodyPr/>
                    <a:lstStyle/>
                    <a:p>
                      <a:endParaRPr lang="en-US"/>
                    </a:p>
                  </a:txBody>
                  <a:tcPr anchor="ctr">
                    <a:solidFill>
                      <a:schemeClr val="accent1"/>
                    </a:solidFill>
                  </a:tcPr>
                </a:tc>
                <a:tc hMerge="1">
                  <a:txBody>
                    <a:bodyPr/>
                    <a:lstStyle/>
                    <a:p>
                      <a:endParaRPr lang="en-US"/>
                    </a:p>
                  </a:txBody>
                  <a:tcPr anchor="ctr">
                    <a:solidFill>
                      <a:schemeClr val="accent1"/>
                    </a:solidFill>
                  </a:tcPr>
                </a:tc>
                <a:tc hMerge="1">
                  <a:txBody>
                    <a:bodyPr/>
                    <a:lstStyle/>
                    <a:p>
                      <a:endParaRPr lang="en-US"/>
                    </a:p>
                  </a:txBody>
                  <a:tcPr anchor="ctr">
                    <a:solidFill>
                      <a:schemeClr val="accent1"/>
                    </a:solidFill>
                  </a:tcPr>
                </a:tc>
                <a:extLst>
                  <a:ext uri="{0D108BD9-81ED-4DB2-BD59-A6C34878D82A}">
                    <a16:rowId xmlns:a16="http://schemas.microsoft.com/office/drawing/2014/main" val="4017062290"/>
                  </a:ext>
                </a:extLst>
              </a:tr>
              <a:tr h="527354">
                <a:tc>
                  <a:txBody>
                    <a:bodyPr/>
                    <a:lstStyle/>
                    <a:p>
                      <a:pPr lvl="0" algn="ctr">
                        <a:buNone/>
                      </a:pPr>
                      <a:r>
                        <a:rPr lang="en-US" sz="1800" b="0" i="0" u="none" strike="noStrike" noProof="0">
                          <a:solidFill>
                            <a:schemeClr val="tx1">
                              <a:lumMod val="49000"/>
                            </a:schemeClr>
                          </a:solidFill>
                          <a:latin typeface="Tahoma"/>
                          <a:ea typeface="Tahoma"/>
                          <a:cs typeface="Tahoma"/>
                        </a:rPr>
                        <a:t>(new) COSYS-SEA-PRD-NATGW</a:t>
                      </a:r>
                      <a:endParaRPr lang="en-US" sz="1800" dirty="0">
                        <a:solidFill>
                          <a:schemeClr val="tx1">
                            <a:lumMod val="49000"/>
                          </a:schemeClr>
                        </a:solidFill>
                      </a:endParaRPr>
                    </a:p>
                  </a:txBody>
                  <a:tcPr anchor="ctr"/>
                </a:tc>
                <a:tc>
                  <a:txBody>
                    <a:bodyPr/>
                    <a:lstStyle/>
                    <a:p>
                      <a:pPr lvl="0" algn="ctr">
                        <a:buNone/>
                      </a:pPr>
                      <a:r>
                        <a:rPr lang="en-US" sz="1800" b="0" i="0" u="none" strike="noStrike" noProof="0">
                          <a:solidFill>
                            <a:schemeClr val="tx1">
                              <a:lumMod val="49000"/>
                            </a:schemeClr>
                          </a:solidFill>
                          <a:latin typeface="Tahoma"/>
                          <a:ea typeface="Tahoma"/>
                          <a:cs typeface="Tahoma"/>
                        </a:rPr>
                        <a:t>PROD1</a:t>
                      </a:r>
                      <a:endParaRPr lang="en-US" sz="1800" dirty="0">
                        <a:solidFill>
                          <a:schemeClr val="tx1">
                            <a:lumMod val="49000"/>
                          </a:schemeClr>
                        </a:solidFill>
                      </a:endParaRPr>
                    </a:p>
                  </a:txBody>
                  <a:tcPr anchor="ctr"/>
                </a:tc>
                <a:tc>
                  <a:txBody>
                    <a:bodyPr/>
                    <a:lstStyle/>
                    <a:p>
                      <a:pPr algn="ctr"/>
                      <a:r>
                        <a:rPr lang="en-US" sz="1800">
                          <a:solidFill>
                            <a:schemeClr val="tx1">
                              <a:lumMod val="49000"/>
                            </a:schemeClr>
                          </a:solidFill>
                        </a:rPr>
                        <a:t>Phase-5</a:t>
                      </a:r>
                      <a:endParaRPr lang="en-US" sz="1800" dirty="0">
                        <a:solidFill>
                          <a:schemeClr val="tx1">
                            <a:lumMod val="49000"/>
                          </a:schemeClr>
                        </a:solidFill>
                      </a:endParaRPr>
                    </a:p>
                  </a:txBody>
                  <a:tcPr anchor="ctr"/>
                </a:tc>
                <a:tc>
                  <a:txBody>
                    <a:bodyPr/>
                    <a:lstStyle/>
                    <a:p>
                      <a:pPr algn="ctr"/>
                      <a:endParaRPr lang="en-US" sz="1800" dirty="0">
                        <a:solidFill>
                          <a:schemeClr val="tx1">
                            <a:lumMod val="49000"/>
                          </a:schemeClr>
                        </a:solidFill>
                      </a:endParaRPr>
                    </a:p>
                  </a:txBody>
                  <a:tcPr anchor="ctr"/>
                </a:tc>
                <a:tc>
                  <a:txBody>
                    <a:bodyPr/>
                    <a:lstStyle/>
                    <a:p>
                      <a:pPr lvl="0" algn="ctr">
                        <a:buNone/>
                      </a:pPr>
                      <a:r>
                        <a:rPr lang="en-US" sz="1800" b="0" i="0" u="none" strike="noStrike" noProof="0">
                          <a:solidFill>
                            <a:schemeClr val="tx1">
                              <a:lumMod val="49000"/>
                            </a:schemeClr>
                          </a:solidFill>
                          <a:latin typeface="Tahoma"/>
                          <a:ea typeface="Tahoma"/>
                          <a:cs typeface="Tahoma"/>
                        </a:rPr>
                        <a:t>12:30 PM – 3:00 PM SGT</a:t>
                      </a:r>
                      <a:endParaRPr lang="en-US" sz="1800" dirty="0">
                        <a:solidFill>
                          <a:schemeClr val="tx1">
                            <a:lumMod val="49000"/>
                          </a:schemeClr>
                        </a:solidFill>
                      </a:endParaRPr>
                    </a:p>
                  </a:txBody>
                  <a:tcPr anchor="ctr"/>
                </a:tc>
                <a:extLst>
                  <a:ext uri="{0D108BD9-81ED-4DB2-BD59-A6C34878D82A}">
                    <a16:rowId xmlns:a16="http://schemas.microsoft.com/office/drawing/2014/main" val="2936637337"/>
                  </a:ext>
                </a:extLst>
              </a:tr>
              <a:tr h="527354">
                <a:tc>
                  <a:txBody>
                    <a:bodyPr/>
                    <a:lstStyle/>
                    <a:p>
                      <a:pPr lvl="0" algn="ctr">
                        <a:buNone/>
                      </a:pPr>
                      <a:r>
                        <a:rPr lang="en-US" sz="1800" b="0" i="0" u="none" strike="noStrike" noProof="0">
                          <a:solidFill>
                            <a:schemeClr val="tx1">
                              <a:lumMod val="49000"/>
                            </a:schemeClr>
                          </a:solidFill>
                          <a:latin typeface="Tahoma"/>
                          <a:ea typeface="Tahoma"/>
                          <a:cs typeface="Tahoma"/>
                        </a:rPr>
                        <a:t>(new) COSYS-SEA-PRD2-NATGW</a:t>
                      </a:r>
                      <a:endParaRPr lang="en-US" sz="1800" dirty="0">
                        <a:solidFill>
                          <a:schemeClr val="tx1">
                            <a:lumMod val="49000"/>
                          </a:schemeClr>
                        </a:solidFill>
                      </a:endParaRPr>
                    </a:p>
                  </a:txBody>
                  <a:tcPr anchor="ctr"/>
                </a:tc>
                <a:tc>
                  <a:txBody>
                    <a:bodyPr/>
                    <a:lstStyle/>
                    <a:p>
                      <a:pPr lvl="0" algn="ctr">
                        <a:buNone/>
                      </a:pPr>
                      <a:r>
                        <a:rPr lang="en-US" sz="1800" b="0" i="0" u="none" strike="noStrike" noProof="0">
                          <a:solidFill>
                            <a:schemeClr val="tx1">
                              <a:lumMod val="49000"/>
                            </a:schemeClr>
                          </a:solidFill>
                          <a:latin typeface="Tahoma"/>
                          <a:ea typeface="Tahoma"/>
                          <a:cs typeface="Tahoma"/>
                        </a:rPr>
                        <a:t>PROD2</a:t>
                      </a:r>
                      <a:endParaRPr lang="en-US" sz="1800" dirty="0">
                        <a:solidFill>
                          <a:schemeClr val="tx1">
                            <a:lumMod val="49000"/>
                          </a:schemeClr>
                        </a:solidFill>
                      </a:endParaRPr>
                    </a:p>
                  </a:txBody>
                  <a:tcPr anchor="ctr"/>
                </a:tc>
                <a:tc>
                  <a:txBody>
                    <a:bodyPr/>
                    <a:lstStyle/>
                    <a:p>
                      <a:pPr algn="ctr"/>
                      <a:r>
                        <a:rPr lang="en-US" sz="1800">
                          <a:solidFill>
                            <a:schemeClr val="tx1">
                              <a:lumMod val="49000"/>
                            </a:schemeClr>
                          </a:solidFill>
                        </a:rPr>
                        <a:t>Phase-6</a:t>
                      </a:r>
                      <a:endParaRPr lang="en-US" sz="1800" dirty="0">
                        <a:solidFill>
                          <a:schemeClr val="tx1">
                            <a:lumMod val="49000"/>
                          </a:schemeClr>
                        </a:solidFill>
                      </a:endParaRPr>
                    </a:p>
                  </a:txBody>
                  <a:tcPr anchor="ctr"/>
                </a:tc>
                <a:tc>
                  <a:txBody>
                    <a:bodyPr/>
                    <a:lstStyle/>
                    <a:p>
                      <a:pPr algn="ctr"/>
                      <a:endParaRPr lang="en-US" sz="1800" dirty="0">
                        <a:solidFill>
                          <a:schemeClr val="tx1">
                            <a:lumMod val="49000"/>
                          </a:schemeClr>
                        </a:solidFill>
                      </a:endParaRPr>
                    </a:p>
                  </a:txBody>
                  <a:tcPr anchor="ctr"/>
                </a:tc>
                <a:tc>
                  <a:txBody>
                    <a:bodyPr/>
                    <a:lstStyle/>
                    <a:p>
                      <a:pPr lvl="0" algn="ctr">
                        <a:buNone/>
                      </a:pPr>
                      <a:r>
                        <a:rPr lang="en-US" sz="1800" b="0" i="0" u="none" strike="noStrike" noProof="0">
                          <a:solidFill>
                            <a:schemeClr val="tx1">
                              <a:lumMod val="49000"/>
                            </a:schemeClr>
                          </a:solidFill>
                          <a:latin typeface="Tahoma"/>
                          <a:ea typeface="Tahoma"/>
                          <a:cs typeface="Tahoma"/>
                        </a:rPr>
                        <a:t>12:30 PM – 3:00 PM SGT</a:t>
                      </a:r>
                      <a:endParaRPr lang="en-US" sz="1800" dirty="0">
                        <a:solidFill>
                          <a:schemeClr val="tx1">
                            <a:lumMod val="49000"/>
                          </a:schemeClr>
                        </a:solidFill>
                      </a:endParaRPr>
                    </a:p>
                  </a:txBody>
                  <a:tcPr anchor="ctr"/>
                </a:tc>
                <a:extLst>
                  <a:ext uri="{0D108BD9-81ED-4DB2-BD59-A6C34878D82A}">
                    <a16:rowId xmlns:a16="http://schemas.microsoft.com/office/drawing/2014/main" val="3454441769"/>
                  </a:ext>
                </a:extLst>
              </a:tr>
              <a:tr h="527354">
                <a:tc>
                  <a:txBody>
                    <a:bodyPr/>
                    <a:lstStyle/>
                    <a:p>
                      <a:pPr lvl="0" algn="ctr">
                        <a:buNone/>
                      </a:pPr>
                      <a:r>
                        <a:rPr lang="en-US" sz="1800" b="0" i="0" u="none" strike="noStrike" noProof="0">
                          <a:solidFill>
                            <a:schemeClr val="tx1">
                              <a:lumMod val="49000"/>
                            </a:schemeClr>
                          </a:solidFill>
                        </a:rPr>
                        <a:t>(new) COSYS-CIN-PRD-Saudi-NATGW</a:t>
                      </a:r>
                      <a:endParaRPr lang="en-US" sz="1800" dirty="0">
                        <a:solidFill>
                          <a:schemeClr val="tx1">
                            <a:lumMod val="49000"/>
                          </a:schemeClr>
                        </a:solidFill>
                      </a:endParaRPr>
                    </a:p>
                  </a:txBody>
                  <a:tcPr anchor="ctr"/>
                </a:tc>
                <a:tc>
                  <a:txBody>
                    <a:bodyPr/>
                    <a:lstStyle/>
                    <a:p>
                      <a:pPr lvl="0" algn="ctr">
                        <a:buNone/>
                      </a:pPr>
                      <a:r>
                        <a:rPr lang="en-US" sz="1800" b="0" i="0" u="none" strike="noStrike" noProof="0">
                          <a:solidFill>
                            <a:schemeClr val="tx1">
                              <a:lumMod val="49000"/>
                            </a:schemeClr>
                          </a:solidFill>
                          <a:latin typeface="Tahoma"/>
                          <a:ea typeface="Tahoma"/>
                          <a:cs typeface="Tahoma"/>
                        </a:rPr>
                        <a:t>PROD SAUDI ESBs</a:t>
                      </a:r>
                      <a:endParaRPr lang="en-US" sz="1800" dirty="0">
                        <a:solidFill>
                          <a:schemeClr val="tx1">
                            <a:lumMod val="49000"/>
                          </a:schemeClr>
                        </a:solidFill>
                      </a:endParaRPr>
                    </a:p>
                  </a:txBody>
                  <a:tcPr anchor="ctr"/>
                </a:tc>
                <a:tc>
                  <a:txBody>
                    <a:bodyPr/>
                    <a:lstStyle/>
                    <a:p>
                      <a:pPr lvl="0" algn="ctr">
                        <a:buNone/>
                      </a:pPr>
                      <a:r>
                        <a:rPr lang="en-US" sz="1800">
                          <a:solidFill>
                            <a:schemeClr val="tx1">
                              <a:lumMod val="49000"/>
                            </a:schemeClr>
                          </a:solidFill>
                        </a:rPr>
                        <a:t>Phase-7</a:t>
                      </a:r>
                      <a:endParaRPr lang="en-US" sz="1800" dirty="0">
                        <a:solidFill>
                          <a:schemeClr val="tx1">
                            <a:lumMod val="49000"/>
                          </a:schemeClr>
                        </a:solidFill>
                      </a:endParaRPr>
                    </a:p>
                  </a:txBody>
                  <a:tcPr anchor="ctr"/>
                </a:tc>
                <a:tc>
                  <a:txBody>
                    <a:bodyPr/>
                    <a:lstStyle/>
                    <a:p>
                      <a:pPr lvl="0" algn="ctr">
                        <a:buNone/>
                      </a:pPr>
                      <a:endParaRPr lang="en-US" sz="1800" dirty="0">
                        <a:solidFill>
                          <a:schemeClr val="tx1">
                            <a:lumMod val="49000"/>
                          </a:schemeClr>
                        </a:solidFill>
                      </a:endParaRPr>
                    </a:p>
                  </a:txBody>
                  <a:tcPr anchor="ctr"/>
                </a:tc>
                <a:tc>
                  <a:txBody>
                    <a:bodyPr/>
                    <a:lstStyle/>
                    <a:p>
                      <a:pPr lvl="0" algn="ctr">
                        <a:buNone/>
                      </a:pPr>
                      <a:r>
                        <a:rPr lang="en-US" sz="1800" b="0" i="0" u="none" strike="noStrike" noProof="0">
                          <a:solidFill>
                            <a:schemeClr val="tx1">
                              <a:lumMod val="49000"/>
                            </a:schemeClr>
                          </a:solidFill>
                          <a:latin typeface="Tahoma"/>
                          <a:ea typeface="Tahoma"/>
                          <a:cs typeface="Tahoma"/>
                        </a:rPr>
                        <a:t>12:30 PM – 3:00 PM SGT</a:t>
                      </a:r>
                      <a:endParaRPr lang="en-US" sz="1800" dirty="0">
                        <a:solidFill>
                          <a:schemeClr val="tx1">
                            <a:lumMod val="49000"/>
                          </a:schemeClr>
                        </a:solidFill>
                      </a:endParaRPr>
                    </a:p>
                  </a:txBody>
                  <a:tcPr anchor="ctr"/>
                </a:tc>
                <a:extLst>
                  <a:ext uri="{0D108BD9-81ED-4DB2-BD59-A6C34878D82A}">
                    <a16:rowId xmlns:a16="http://schemas.microsoft.com/office/drawing/2014/main" val="1612345523"/>
                  </a:ext>
                </a:extLst>
              </a:tr>
            </a:tbl>
          </a:graphicData>
        </a:graphic>
      </p:graphicFrame>
    </p:spTree>
    <p:extLst>
      <p:ext uri="{BB962C8B-B14F-4D97-AF65-F5344CB8AC3E}">
        <p14:creationId xmlns:p14="http://schemas.microsoft.com/office/powerpoint/2010/main" val="3356853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F3472-BE16-F063-5AEB-0A0EA259A37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C52BC91-30B2-81E8-0332-D95CDAF7751D}"/>
              </a:ext>
            </a:extLst>
          </p:cNvPr>
          <p:cNvSpPr>
            <a:spLocks noGrp="1"/>
          </p:cNvSpPr>
          <p:nvPr>
            <p:ph type="title"/>
          </p:nvPr>
        </p:nvSpPr>
        <p:spPr>
          <a:xfrm>
            <a:off x="270825" y="245677"/>
            <a:ext cx="15504000" cy="936096"/>
          </a:xfrm>
        </p:spPr>
        <p:txBody>
          <a:bodyPr/>
          <a:lstStyle/>
          <a:p>
            <a:r>
              <a:rPr lang="en-US" sz="4250" dirty="0">
                <a:ea typeface="Tahoma"/>
                <a:cs typeface="Tahoma"/>
              </a:rPr>
              <a:t>Enabli</a:t>
            </a:r>
            <a:r>
              <a:rPr lang="en-US" sz="4250">
                <a:ea typeface="Tahoma"/>
                <a:cs typeface="Tahoma"/>
              </a:rPr>
              <a:t>ng HTTPS for SAUDI (All tenants)</a:t>
            </a:r>
            <a:endParaRPr lang="en-US" sz="4250" dirty="0">
              <a:ea typeface="Tahoma"/>
              <a:cs typeface="Tahoma"/>
            </a:endParaRPr>
          </a:p>
        </p:txBody>
      </p:sp>
      <p:sp>
        <p:nvSpPr>
          <p:cNvPr id="2" name="TextBox 1">
            <a:extLst>
              <a:ext uri="{FF2B5EF4-FFF2-40B4-BE49-F238E27FC236}">
                <a16:creationId xmlns:a16="http://schemas.microsoft.com/office/drawing/2014/main" id="{291C89C5-536E-34CB-295F-E33CEE1C0333}"/>
              </a:ext>
            </a:extLst>
          </p:cNvPr>
          <p:cNvSpPr txBox="1"/>
          <p:nvPr/>
        </p:nvSpPr>
        <p:spPr>
          <a:xfrm>
            <a:off x="285025" y="1174816"/>
            <a:ext cx="15496950" cy="5786199"/>
          </a:xfrm>
          <a:prstGeom prst="rect">
            <a:avLst/>
          </a:prstGeom>
          <a:noFill/>
          <a:ln w="12700" cmpd="dbl">
            <a:solidFill>
              <a:schemeClr val="tx1"/>
            </a:solidFill>
          </a:ln>
        </p:spPr>
        <p:txBody>
          <a:bodyPr wrap="square" lIns="91440" tIns="45720" rIns="91440" bIns="45720" rtlCol="0" anchor="t">
            <a:spAutoFit/>
          </a:bodyPr>
          <a:lstStyle/>
          <a:p>
            <a:endParaRPr lang="en-US" sz="800" b="1" u="sng" dirty="0">
              <a:ea typeface="Tahoma"/>
              <a:cs typeface="Tahoma"/>
            </a:endParaRPr>
          </a:p>
          <a:p>
            <a:pPr marL="342900" indent="-342900">
              <a:buFont typeface="Arial"/>
              <a:buChar char="•"/>
            </a:pPr>
            <a:r>
              <a:rPr lang="en-US" sz="2000" b="1">
                <a:ea typeface="+mn-lt"/>
                <a:cs typeface="+mn-lt"/>
              </a:rPr>
              <a:t>Rollout Status &amp; Observations:</a:t>
            </a:r>
            <a:endParaRPr lang="en-US">
              <a:ea typeface="Tahoma"/>
              <a:cs typeface="Tahoma"/>
            </a:endParaRPr>
          </a:p>
          <a:p>
            <a:pPr marL="800100" indent="-342900">
              <a:buFont typeface="Arial"/>
              <a:buChar char="•"/>
            </a:pPr>
            <a:r>
              <a:rPr lang="en-US" sz="2000">
                <a:ea typeface="Tahoma"/>
                <a:cs typeface="Tahoma"/>
              </a:rPr>
              <a:t>During the earlier rollout, users experienced 4xx errors across multiple URLs.</a:t>
            </a:r>
            <a:endParaRPr lang="en-US" sz="2000" dirty="0">
              <a:ea typeface="Tahoma"/>
              <a:cs typeface="Tahoma"/>
            </a:endParaRPr>
          </a:p>
          <a:p>
            <a:pPr marL="800100" indent="-342900">
              <a:buFont typeface="Arial"/>
              <a:buChar char="•"/>
            </a:pPr>
            <a:r>
              <a:rPr lang="en-US" sz="2000" dirty="0">
                <a:ea typeface="Tahoma"/>
                <a:cs typeface="Tahoma"/>
              </a:rPr>
              <a:t>The issue has now been analyzed and addressed in coordination with Microsoft by adding IP-Based excep</a:t>
            </a:r>
            <a:r>
              <a:rPr lang="en-US" sz="2000">
                <a:ea typeface="Tahoma"/>
                <a:cs typeface="Tahoma"/>
              </a:rPr>
              <a:t>tion in WAF.</a:t>
            </a:r>
            <a:endParaRPr lang="en-US"/>
          </a:p>
          <a:p>
            <a:pPr marL="800100" indent="-342900">
              <a:buFont typeface="Arial"/>
              <a:buChar char="•"/>
            </a:pPr>
            <a:r>
              <a:rPr lang="en-US" sz="2000">
                <a:ea typeface="Tahoma"/>
                <a:cs typeface="Tahoma"/>
              </a:rPr>
              <a:t>Required fixes and validations have been completed.</a:t>
            </a:r>
            <a:endParaRPr lang="en-US"/>
          </a:p>
          <a:p>
            <a:pPr marL="800100" indent="-342900">
              <a:buFont typeface="Arial"/>
              <a:buChar char="•"/>
            </a:pPr>
            <a:r>
              <a:rPr lang="en-US" sz="2000">
                <a:ea typeface="Tahoma"/>
                <a:cs typeface="Tahoma"/>
              </a:rPr>
              <a:t>We can now proceed with the HTTPS rollout with improved confidence, as similar 4xx issues are not expected.</a:t>
            </a:r>
            <a:endParaRPr lang="en-US"/>
          </a:p>
          <a:p>
            <a:pPr marL="800100" indent="-342900">
              <a:buFont typeface="Arial"/>
              <a:buChar char="•"/>
            </a:pPr>
            <a:endParaRPr lang="en-US" sz="2000" dirty="0">
              <a:ea typeface="Tahoma"/>
              <a:cs typeface="Tahoma"/>
            </a:endParaRPr>
          </a:p>
          <a:p>
            <a:pPr marL="457200"/>
            <a:endParaRPr lang="en-US" sz="2000" dirty="0">
              <a:ea typeface="+mn-lt"/>
              <a:cs typeface="+mn-lt"/>
            </a:endParaRPr>
          </a:p>
          <a:p>
            <a:pPr marL="800100" lvl="1" indent="-342900">
              <a:buFont typeface="Arial"/>
              <a:buChar char="•"/>
            </a:pPr>
            <a:endParaRPr lang="en-US" sz="1100" dirty="0">
              <a:ea typeface="+mn-lt"/>
              <a:cs typeface="+mn-lt"/>
            </a:endParaRPr>
          </a:p>
          <a:p>
            <a:pPr marL="342900" indent="-342900">
              <a:buFont typeface="Arial"/>
              <a:buChar char="•"/>
            </a:pPr>
            <a:r>
              <a:rPr lang="en-US" sz="2000" b="1">
                <a:ea typeface="+mn-lt"/>
                <a:cs typeface="+mn-lt"/>
              </a:rPr>
              <a:t>Current Observation</a:t>
            </a:r>
            <a:r>
              <a:rPr lang="en-US" sz="2000" b="1">
                <a:latin typeface="Tahoma"/>
                <a:ea typeface="Tahoma"/>
                <a:cs typeface="Tahoma"/>
              </a:rPr>
              <a:t>:</a:t>
            </a:r>
            <a:endParaRPr lang="en-US" sz="2000" b="1">
              <a:latin typeface="Tahoma" panose="020B0604030504040204" pitchFamily="34" charset="0"/>
              <a:ea typeface="Tahoma" panose="020B0604030504040204" pitchFamily="34" charset="0"/>
              <a:cs typeface="Tahoma" panose="020B0604030504040204" pitchFamily="34" charset="0"/>
            </a:endParaRPr>
          </a:p>
          <a:p>
            <a:pPr marL="800100" indent="-342900">
              <a:buFont typeface="Arial"/>
              <a:buChar char="•"/>
            </a:pPr>
            <a:r>
              <a:rPr lang="en-US" sz="2000">
                <a:ea typeface="+mn-lt"/>
                <a:cs typeface="+mn-lt"/>
              </a:rPr>
              <a:t>Some</a:t>
            </a:r>
            <a:r>
              <a:rPr lang="en-US" sz="2000">
                <a:ea typeface="Tahoma"/>
                <a:cs typeface="Tahoma"/>
              </a:rPr>
              <a:t> intermittent 504 </a:t>
            </a:r>
            <a:r>
              <a:rPr lang="en-US" sz="2000">
                <a:ea typeface="+mn-lt"/>
                <a:cs typeface="+mn-lt"/>
              </a:rPr>
              <a:t>(</a:t>
            </a:r>
            <a:r>
              <a:rPr lang="en-US" sz="2000">
                <a:ea typeface="Tahoma"/>
                <a:cs typeface="Tahoma"/>
              </a:rPr>
              <a:t>timeout</a:t>
            </a:r>
            <a:r>
              <a:rPr lang="en-US" sz="2000">
                <a:ea typeface="+mn-lt"/>
                <a:cs typeface="+mn-lt"/>
              </a:rPr>
              <a:t>) </a:t>
            </a:r>
            <a:r>
              <a:rPr lang="en-US" sz="2000">
                <a:ea typeface="Tahoma"/>
                <a:cs typeface="Tahoma"/>
              </a:rPr>
              <a:t>errors are being observed</a:t>
            </a:r>
            <a:r>
              <a:rPr lang="en-US" sz="2000">
                <a:ea typeface="+mn-lt"/>
                <a:cs typeface="+mn-lt"/>
              </a:rPr>
              <a:t>.</a:t>
            </a:r>
          </a:p>
          <a:p>
            <a:pPr marL="800100" indent="-342900">
              <a:buFont typeface="Arial"/>
              <a:buChar char="•"/>
            </a:pPr>
            <a:r>
              <a:rPr lang="en-US" sz="2000">
                <a:ea typeface="+mn-lt"/>
                <a:cs typeface="+mn-lt"/>
              </a:rPr>
              <a:t>These are mainly due to backend servers taking longer to respond than expected</a:t>
            </a:r>
            <a:endParaRPr lang="en-US">
              <a:ea typeface="Tahoma"/>
              <a:cs typeface="Tahoma"/>
            </a:endParaRPr>
          </a:p>
          <a:p>
            <a:pPr marL="800100" indent="-342900">
              <a:buFont typeface="Arial"/>
              <a:buChar char="•"/>
            </a:pPr>
            <a:r>
              <a:rPr lang="en-US" sz="2000">
                <a:ea typeface="+mn-lt"/>
                <a:cs typeface="+mn-lt"/>
              </a:rPr>
              <a:t>The current Application Gateway timeout is set to 20 seconds, which may not be sufficient for certain requests.</a:t>
            </a:r>
            <a:endParaRPr lang="en-US"/>
          </a:p>
          <a:p>
            <a:pPr marL="800100" indent="-342900">
              <a:buFont typeface="Arial"/>
              <a:buChar char="•"/>
            </a:pPr>
            <a:endParaRPr lang="en-US" sz="2000" dirty="0">
              <a:latin typeface="Tahoma" panose="020B0604030504040204" pitchFamily="34" charset="0"/>
              <a:ea typeface="Tahoma" panose="020B0604030504040204" pitchFamily="34" charset="0"/>
              <a:cs typeface="Tahoma" panose="020B0604030504040204" pitchFamily="34" charset="0"/>
            </a:endParaRPr>
          </a:p>
          <a:p>
            <a:pPr marL="457200"/>
            <a:endParaRPr lang="en-US" sz="2000" dirty="0">
              <a:ea typeface="+mn-lt"/>
              <a:cs typeface="+mn-lt"/>
            </a:endParaRPr>
          </a:p>
          <a:p>
            <a:pPr marL="342900" indent="-342900">
              <a:buFont typeface="Arial"/>
              <a:buChar char="•"/>
            </a:pPr>
            <a:endParaRPr lang="en-US" sz="1100" b="1" dirty="0">
              <a:latin typeface="Tahoma" panose="020B0604030504040204" pitchFamily="34" charset="0"/>
              <a:ea typeface="Tahoma" panose="020B0604030504040204" pitchFamily="34" charset="0"/>
              <a:cs typeface="Tahoma" panose="020B0604030504040204" pitchFamily="34" charset="0"/>
            </a:endParaRPr>
          </a:p>
          <a:p>
            <a:pPr marL="342900" indent="-342900">
              <a:buFont typeface="Arial"/>
              <a:buChar char="•"/>
            </a:pPr>
            <a:r>
              <a:rPr lang="en-US" sz="2000" b="1">
                <a:ea typeface="+mn-lt"/>
                <a:cs typeface="+mn-lt"/>
              </a:rPr>
              <a:t>Support Required from Application Team</a:t>
            </a:r>
            <a:r>
              <a:rPr lang="en-US" sz="2000" b="1">
                <a:latin typeface="Tahoma"/>
                <a:ea typeface="Tahoma"/>
                <a:cs typeface="Tahoma"/>
              </a:rPr>
              <a:t>:</a:t>
            </a:r>
            <a:endParaRPr lang="en-US" sz="2000" b="1" dirty="0">
              <a:latin typeface="Tahoma" panose="020B0604030504040204" pitchFamily="34" charset="0"/>
              <a:ea typeface="Tahoma" panose="020B0604030504040204" pitchFamily="34" charset="0"/>
              <a:cs typeface="Tahoma" panose="020B0604030504040204" pitchFamily="34" charset="0"/>
            </a:endParaRPr>
          </a:p>
          <a:p>
            <a:pPr marL="800100" indent="-342900">
              <a:buFont typeface="Arial"/>
              <a:buChar char="•"/>
            </a:pPr>
            <a:r>
              <a:rPr lang="en-US" sz="2000">
                <a:latin typeface="Tahoma"/>
                <a:ea typeface="Tahoma"/>
                <a:cs typeface="Tahoma"/>
              </a:rPr>
              <a:t>Review</a:t>
            </a:r>
            <a:r>
              <a:rPr lang="en-US" sz="2000" dirty="0">
                <a:ea typeface="Tahoma"/>
                <a:cs typeface="Tahoma"/>
              </a:rPr>
              <a:t> </a:t>
            </a:r>
            <a:r>
              <a:rPr lang="en-US" sz="2000">
                <a:latin typeface="Tahoma"/>
                <a:ea typeface="Tahoma"/>
                <a:cs typeface="Tahoma"/>
              </a:rPr>
              <a:t>and confirm the appropriate backend response time / timeout requirement.</a:t>
            </a:r>
            <a:endParaRPr lang="en-US" sz="2000">
              <a:latin typeface="Tahoma"/>
              <a:ea typeface="Tahoma" panose="020B0604030504040204" pitchFamily="34" charset="0"/>
              <a:cs typeface="Tahoma"/>
            </a:endParaRPr>
          </a:p>
          <a:p>
            <a:pPr marL="800100" indent="-342900">
              <a:buFont typeface="Arial"/>
              <a:buChar char="•"/>
            </a:pPr>
            <a:r>
              <a:rPr lang="en-US" sz="2000">
                <a:latin typeface="Tahoma"/>
                <a:ea typeface="Tahoma"/>
                <a:cs typeface="Tahoma"/>
              </a:rPr>
              <a:t>Suggest any required changes to Application Gateway timeout settings</a:t>
            </a:r>
            <a:r>
              <a:rPr lang="en-US" sz="2000" dirty="0">
                <a:ea typeface="Tahoma"/>
                <a:cs typeface="Tahoma"/>
              </a:rPr>
              <a:t> </a:t>
            </a:r>
            <a:r>
              <a:rPr lang="en-US" sz="2000">
                <a:latin typeface="Tahoma"/>
                <a:ea typeface="Tahoma"/>
                <a:cs typeface="Tahoma"/>
              </a:rPr>
              <a:t>to avoid 504 errors.</a:t>
            </a:r>
            <a:endParaRPr lang="en-US"/>
          </a:p>
          <a:p>
            <a:pPr marL="800100" indent="-342900">
              <a:buFont typeface="Arial"/>
              <a:buChar char="•"/>
            </a:pPr>
            <a:endParaRPr lang="en-US" sz="2000" dirty="0">
              <a:ea typeface="Tahoma"/>
              <a:cs typeface="Tahoma"/>
            </a:endParaRPr>
          </a:p>
        </p:txBody>
      </p:sp>
    </p:spTree>
    <p:extLst>
      <p:ext uri="{BB962C8B-B14F-4D97-AF65-F5344CB8AC3E}">
        <p14:creationId xmlns:p14="http://schemas.microsoft.com/office/powerpoint/2010/main" val="2663272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A1550-6D0A-3EDF-B598-9DAF1F094E0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C05D624-B9BA-AD0B-DB91-BF19CD37635D}"/>
              </a:ext>
            </a:extLst>
          </p:cNvPr>
          <p:cNvSpPr>
            <a:spLocks noGrp="1"/>
          </p:cNvSpPr>
          <p:nvPr>
            <p:ph type="title"/>
          </p:nvPr>
        </p:nvSpPr>
        <p:spPr>
          <a:xfrm>
            <a:off x="270825" y="245677"/>
            <a:ext cx="15504000" cy="936096"/>
          </a:xfrm>
        </p:spPr>
        <p:txBody>
          <a:bodyPr/>
          <a:lstStyle/>
          <a:p>
            <a:r>
              <a:rPr lang="en-US" sz="4250" dirty="0">
                <a:ea typeface="Tahoma"/>
                <a:cs typeface="Tahoma"/>
              </a:rPr>
              <a:t>Enabli</a:t>
            </a:r>
            <a:r>
              <a:rPr lang="en-US" sz="4250">
                <a:ea typeface="Tahoma"/>
                <a:cs typeface="Tahoma"/>
              </a:rPr>
              <a:t>ng HTTPS for SAUDI (All tenants)</a:t>
            </a:r>
            <a:endParaRPr lang="en-US" sz="4250" dirty="0">
              <a:ea typeface="Tahoma"/>
              <a:cs typeface="Tahoma"/>
            </a:endParaRPr>
          </a:p>
        </p:txBody>
      </p:sp>
      <p:sp>
        <p:nvSpPr>
          <p:cNvPr id="2" name="TextBox 1">
            <a:extLst>
              <a:ext uri="{FF2B5EF4-FFF2-40B4-BE49-F238E27FC236}">
                <a16:creationId xmlns:a16="http://schemas.microsoft.com/office/drawing/2014/main" id="{4B1C1D84-D206-11A7-ABFD-E85B366D04E3}"/>
              </a:ext>
            </a:extLst>
          </p:cNvPr>
          <p:cNvSpPr txBox="1"/>
          <p:nvPr/>
        </p:nvSpPr>
        <p:spPr>
          <a:xfrm>
            <a:off x="285025" y="1174816"/>
            <a:ext cx="15496950" cy="2985433"/>
          </a:xfrm>
          <a:prstGeom prst="rect">
            <a:avLst/>
          </a:prstGeom>
          <a:noFill/>
          <a:ln w="12700" cmpd="dbl">
            <a:solidFill>
              <a:schemeClr val="tx1"/>
            </a:solidFill>
          </a:ln>
        </p:spPr>
        <p:txBody>
          <a:bodyPr wrap="square" lIns="91440" tIns="45720" rIns="91440" bIns="45720" rtlCol="0" anchor="t">
            <a:spAutoFit/>
          </a:bodyPr>
          <a:lstStyle/>
          <a:p>
            <a:endParaRPr lang="en-US" sz="800" b="1" u="sng" dirty="0">
              <a:ea typeface="+mn-lt"/>
              <a:cs typeface="+mn-lt"/>
            </a:endParaRPr>
          </a:p>
          <a:p>
            <a:pPr marL="342900" indent="-342900">
              <a:buFont typeface="Arial"/>
              <a:buChar char="•"/>
            </a:pPr>
            <a:r>
              <a:rPr lang="en-US" sz="2000" b="1">
                <a:ea typeface="+mn-lt"/>
                <a:cs typeface="+mn-lt"/>
              </a:rPr>
              <a:t>Testing &amp; Rollout Recommendation:</a:t>
            </a:r>
            <a:endParaRPr lang="en-US">
              <a:ea typeface="Tahoma"/>
              <a:cs typeface="Tahoma"/>
            </a:endParaRPr>
          </a:p>
          <a:p>
            <a:pPr marL="800100" indent="-342900">
              <a:buFont typeface="Arial"/>
              <a:buChar char="•"/>
            </a:pPr>
            <a:r>
              <a:rPr lang="en-US" sz="2000">
                <a:latin typeface="Tahoma"/>
                <a:ea typeface="Tahoma"/>
                <a:cs typeface="Tahoma"/>
              </a:rPr>
              <a:t>Conduct</a:t>
            </a:r>
            <a:r>
              <a:rPr lang="en-US" sz="2000">
                <a:latin typeface="Tahoma"/>
                <a:ea typeface="+mn-lt"/>
                <a:cs typeface="Tahoma"/>
              </a:rPr>
              <a:t> thorough testing before full </a:t>
            </a:r>
            <a:r>
              <a:rPr lang="en-US" sz="2000">
                <a:latin typeface="Tahoma"/>
                <a:ea typeface="Tahoma"/>
                <a:cs typeface="Tahoma"/>
              </a:rPr>
              <a:t>rollout, </a:t>
            </a:r>
            <a:r>
              <a:rPr lang="en-US" sz="2000">
                <a:latin typeface="Tahoma"/>
                <a:ea typeface="+mn-lt"/>
                <a:cs typeface="Tahoma"/>
              </a:rPr>
              <a:t>either: </a:t>
            </a:r>
            <a:endParaRPr lang="en-US" sz="2000" dirty="0">
              <a:latin typeface="Tahoma"/>
              <a:ea typeface="+mn-lt"/>
              <a:cs typeface="Tahoma"/>
            </a:endParaRPr>
          </a:p>
          <a:p>
            <a:pPr marL="1257300" lvl="1" indent="-342900">
              <a:buFont typeface="Arial"/>
              <a:buChar char="•"/>
            </a:pPr>
            <a:r>
              <a:rPr lang="en-US" sz="2000">
                <a:latin typeface="Tahoma"/>
                <a:ea typeface="+mn-lt"/>
                <a:cs typeface="Tahoma"/>
              </a:rPr>
              <a:t>By the application team (if full access is available), or</a:t>
            </a:r>
            <a:endParaRPr lang="en-US" sz="2000">
              <a:ea typeface="Tahoma"/>
              <a:cs typeface="Tahoma"/>
            </a:endParaRPr>
          </a:p>
          <a:p>
            <a:pPr marL="1257300" lvl="1" indent="-342900">
              <a:buFont typeface="Arial"/>
              <a:buChar char="•"/>
            </a:pPr>
            <a:r>
              <a:rPr lang="en-US" sz="2000">
                <a:latin typeface="Tahoma"/>
                <a:ea typeface="+mn-lt"/>
                <a:cs typeface="Tahoma"/>
              </a:rPr>
              <a:t>With a limited set of </a:t>
            </a:r>
            <a:r>
              <a:rPr lang="en-US" sz="2000">
                <a:latin typeface="Tahoma"/>
                <a:ea typeface="Tahoma"/>
                <a:cs typeface="Tahoma"/>
              </a:rPr>
              <a:t>users </a:t>
            </a:r>
            <a:r>
              <a:rPr lang="en-US" sz="2000">
                <a:latin typeface="Tahoma"/>
                <a:ea typeface="+mn-lt"/>
                <a:cs typeface="Tahoma"/>
              </a:rPr>
              <a:t>(phased approach)</a:t>
            </a:r>
            <a:endParaRPr lang="en-US" sz="2000">
              <a:ea typeface="Tahoma"/>
              <a:cs typeface="Tahoma"/>
            </a:endParaRPr>
          </a:p>
          <a:p>
            <a:pPr marL="800100" indent="-342900">
              <a:buFont typeface="Arial"/>
              <a:buChar char="•"/>
            </a:pPr>
            <a:r>
              <a:rPr lang="en-US" sz="2000">
                <a:latin typeface="Tahoma"/>
                <a:ea typeface="+mn-lt"/>
                <a:cs typeface="Tahoma"/>
              </a:rPr>
              <a:t>This will help </a:t>
            </a:r>
            <a:r>
              <a:rPr lang="en-US" sz="2000">
                <a:latin typeface="Tahoma"/>
                <a:ea typeface="Tahoma"/>
                <a:cs typeface="Tahoma"/>
              </a:rPr>
              <a:t>identify any remaining issues early and ensure a smooth rollout.</a:t>
            </a:r>
            <a:endParaRPr lang="en-US"/>
          </a:p>
          <a:p>
            <a:pPr marL="800100" indent="-342900">
              <a:buFont typeface="Arial"/>
              <a:buChar char="•"/>
            </a:pPr>
            <a:r>
              <a:rPr lang="en-US" sz="2000">
                <a:latin typeface="Tahoma"/>
                <a:ea typeface="Tahoma"/>
                <a:cs typeface="Tahoma"/>
              </a:rPr>
              <a:t>Recommended </a:t>
            </a:r>
            <a:r>
              <a:rPr lang="en-US" sz="2000">
                <a:ea typeface="Tahoma"/>
                <a:cs typeface="Tahoma"/>
              </a:rPr>
              <a:t>approach: </a:t>
            </a:r>
            <a:endParaRPr lang="en-US"/>
          </a:p>
          <a:p>
            <a:pPr marL="1257300" lvl="1" indent="-342900">
              <a:buFont typeface="Arial"/>
              <a:buChar char="•"/>
            </a:pPr>
            <a:r>
              <a:rPr lang="en-US" sz="2000">
                <a:ea typeface="Tahoma"/>
                <a:cs typeface="Tahoma"/>
              </a:rPr>
              <a:t>Phased </a:t>
            </a:r>
            <a:r>
              <a:rPr lang="en-US" sz="2000">
                <a:latin typeface="Tahoma"/>
                <a:ea typeface="Tahoma"/>
                <a:cs typeface="Tahoma"/>
              </a:rPr>
              <a:t>HTTPS rollout</a:t>
            </a:r>
            <a:r>
              <a:rPr lang="en-US" sz="2000">
                <a:latin typeface="Tahoma"/>
                <a:ea typeface="+mn-lt"/>
                <a:cs typeface="Tahoma"/>
              </a:rPr>
              <a:t>, or</a:t>
            </a:r>
            <a:endParaRPr lang="en-US" sz="2000">
              <a:ea typeface="Tahoma"/>
              <a:cs typeface="Tahoma"/>
            </a:endParaRPr>
          </a:p>
          <a:p>
            <a:pPr marL="1257300" lvl="1" indent="-342900">
              <a:buFont typeface="Arial"/>
              <a:buChar char="•"/>
            </a:pPr>
            <a:r>
              <a:rPr lang="en-US" sz="2000">
                <a:latin typeface="Tahoma"/>
                <a:ea typeface="Tahoma"/>
                <a:cs typeface="Tahoma"/>
              </a:rPr>
              <a:t>Run HTTP and HTTPS in parallel until HTTPS is fully stable</a:t>
            </a:r>
            <a:endParaRPr lang="en-US" sz="2000">
              <a:ea typeface="Tahoma"/>
              <a:cs typeface="Tahoma"/>
            </a:endParaRPr>
          </a:p>
          <a:p>
            <a:pPr marL="800100" indent="-342900">
              <a:buFont typeface="Arial"/>
              <a:buChar char="•"/>
            </a:pPr>
            <a:endParaRPr lang="en-US" sz="2000" dirty="0">
              <a:ea typeface="Tahoma"/>
              <a:cs typeface="Tahoma"/>
            </a:endParaRPr>
          </a:p>
        </p:txBody>
      </p:sp>
    </p:spTree>
    <p:extLst>
      <p:ext uri="{BB962C8B-B14F-4D97-AF65-F5344CB8AC3E}">
        <p14:creationId xmlns:p14="http://schemas.microsoft.com/office/powerpoint/2010/main" val="2407802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D3641-DE0E-E808-B16B-EB4579B4BE5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4195D80-53A9-8992-436F-2CE05BBFD664}"/>
              </a:ext>
            </a:extLst>
          </p:cNvPr>
          <p:cNvSpPr>
            <a:spLocks noGrp="1"/>
          </p:cNvSpPr>
          <p:nvPr>
            <p:ph type="title"/>
          </p:nvPr>
        </p:nvSpPr>
        <p:spPr>
          <a:xfrm>
            <a:off x="270825" y="245677"/>
            <a:ext cx="15504000" cy="936096"/>
          </a:xfrm>
        </p:spPr>
        <p:txBody>
          <a:bodyPr/>
          <a:lstStyle/>
          <a:p>
            <a:r>
              <a:rPr lang="en-US" sz="4250" dirty="0">
                <a:ea typeface="Tahoma"/>
                <a:cs typeface="Tahoma"/>
              </a:rPr>
              <a:t>Enabli</a:t>
            </a:r>
            <a:r>
              <a:rPr lang="en-US" sz="4250">
                <a:ea typeface="Tahoma"/>
                <a:cs typeface="Tahoma"/>
              </a:rPr>
              <a:t>ng HTTPS for AAT-HKG</a:t>
            </a:r>
            <a:endParaRPr lang="en-US" sz="4250" dirty="0">
              <a:ea typeface="Tahoma"/>
              <a:cs typeface="Tahoma"/>
            </a:endParaRPr>
          </a:p>
        </p:txBody>
      </p:sp>
      <p:sp>
        <p:nvSpPr>
          <p:cNvPr id="2" name="TextBox 1">
            <a:extLst>
              <a:ext uri="{FF2B5EF4-FFF2-40B4-BE49-F238E27FC236}">
                <a16:creationId xmlns:a16="http://schemas.microsoft.com/office/drawing/2014/main" id="{FC62BBA4-1DED-8324-03C7-65A659926E49}"/>
              </a:ext>
            </a:extLst>
          </p:cNvPr>
          <p:cNvSpPr txBox="1"/>
          <p:nvPr/>
        </p:nvSpPr>
        <p:spPr>
          <a:xfrm>
            <a:off x="285025" y="1174816"/>
            <a:ext cx="15496950" cy="7017306"/>
          </a:xfrm>
          <a:prstGeom prst="rect">
            <a:avLst/>
          </a:prstGeom>
          <a:noFill/>
          <a:ln w="12700" cmpd="dbl">
            <a:solidFill>
              <a:schemeClr val="tx1"/>
            </a:solidFill>
          </a:ln>
        </p:spPr>
        <p:txBody>
          <a:bodyPr wrap="square" lIns="91440" tIns="45720" rIns="91440" bIns="45720" rtlCol="0" anchor="t">
            <a:spAutoFit/>
          </a:bodyPr>
          <a:lstStyle/>
          <a:p>
            <a:endParaRPr lang="en-US" sz="800" b="1" u="sng" dirty="0">
              <a:ea typeface="+mn-lt"/>
              <a:cs typeface="+mn-lt"/>
            </a:endParaRPr>
          </a:p>
          <a:p>
            <a:pPr marL="342900" indent="-342900">
              <a:buFont typeface="Arial"/>
              <a:buChar char="•"/>
            </a:pPr>
            <a:r>
              <a:rPr lang="en-US" sz="2000" b="1">
                <a:ea typeface="+mn-lt"/>
                <a:cs typeface="+mn-lt"/>
              </a:rPr>
              <a:t>Issue Overview:</a:t>
            </a:r>
            <a:endParaRPr lang="en-US">
              <a:ea typeface="Tahoma"/>
              <a:cs typeface="Tahoma"/>
            </a:endParaRPr>
          </a:p>
          <a:p>
            <a:pPr marL="800100" indent="-342900">
              <a:buFont typeface="Arial"/>
              <a:buChar char="•"/>
            </a:pPr>
            <a:r>
              <a:rPr lang="en-US" sz="2000">
                <a:latin typeface="Tahoma"/>
                <a:ea typeface="+mn-lt"/>
                <a:cs typeface="Tahoma"/>
              </a:rPr>
              <a:t>Users encountered 403 (Access Denied) errors while accessing certain application URLs.</a:t>
            </a:r>
          </a:p>
          <a:p>
            <a:pPr marL="800100" lvl="1" indent="-342900">
              <a:buFont typeface="Arial"/>
              <a:buChar char="•"/>
            </a:pPr>
            <a:r>
              <a:rPr lang="en-US" sz="2000">
                <a:latin typeface="Tahoma"/>
                <a:ea typeface="+mn-lt"/>
                <a:cs typeface="Tahoma"/>
              </a:rPr>
              <a:t>The issue occurred after HTTPS was rolled out to all AAT users at once.</a:t>
            </a:r>
            <a:endParaRPr lang="en-US" sz="2000">
              <a:ea typeface="Tahoma"/>
              <a:cs typeface="Tahoma"/>
            </a:endParaRPr>
          </a:p>
          <a:p>
            <a:pPr marL="800100" lvl="1" indent="-342900">
              <a:buFont typeface="Arial"/>
              <a:buChar char="•"/>
            </a:pPr>
            <a:r>
              <a:rPr lang="en-US" sz="2000">
                <a:latin typeface="Tahoma"/>
                <a:ea typeface="+mn-lt"/>
                <a:cs typeface="Tahoma"/>
              </a:rPr>
              <a:t>The Application Gateway’s Web Application Firewall (WAF) started blocking multiple requests considering them unsafe.</a:t>
            </a:r>
            <a:endParaRPr lang="en-US"/>
          </a:p>
          <a:p>
            <a:pPr marL="800100" lvl="1" indent="-342900">
              <a:buFont typeface="Arial"/>
              <a:buChar char="•"/>
            </a:pPr>
            <a:endParaRPr lang="en-US" sz="1100" dirty="0">
              <a:latin typeface="Tahoma"/>
              <a:ea typeface="Tahoma"/>
              <a:cs typeface="Tahoma"/>
            </a:endParaRPr>
          </a:p>
          <a:p>
            <a:pPr marL="342900" indent="-342900">
              <a:buFont typeface="Arial"/>
              <a:buChar char="•"/>
            </a:pPr>
            <a:r>
              <a:rPr lang="en-US" sz="2000" b="1">
                <a:latin typeface="Tahoma"/>
                <a:ea typeface="Tahoma"/>
                <a:cs typeface="Tahoma"/>
              </a:rPr>
              <a:t>Root Cause:</a:t>
            </a:r>
            <a:endParaRPr lang="en-US" sz="2000" b="1">
              <a:latin typeface="Tahoma" panose="020B0604030504040204" pitchFamily="34" charset="0"/>
              <a:ea typeface="Tahoma" panose="020B0604030504040204" pitchFamily="34" charset="0"/>
              <a:cs typeface="Tahoma" panose="020B0604030504040204" pitchFamily="34" charset="0"/>
            </a:endParaRPr>
          </a:p>
          <a:p>
            <a:pPr marL="800100" indent="-342900">
              <a:buFont typeface="Arial"/>
              <a:buChar char="•"/>
            </a:pPr>
            <a:r>
              <a:rPr lang="en-US" sz="2000">
                <a:latin typeface="Tahoma"/>
                <a:ea typeface="Tahoma"/>
                <a:cs typeface="Tahoma"/>
              </a:rPr>
              <a:t>The WAF (security layer) identified certain requests as potentially harmful and blocked them.</a:t>
            </a:r>
            <a:endParaRPr lang="en-US" sz="200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a:buChar char="•"/>
            </a:pPr>
            <a:r>
              <a:rPr lang="en-US" sz="2000" dirty="0">
                <a:latin typeface="Tahoma"/>
                <a:ea typeface="Tahoma"/>
                <a:cs typeface="Tahoma"/>
              </a:rPr>
              <a:t>URLs containing patterns like “.</a:t>
            </a:r>
            <a:r>
              <a:rPr lang="en-US" sz="2000" dirty="0" err="1">
                <a:latin typeface="Tahoma"/>
                <a:ea typeface="Tahoma"/>
                <a:cs typeface="Tahoma"/>
              </a:rPr>
              <a:t>php</a:t>
            </a:r>
            <a:r>
              <a:rPr lang="en-US" sz="2000" dirty="0">
                <a:latin typeface="Tahoma"/>
                <a:ea typeface="Tahoma"/>
                <a:cs typeface="Tahoma"/>
              </a:rPr>
              <a:t>” and “.env” triggered security rules.</a:t>
            </a:r>
            <a:endParaRPr lang="en-US" sz="2000" dirty="0">
              <a:ea typeface="Tahoma"/>
              <a:cs typeface="Tahoma"/>
            </a:endParaRPr>
          </a:p>
          <a:p>
            <a:pPr marL="800100" lvl="1" indent="-342900">
              <a:buFont typeface="Arial"/>
              <a:buChar char="•"/>
            </a:pPr>
            <a:r>
              <a:rPr lang="en-US" sz="2000">
                <a:latin typeface="Tahoma"/>
                <a:ea typeface="Tahoma"/>
                <a:cs typeface="Tahoma"/>
              </a:rPr>
              <a:t>In UAT, the issue was not seen because WAF was in detection mode, but in production it was in prevention mode.</a:t>
            </a:r>
            <a:endParaRPr lang="en-US" sz="2000">
              <a:ea typeface="Tahoma"/>
              <a:cs typeface="Tahoma"/>
            </a:endParaRPr>
          </a:p>
          <a:p>
            <a:pPr marL="800100" lvl="1" indent="-342900">
              <a:buFont typeface="Arial"/>
              <a:buChar char="•"/>
            </a:pPr>
            <a:r>
              <a:rPr lang="en-US" sz="2000">
                <a:latin typeface="Tahoma"/>
                <a:ea typeface="Tahoma"/>
                <a:cs typeface="Tahoma"/>
              </a:rPr>
              <a:t>The full rollout (big-bang approach) increased impact instead of limiting it.</a:t>
            </a:r>
            <a:endParaRPr lang="en-US" sz="2000">
              <a:ea typeface="Tahoma"/>
              <a:cs typeface="Tahoma"/>
            </a:endParaRPr>
          </a:p>
          <a:p>
            <a:pPr marL="800100" lvl="1" indent="-342900">
              <a:buFont typeface="Arial"/>
              <a:buChar char="•"/>
            </a:pPr>
            <a:r>
              <a:rPr lang="en-US" sz="2000">
                <a:latin typeface="Tahoma"/>
                <a:ea typeface="Tahoma"/>
                <a:cs typeface="Tahoma"/>
              </a:rPr>
              <a:t>There was no advance communication to the support team, leading to delayed preparedness.</a:t>
            </a:r>
            <a:endParaRPr lang="en-US"/>
          </a:p>
          <a:p>
            <a:pPr marL="342900" indent="-342900">
              <a:buFont typeface="Arial"/>
              <a:buChar char="•"/>
            </a:pPr>
            <a:endParaRPr lang="en-US" sz="1100" b="1" dirty="0">
              <a:latin typeface="Tahoma" panose="020B0604030504040204" pitchFamily="34" charset="0"/>
              <a:ea typeface="Tahoma" panose="020B0604030504040204" pitchFamily="34" charset="0"/>
              <a:cs typeface="Tahoma" panose="020B0604030504040204" pitchFamily="34" charset="0"/>
            </a:endParaRPr>
          </a:p>
          <a:p>
            <a:pPr marL="342900" indent="-342900">
              <a:buFont typeface="Arial"/>
              <a:buChar char="•"/>
            </a:pPr>
            <a:r>
              <a:rPr lang="en-US" sz="2000" b="1">
                <a:latin typeface="Tahoma"/>
                <a:ea typeface="Tahoma"/>
                <a:cs typeface="Tahoma"/>
              </a:rPr>
              <a:t>Investigation &amp; Actions Taken:</a:t>
            </a:r>
            <a:endParaRPr lang="en-US" sz="2000" b="1" dirty="0">
              <a:latin typeface="Tahoma" panose="020B0604030504040204" pitchFamily="34" charset="0"/>
              <a:ea typeface="Tahoma" panose="020B0604030504040204" pitchFamily="34" charset="0"/>
              <a:cs typeface="Tahoma" panose="020B0604030504040204" pitchFamily="34" charset="0"/>
            </a:endParaRPr>
          </a:p>
          <a:p>
            <a:pPr marL="800100" indent="-342900">
              <a:buFont typeface="Arial"/>
              <a:buChar char="•"/>
            </a:pPr>
            <a:r>
              <a:rPr lang="en-US" sz="2000">
                <a:latin typeface="Tahoma"/>
                <a:ea typeface="Tahoma"/>
                <a:cs typeface="Tahoma"/>
              </a:rPr>
              <a:t>Logs from Application Gateway were analyzed to identify blocked requests.</a:t>
            </a:r>
            <a:endParaRPr lang="en-US" sz="2000">
              <a:latin typeface="Tahoma" panose="020B0604030504040204" pitchFamily="34" charset="0"/>
              <a:ea typeface="Tahoma" panose="020B0604030504040204" pitchFamily="34" charset="0"/>
              <a:cs typeface="Tahoma" panose="020B0604030504040204" pitchFamily="34" charset="0"/>
            </a:endParaRPr>
          </a:p>
          <a:p>
            <a:pPr marL="800100" lvl="1" indent="-342900">
              <a:buFont typeface="Arial"/>
              <a:buChar char="•"/>
            </a:pPr>
            <a:r>
              <a:rPr lang="en-US" sz="2000">
                <a:latin typeface="Tahoma"/>
                <a:ea typeface="Tahoma"/>
                <a:cs typeface="Tahoma"/>
              </a:rPr>
              <a:t>Problematic URLs were identified and temporary exceptions were added.</a:t>
            </a:r>
            <a:endParaRPr lang="en-US" sz="2000">
              <a:ea typeface="Tahoma"/>
              <a:cs typeface="Tahoma"/>
            </a:endParaRPr>
          </a:p>
          <a:p>
            <a:pPr marL="800100" lvl="1" indent="-342900">
              <a:buFont typeface="Arial"/>
              <a:buChar char="•"/>
            </a:pPr>
            <a:r>
              <a:rPr lang="en-US" sz="2000">
                <a:latin typeface="Tahoma"/>
                <a:ea typeface="Tahoma"/>
                <a:cs typeface="Tahoma"/>
              </a:rPr>
              <a:t>Multiple fixes were tried: </a:t>
            </a:r>
            <a:endParaRPr lang="en-US" sz="2000">
              <a:ea typeface="Tahoma"/>
              <a:cs typeface="Tahoma"/>
            </a:endParaRPr>
          </a:p>
          <a:p>
            <a:pPr marL="1257300" lvl="2" indent="-342900">
              <a:buFont typeface="Wingdings"/>
              <a:buChar char="§"/>
            </a:pPr>
            <a:r>
              <a:rPr lang="en-US" sz="2000">
                <a:latin typeface="Tahoma"/>
                <a:ea typeface="Tahoma"/>
                <a:cs typeface="Tahoma"/>
              </a:rPr>
              <a:t>Allowing specific blocked URLs</a:t>
            </a:r>
            <a:endParaRPr lang="en-US" sz="2000">
              <a:ea typeface="Tahoma"/>
              <a:cs typeface="Tahoma"/>
            </a:endParaRPr>
          </a:p>
          <a:p>
            <a:pPr marL="1257300" lvl="2" indent="-342900">
              <a:buFont typeface="Wingdings"/>
              <a:buChar char="§"/>
            </a:pPr>
            <a:r>
              <a:rPr lang="en-US" sz="2000">
                <a:latin typeface="Tahoma"/>
                <a:ea typeface="Tahoma"/>
                <a:cs typeface="Tahoma"/>
              </a:rPr>
              <a:t>Adding wildcard rules to reduce repeated blocking</a:t>
            </a:r>
            <a:endParaRPr lang="en-US" sz="2000">
              <a:ea typeface="Tahoma"/>
              <a:cs typeface="Tahoma"/>
            </a:endParaRPr>
          </a:p>
          <a:p>
            <a:pPr marL="1257300" lvl="2" indent="-342900">
              <a:buFont typeface="Wingdings"/>
              <a:buChar char="§"/>
            </a:pPr>
            <a:r>
              <a:rPr lang="en-US" sz="2000">
                <a:latin typeface="Tahoma"/>
                <a:ea typeface="Tahoma"/>
                <a:cs typeface="Tahoma"/>
              </a:rPr>
              <a:t>Since issue persisted, a high-priority case was raised with Microsoft.</a:t>
            </a:r>
            <a:endParaRPr lang="en-US" sz="2000">
              <a:ea typeface="Tahoma"/>
              <a:cs typeface="Tahoma"/>
            </a:endParaRPr>
          </a:p>
          <a:p>
            <a:pPr marL="800100" lvl="1" indent="-342900">
              <a:buFont typeface="Arial"/>
              <a:buChar char="•"/>
            </a:pPr>
            <a:r>
              <a:rPr lang="en-US" sz="2000">
                <a:latin typeface="Tahoma"/>
                <a:ea typeface="Tahoma"/>
                <a:cs typeface="Tahoma"/>
              </a:rPr>
              <a:t>Microsoft suggested: </a:t>
            </a:r>
            <a:endParaRPr lang="en-US" sz="2000">
              <a:ea typeface="Tahoma"/>
              <a:cs typeface="Tahoma"/>
            </a:endParaRPr>
          </a:p>
          <a:p>
            <a:pPr marL="1257300" lvl="2" indent="-342900">
              <a:buFont typeface="Wingdings"/>
              <a:buChar char="§"/>
            </a:pPr>
            <a:r>
              <a:rPr lang="en-US" sz="2000">
                <a:latin typeface="Tahoma"/>
                <a:ea typeface="Tahoma"/>
                <a:cs typeface="Tahoma"/>
              </a:rPr>
              <a:t>Separating IP and URL rules instead of combining them</a:t>
            </a:r>
            <a:endParaRPr lang="en-US" sz="2000">
              <a:ea typeface="Tahoma"/>
              <a:cs typeface="Tahoma"/>
            </a:endParaRPr>
          </a:p>
          <a:p>
            <a:pPr marL="1257300" lvl="2" indent="-342900">
              <a:buFont typeface="Wingdings"/>
              <a:buChar char="§"/>
            </a:pPr>
            <a:r>
              <a:rPr lang="en-US" sz="2000">
                <a:latin typeface="Tahoma"/>
                <a:ea typeface="Tahoma"/>
                <a:cs typeface="Tahoma"/>
              </a:rPr>
              <a:t>Assigning higher priority to IP-based rules</a:t>
            </a:r>
            <a:endParaRPr lang="en-US" sz="2000">
              <a:ea typeface="Tahoma"/>
              <a:cs typeface="Tahoma"/>
            </a:endParaRPr>
          </a:p>
          <a:p>
            <a:pPr marL="800100" lvl="1" indent="-342900">
              <a:buFont typeface="Arial"/>
              <a:buChar char="•"/>
            </a:pPr>
            <a:r>
              <a:rPr lang="en-US" sz="2000">
                <a:latin typeface="Tahoma"/>
                <a:ea typeface="Tahoma"/>
                <a:cs typeface="Tahoma"/>
              </a:rPr>
              <a:t>Changes were implemented accordingly and validated.</a:t>
            </a:r>
            <a:endParaRPr lang="en-US"/>
          </a:p>
        </p:txBody>
      </p:sp>
    </p:spTree>
    <p:extLst>
      <p:ext uri="{BB962C8B-B14F-4D97-AF65-F5344CB8AC3E}">
        <p14:creationId xmlns:p14="http://schemas.microsoft.com/office/powerpoint/2010/main" val="2004674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6B413-6F65-5999-A7A3-969DC1C483A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F90D06A-5D17-4A11-4A81-ABDBB65827CB}"/>
              </a:ext>
            </a:extLst>
          </p:cNvPr>
          <p:cNvSpPr>
            <a:spLocks noGrp="1"/>
          </p:cNvSpPr>
          <p:nvPr>
            <p:ph type="title"/>
          </p:nvPr>
        </p:nvSpPr>
        <p:spPr>
          <a:xfrm>
            <a:off x="270825" y="245677"/>
            <a:ext cx="15504000" cy="936096"/>
          </a:xfrm>
        </p:spPr>
        <p:txBody>
          <a:bodyPr/>
          <a:lstStyle/>
          <a:p>
            <a:r>
              <a:rPr lang="en-US" sz="4250" dirty="0">
                <a:ea typeface="Tahoma"/>
                <a:cs typeface="Tahoma"/>
              </a:rPr>
              <a:t>Enabli</a:t>
            </a:r>
            <a:r>
              <a:rPr lang="en-US" sz="4250">
                <a:ea typeface="Tahoma"/>
                <a:cs typeface="Tahoma"/>
              </a:rPr>
              <a:t>ng HTTPS for AAT-HKG</a:t>
            </a:r>
            <a:endParaRPr lang="en-US" sz="4250" dirty="0">
              <a:ea typeface="Tahoma"/>
              <a:cs typeface="Tahoma"/>
            </a:endParaRPr>
          </a:p>
        </p:txBody>
      </p:sp>
      <p:sp>
        <p:nvSpPr>
          <p:cNvPr id="2" name="TextBox 1">
            <a:extLst>
              <a:ext uri="{FF2B5EF4-FFF2-40B4-BE49-F238E27FC236}">
                <a16:creationId xmlns:a16="http://schemas.microsoft.com/office/drawing/2014/main" id="{92B51E2B-46BA-5623-A93D-02CB4FEB4306}"/>
              </a:ext>
            </a:extLst>
          </p:cNvPr>
          <p:cNvSpPr txBox="1"/>
          <p:nvPr/>
        </p:nvSpPr>
        <p:spPr>
          <a:xfrm>
            <a:off x="270510" y="942587"/>
            <a:ext cx="15511465" cy="3954929"/>
          </a:xfrm>
          <a:prstGeom prst="rect">
            <a:avLst/>
          </a:prstGeom>
          <a:noFill/>
          <a:ln w="12700" cmpd="dbl">
            <a:solidFill>
              <a:schemeClr val="tx1"/>
            </a:solidFill>
          </a:ln>
        </p:spPr>
        <p:txBody>
          <a:bodyPr wrap="square" lIns="91440" tIns="45720" rIns="91440" bIns="45720" rtlCol="0" anchor="t">
            <a:spAutoFit/>
          </a:bodyPr>
          <a:lstStyle/>
          <a:p>
            <a:pPr marL="342900" indent="-342900">
              <a:buFont typeface="Arial"/>
              <a:buChar char="•"/>
            </a:pPr>
            <a:endParaRPr lang="en-US" sz="2000" b="1" dirty="0">
              <a:ea typeface="+mn-lt"/>
              <a:cs typeface="+mn-lt"/>
            </a:endParaRPr>
          </a:p>
          <a:p>
            <a:pPr marL="342900" indent="-342900">
              <a:buFont typeface="Arial"/>
              <a:buChar char="•"/>
            </a:pPr>
            <a:r>
              <a:rPr lang="en-US" sz="2000" b="1">
                <a:ea typeface="+mn-lt"/>
                <a:cs typeface="+mn-lt"/>
              </a:rPr>
              <a:t>Resolution &amp; Next Steps:</a:t>
            </a:r>
            <a:endParaRPr lang="en-US" sz="2000" b="1">
              <a:ea typeface="Tahoma"/>
              <a:cs typeface="Tahoma"/>
            </a:endParaRPr>
          </a:p>
          <a:p>
            <a:pPr marL="800100" indent="-342900">
              <a:buFont typeface="Arial"/>
              <a:buChar char="•"/>
            </a:pPr>
            <a:r>
              <a:rPr lang="en-US" sz="2000" dirty="0">
                <a:latin typeface="Tahoma"/>
                <a:ea typeface="Tahoma"/>
                <a:cs typeface="Tahoma"/>
              </a:rPr>
              <a:t>Issue was resolved after adding IP-Based exception </a:t>
            </a:r>
            <a:r>
              <a:rPr lang="en-US" sz="2000">
                <a:latin typeface="Tahoma"/>
                <a:ea typeface="Tahoma"/>
                <a:cs typeface="Tahoma"/>
              </a:rPr>
              <a:t>in WAF</a:t>
            </a:r>
            <a:r>
              <a:rPr lang="en-US" sz="2000" dirty="0">
                <a:latin typeface="Tahoma"/>
                <a:ea typeface="Tahoma"/>
                <a:cs typeface="Tahoma"/>
              </a:rPr>
              <a:t> rules as per Microsoft recommendation.</a:t>
            </a:r>
          </a:p>
          <a:p>
            <a:pPr marL="800100" indent="-342900">
              <a:buFont typeface="Arial"/>
              <a:buChar char="•"/>
            </a:pPr>
            <a:r>
              <a:rPr lang="en-US" sz="2000">
                <a:latin typeface="Tahoma"/>
                <a:ea typeface="Tahoma"/>
                <a:cs typeface="Tahoma"/>
              </a:rPr>
              <a:t>Due to impact duration, customer temporarily rolled back to HTTP.</a:t>
            </a:r>
            <a:endParaRPr lang="en-US">
              <a:ea typeface="Tahoma"/>
              <a:cs typeface="Tahoma"/>
            </a:endParaRPr>
          </a:p>
          <a:p>
            <a:pPr marL="800100" indent="-342900">
              <a:buFont typeface="Arial"/>
              <a:buChar char="•"/>
            </a:pPr>
            <a:r>
              <a:rPr lang="en-US" sz="2000" dirty="0">
                <a:solidFill>
                  <a:srgbClr val="505050"/>
                </a:solidFill>
                <a:ea typeface="+mn-lt"/>
                <a:cs typeface="+mn-lt"/>
              </a:rPr>
              <a:t>Cross-checked again the </a:t>
            </a:r>
            <a:r>
              <a:rPr lang="en-US" sz="2000">
                <a:solidFill>
                  <a:srgbClr val="505050"/>
                </a:solidFill>
                <a:ea typeface="+mn-lt"/>
                <a:cs typeface="+mn-lt"/>
              </a:rPr>
              <a:t>next day and found no Blockage from WAF in last 12 hours.</a:t>
            </a:r>
          </a:p>
          <a:p>
            <a:pPr marL="457200"/>
            <a:endParaRPr lang="en-US" sz="1100" dirty="0">
              <a:ea typeface="Tahoma"/>
              <a:cs typeface="Tahoma"/>
            </a:endParaRPr>
          </a:p>
          <a:p>
            <a:pPr marL="342900" indent="-342900">
              <a:buFont typeface="Arial"/>
              <a:buChar char="•"/>
            </a:pPr>
            <a:r>
              <a:rPr lang="en-US" sz="2000" b="1"/>
              <a:t>Future Rollout Plan:</a:t>
            </a:r>
            <a:endParaRPr lang="en-US" sz="2000">
              <a:ea typeface="Tahoma"/>
              <a:cs typeface="Tahoma"/>
            </a:endParaRPr>
          </a:p>
          <a:p>
            <a:pPr marL="800100" lvl="1" indent="-342900">
              <a:buFont typeface="Arial"/>
              <a:buChar char="•"/>
            </a:pPr>
            <a:r>
              <a:rPr lang="en-US" sz="2000">
                <a:ea typeface="+mn-lt"/>
                <a:cs typeface="+mn-lt"/>
              </a:rPr>
              <a:t>Reattempt HTTPS rollout using a phased approach (starting with a limited user base) or</a:t>
            </a:r>
            <a:r>
              <a:rPr lang="en-US" sz="2000" dirty="0">
                <a:ea typeface="+mn-lt"/>
                <a:cs typeface="+mn-lt"/>
              </a:rPr>
              <a:t> maintain both HTTP and HTTPS in parallel until HTTPS is fully validated and stable.</a:t>
            </a:r>
          </a:p>
          <a:p>
            <a:pPr marL="800100" lvl="1" indent="-342900">
              <a:buFont typeface="Arial"/>
              <a:buChar char="•"/>
            </a:pPr>
            <a:r>
              <a:rPr lang="en-US" sz="2000">
                <a:latin typeface="Tahoma"/>
                <a:ea typeface="Tahoma"/>
                <a:cs typeface="Tahoma"/>
              </a:rPr>
              <a:t>Ensure WAF rules are pre-tested in blocking mode before go-live.</a:t>
            </a:r>
          </a:p>
          <a:p>
            <a:pPr marL="800100" lvl="1" indent="-342900">
              <a:buFont typeface="Arial"/>
              <a:buChar char="•"/>
            </a:pPr>
            <a:r>
              <a:rPr lang="en-US" sz="2000">
                <a:latin typeface="Tahoma"/>
                <a:ea typeface="Tahoma"/>
                <a:cs typeface="Tahoma"/>
              </a:rPr>
              <a:t>Follow proper change communication with all teams in advance.</a:t>
            </a:r>
          </a:p>
          <a:p>
            <a:pPr marL="800100" lvl="1" indent="-342900">
              <a:buFont typeface="Arial"/>
              <a:buChar char="•"/>
            </a:pPr>
            <a:r>
              <a:rPr lang="en-US" sz="2000">
                <a:latin typeface="Tahoma"/>
                <a:ea typeface="Tahoma"/>
                <a:cs typeface="Tahoma"/>
              </a:rPr>
              <a:t>Keep real-time monitoring during rollout to catch issues early.</a:t>
            </a:r>
          </a:p>
          <a:p>
            <a:pPr marL="800100" lvl="1" indent="-342900">
              <a:buFont typeface="Arial"/>
              <a:buChar char="•"/>
            </a:pPr>
            <a:endParaRPr lang="en-US" sz="2000" dirty="0">
              <a:latin typeface="Tahoma"/>
              <a:ea typeface="Tahoma"/>
              <a:cs typeface="Tahoma"/>
            </a:endParaRPr>
          </a:p>
        </p:txBody>
      </p:sp>
    </p:spTree>
    <p:extLst>
      <p:ext uri="{BB962C8B-B14F-4D97-AF65-F5344CB8AC3E}">
        <p14:creationId xmlns:p14="http://schemas.microsoft.com/office/powerpoint/2010/main" val="1351061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5D832-C3DF-A16B-019A-6C0BAAFD625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880D16C-988E-7499-C000-E478AA784F15}"/>
              </a:ext>
            </a:extLst>
          </p:cNvPr>
          <p:cNvSpPr>
            <a:spLocks noGrp="1"/>
          </p:cNvSpPr>
          <p:nvPr>
            <p:ph type="title"/>
          </p:nvPr>
        </p:nvSpPr>
        <p:spPr>
          <a:xfrm>
            <a:off x="241797" y="245676"/>
            <a:ext cx="15533028" cy="752685"/>
          </a:xfrm>
        </p:spPr>
        <p:txBody>
          <a:bodyPr/>
          <a:lstStyle/>
          <a:p>
            <a:r>
              <a:rPr lang="en-US" sz="4250" dirty="0">
                <a:ea typeface="Tahoma"/>
                <a:cs typeface="Tahoma"/>
              </a:rPr>
              <a:t>COSYS+ TLS Security </a:t>
            </a:r>
            <a:r>
              <a:rPr lang="en-US" sz="4250" dirty="0" err="1">
                <a:ea typeface="Tahoma"/>
                <a:cs typeface="Tahoma"/>
              </a:rPr>
              <a:t>Complian</a:t>
            </a:r>
            <a:r>
              <a:rPr lang="en-US" sz="4250" dirty="0">
                <a:ea typeface="Tahoma"/>
                <a:cs typeface="Tahoma"/>
              </a:rPr>
              <a:t>ce</a:t>
            </a:r>
          </a:p>
        </p:txBody>
      </p:sp>
      <p:sp>
        <p:nvSpPr>
          <p:cNvPr id="2" name="TextBox 1">
            <a:extLst>
              <a:ext uri="{FF2B5EF4-FFF2-40B4-BE49-F238E27FC236}">
                <a16:creationId xmlns:a16="http://schemas.microsoft.com/office/drawing/2014/main" id="{1F96543C-4C29-3CC6-28ED-094A5D800F1C}"/>
              </a:ext>
            </a:extLst>
          </p:cNvPr>
          <p:cNvSpPr txBox="1"/>
          <p:nvPr/>
        </p:nvSpPr>
        <p:spPr>
          <a:xfrm>
            <a:off x="231069" y="1161894"/>
            <a:ext cx="15714350" cy="6555641"/>
          </a:xfrm>
          <a:prstGeom prst="rect">
            <a:avLst/>
          </a:prstGeom>
          <a:noFill/>
          <a:ln w="12700" cmpd="dbl">
            <a:solidFill>
              <a:schemeClr val="tx1"/>
            </a:solidFill>
          </a:ln>
        </p:spPr>
        <p:txBody>
          <a:bodyPr wrap="square" lIns="91440" tIns="45720" rIns="91440" bIns="45720" rtlCol="0" anchor="t">
            <a:spAutoFit/>
          </a:bodyPr>
          <a:lstStyle/>
          <a:p>
            <a:pPr marL="342900" indent="-342900">
              <a:buFont typeface="Wingdings"/>
              <a:buChar char="q"/>
            </a:pPr>
            <a:endParaRPr lang="en-US" sz="2000" dirty="0">
              <a:ea typeface="+mn-lt"/>
              <a:cs typeface="+mn-lt"/>
            </a:endParaRPr>
          </a:p>
          <a:p>
            <a:pPr marL="342900" indent="-342900">
              <a:buFont typeface="Wingdings"/>
              <a:buChar char="q"/>
            </a:pPr>
            <a:r>
              <a:rPr lang="en-US" sz="2000" dirty="0">
                <a:latin typeface="Tahoma" panose="020B0604030504040204" pitchFamily="34" charset="0"/>
                <a:ea typeface="+mn-lt"/>
                <a:cs typeface="+mn-lt"/>
              </a:rPr>
              <a:t>As per the recent request AAT require Site-to-Site Connection along with Express Route Connectivity from Azure COSYS+ Environment. </a:t>
            </a:r>
          </a:p>
          <a:p>
            <a:pPr marL="342900" indent="-342900">
              <a:buFont typeface="Wingdings"/>
              <a:buChar char="q"/>
            </a:pPr>
            <a:r>
              <a:rPr lang="en-US" sz="2000" dirty="0">
                <a:latin typeface="Tahoma" panose="020B0604030504040204" pitchFamily="34" charset="0"/>
                <a:ea typeface="+mn-lt"/>
                <a:cs typeface="+mn-lt"/>
              </a:rPr>
              <a:t>Logically longer defined IP Ranges takes more route precedence instead of Azure Service (ExpressRoute or Site-to-Site). </a:t>
            </a:r>
          </a:p>
          <a:p>
            <a:pPr marL="342900" indent="-342900">
              <a:buFont typeface="Wingdings"/>
              <a:buChar char="q"/>
            </a:pPr>
            <a:r>
              <a:rPr lang="en-US" sz="2000" dirty="0">
                <a:latin typeface="Tahoma" panose="020B0604030504040204" pitchFamily="34" charset="0"/>
                <a:ea typeface="+mn-lt"/>
                <a:cs typeface="+mn-lt"/>
              </a:rPr>
              <a:t>Generally Site-to-Site considered as slower compared to ExpressRoute. </a:t>
            </a:r>
          </a:p>
          <a:p>
            <a:pPr marL="342900" indent="-342900">
              <a:buFont typeface="Wingdings"/>
              <a:buChar char="q"/>
            </a:pPr>
            <a:r>
              <a:rPr lang="en-US" sz="2000" dirty="0">
                <a:latin typeface="Tahoma" panose="020B0604030504040204" pitchFamily="34" charset="0"/>
                <a:ea typeface="+mn-lt"/>
                <a:cs typeface="+mn-lt"/>
              </a:rPr>
              <a:t>Hence, we can setup Site-to-Site Tunnel and it can be considered as backup Tunnel.</a:t>
            </a:r>
          </a:p>
          <a:p>
            <a:pPr marL="342900" indent="-342900">
              <a:buFont typeface="Wingdings"/>
              <a:buChar char="q"/>
            </a:pPr>
            <a:endParaRPr lang="en-US" sz="2000" dirty="0">
              <a:latin typeface="Tahoma" panose="020B0604030504040204" pitchFamily="34" charset="0"/>
              <a:ea typeface="+mn-lt"/>
              <a:cs typeface="+mn-lt"/>
            </a:endParaRPr>
          </a:p>
          <a:p>
            <a:pPr marL="342900" indent="-342900">
              <a:buFont typeface="Wingdings"/>
              <a:buChar char="q"/>
            </a:pPr>
            <a:r>
              <a:rPr lang="en-US" sz="2000" b="1" u="sng" dirty="0">
                <a:latin typeface="Tahoma" panose="020B0604030504040204" pitchFamily="34" charset="0"/>
                <a:ea typeface="+mn-lt"/>
                <a:cs typeface="+mn-lt"/>
              </a:rPr>
              <a:t>General Technical Aspects : </a:t>
            </a:r>
          </a:p>
          <a:p>
            <a:pPr marL="800100" lvl="1" indent="-342900">
              <a:buFont typeface="Arial" panose="020B0604020202020204" pitchFamily="34" charset="0"/>
              <a:buChar char="•"/>
            </a:pPr>
            <a:endParaRPr lang="en-US" sz="2000" dirty="0">
              <a:latin typeface="Tahoma" panose="020B0604030504040204" pitchFamily="34" charset="0"/>
              <a:ea typeface="+mn-lt"/>
              <a:cs typeface="+mn-lt"/>
            </a:endParaRPr>
          </a:p>
          <a:p>
            <a:pPr marL="800100" lvl="1" indent="-342900">
              <a:buFont typeface="Arial" panose="020B0604020202020204" pitchFamily="34" charset="0"/>
              <a:buChar char="•"/>
            </a:pPr>
            <a:r>
              <a:rPr lang="en-US" sz="2000" dirty="0">
                <a:latin typeface="Tahoma" panose="020B0604030504040204" pitchFamily="34" charset="0"/>
                <a:ea typeface="+mn-lt"/>
                <a:cs typeface="+mn-lt"/>
              </a:rPr>
              <a:t>Changes requires from Azure end:</a:t>
            </a:r>
          </a:p>
          <a:p>
            <a:pPr marL="1257300" lvl="2" indent="-342900">
              <a:buFont typeface="Courier New" panose="02070309020205020404" pitchFamily="49" charset="0"/>
              <a:buChar char="o"/>
            </a:pPr>
            <a:r>
              <a:rPr lang="en-US" sz="2000" dirty="0">
                <a:latin typeface="Tahoma" panose="020B0604030504040204" pitchFamily="34" charset="0"/>
                <a:ea typeface="+mn-lt"/>
                <a:cs typeface="+mn-lt"/>
              </a:rPr>
              <a:t>Current Coforge-IMS team will require access on AAT-HKG subscription on which Expressroute circuit with AAT was deployed. Post that Coforge-IMS will be able to comment on the required technical changes.</a:t>
            </a:r>
          </a:p>
          <a:p>
            <a:pPr lvl="2"/>
            <a:endParaRPr lang="en-US" sz="2000" dirty="0">
              <a:latin typeface="Tahoma" panose="020B0604030504040204" pitchFamily="34" charset="0"/>
              <a:ea typeface="+mn-lt"/>
              <a:cs typeface="+mn-lt"/>
            </a:endParaRPr>
          </a:p>
          <a:p>
            <a:pPr marL="800100" lvl="1" indent="-342900">
              <a:buFont typeface="Arial" panose="020B0604020202020204" pitchFamily="34" charset="0"/>
              <a:buChar char="•"/>
            </a:pPr>
            <a:r>
              <a:rPr lang="en-US" sz="2000" dirty="0">
                <a:latin typeface="Tahoma" panose="020B0604030504040204" pitchFamily="34" charset="0"/>
                <a:ea typeface="+mn-lt"/>
                <a:cs typeface="+mn-lt"/>
              </a:rPr>
              <a:t>Changes require from AAT On-premise : </a:t>
            </a:r>
          </a:p>
          <a:p>
            <a:pPr marL="1257300" lvl="2" indent="-342900">
              <a:buFont typeface="Courier New" panose="02070309020205020404" pitchFamily="49" charset="0"/>
              <a:buChar char="o"/>
            </a:pPr>
            <a:r>
              <a:rPr lang="en-US" sz="2000" dirty="0">
                <a:latin typeface="Tahoma" panose="020B0604030504040204" pitchFamily="34" charset="0"/>
                <a:ea typeface="+mn-lt"/>
                <a:cs typeface="+mn-lt"/>
              </a:rPr>
              <a:t>Higher Local preference for ExpressRoute.</a:t>
            </a:r>
          </a:p>
          <a:p>
            <a:pPr marL="1257300" lvl="2" indent="-342900">
              <a:buFont typeface="Courier New" panose="02070309020205020404" pitchFamily="49" charset="0"/>
              <a:buChar char="o"/>
            </a:pPr>
            <a:r>
              <a:rPr lang="en-US" sz="2000" dirty="0">
                <a:latin typeface="Tahoma" panose="020B0604030504040204" pitchFamily="34" charset="0"/>
                <a:ea typeface="+mn-lt"/>
                <a:cs typeface="+mn-lt"/>
              </a:rPr>
              <a:t>Lower Local preference for Site-to-Site Connectivity. </a:t>
            </a:r>
          </a:p>
          <a:p>
            <a:pPr marL="342900" indent="-342900">
              <a:buFont typeface="Wingdings"/>
              <a:buChar char="q"/>
            </a:pPr>
            <a:endParaRPr lang="en-US" sz="2000" dirty="0">
              <a:latin typeface="Tahoma" panose="020B0604030504040204" pitchFamily="34" charset="0"/>
              <a:ea typeface="+mn-lt"/>
              <a:cs typeface="+mn-lt"/>
            </a:endParaRPr>
          </a:p>
          <a:p>
            <a:pPr marL="342900" indent="-342900">
              <a:buFont typeface="Wingdings"/>
              <a:buChar char="q"/>
            </a:pPr>
            <a:r>
              <a:rPr lang="en-US" sz="2000" b="1" u="sng" dirty="0">
                <a:latin typeface="Tahoma" panose="020B0604030504040204" pitchFamily="34" charset="0"/>
                <a:ea typeface="+mn-lt"/>
                <a:cs typeface="+mn-lt"/>
              </a:rPr>
              <a:t>Cost Perspective </a:t>
            </a:r>
            <a:r>
              <a:rPr lang="en-US" sz="2000" dirty="0">
                <a:latin typeface="Tahoma" panose="020B0604030504040204" pitchFamily="34" charset="0"/>
                <a:ea typeface="+mn-lt"/>
                <a:cs typeface="+mn-lt"/>
              </a:rPr>
              <a:t>: Since it is a PaaS service hence, Microsoft will charge as per the hosted tunnels and Coforge-IMS support team do not have any feasibility to turn-on/turn-off the tunnel.  </a:t>
            </a:r>
          </a:p>
          <a:p>
            <a:pPr marL="342900" indent="-342900">
              <a:buFont typeface="Wingdings"/>
              <a:buChar char="q"/>
            </a:pPr>
            <a:endParaRPr lang="en-US" sz="2000" dirty="0">
              <a:latin typeface="Tahoma" panose="020B0604030504040204" pitchFamily="34" charset="0"/>
              <a:ea typeface="+mn-lt"/>
              <a:cs typeface="+mn-lt"/>
            </a:endParaRPr>
          </a:p>
          <a:p>
            <a:pPr marL="342900" indent="-342900">
              <a:buFont typeface="Wingdings"/>
              <a:buChar char="q"/>
            </a:pPr>
            <a:endParaRPr lang="en-US" sz="2000" dirty="0">
              <a:latin typeface="Tahoma" panose="020B0604030504040204" pitchFamily="34" charset="0"/>
              <a:ea typeface="+mn-lt"/>
              <a:cs typeface="+mn-lt"/>
            </a:endParaRPr>
          </a:p>
          <a:p>
            <a:pPr marL="342900" indent="-342900">
              <a:buFont typeface="Wingdings"/>
              <a:buChar char="q"/>
            </a:pPr>
            <a:endParaRPr lang="en-US" sz="20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078012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6573F4-7B5B-C916-3431-214579A3E0F0}"/>
              </a:ext>
            </a:extLst>
          </p:cNvPr>
          <p:cNvSpPr>
            <a:spLocks noGrp="1"/>
          </p:cNvSpPr>
          <p:nvPr>
            <p:ph type="title"/>
          </p:nvPr>
        </p:nvSpPr>
        <p:spPr/>
        <p:txBody>
          <a:bodyPr/>
          <a:lstStyle/>
          <a:p>
            <a:r>
              <a:rPr lang="en-US"/>
              <a:t>Azure Service(s) Retirement</a:t>
            </a:r>
            <a:endParaRPr lang="en-IN"/>
          </a:p>
        </p:txBody>
      </p:sp>
      <p:sp>
        <p:nvSpPr>
          <p:cNvPr id="2" name="TextBox 1">
            <a:extLst>
              <a:ext uri="{FF2B5EF4-FFF2-40B4-BE49-F238E27FC236}">
                <a16:creationId xmlns:a16="http://schemas.microsoft.com/office/drawing/2014/main" id="{07E3DD20-BDF1-38BE-E111-01060DE3B3BB}"/>
              </a:ext>
            </a:extLst>
          </p:cNvPr>
          <p:cNvSpPr txBox="1"/>
          <p:nvPr/>
        </p:nvSpPr>
        <p:spPr>
          <a:xfrm>
            <a:off x="270825" y="1344563"/>
            <a:ext cx="6925105" cy="400110"/>
          </a:xfrm>
          <a:prstGeom prst="rect">
            <a:avLst/>
          </a:prstGeom>
          <a:noFill/>
          <a:ln w="12700" cmpd="dbl">
            <a:solidFill>
              <a:schemeClr val="tx1"/>
            </a:solidFill>
          </a:ln>
        </p:spPr>
        <p:txBody>
          <a:bodyPr wrap="square" lIns="91440" tIns="45720" rIns="91440" bIns="45720" rtlCol="0" anchor="t">
            <a:spAutoFit/>
          </a:bodyPr>
          <a:lstStyle/>
          <a:p>
            <a:r>
              <a:rPr lang="en-US" sz="2000" b="1">
                <a:latin typeface="Tahoma"/>
                <a:ea typeface="Tahoma"/>
                <a:cs typeface="Tahoma"/>
              </a:rPr>
              <a:t>Note:</a:t>
            </a:r>
            <a:r>
              <a:rPr lang="en-US" sz="2000">
                <a:latin typeface="Tahoma"/>
                <a:ea typeface="Tahoma"/>
                <a:cs typeface="Tahoma"/>
              </a:rPr>
              <a:t> There is no other upcoming retirement till </a:t>
            </a:r>
            <a:r>
              <a:rPr lang="en-US" sz="2000" b="1">
                <a:latin typeface="Tahoma"/>
                <a:ea typeface="Tahoma"/>
                <a:cs typeface="Tahoma"/>
              </a:rPr>
              <a:t>Dec’26</a:t>
            </a:r>
            <a:r>
              <a:rPr lang="en-US" sz="2000">
                <a:latin typeface="Tahoma"/>
                <a:ea typeface="Tahoma"/>
                <a:cs typeface="Tahoma"/>
              </a:rPr>
              <a:t>. </a:t>
            </a:r>
            <a:endParaRPr lang="en-US"/>
          </a:p>
        </p:txBody>
      </p:sp>
    </p:spTree>
    <p:extLst>
      <p:ext uri="{BB962C8B-B14F-4D97-AF65-F5344CB8AC3E}">
        <p14:creationId xmlns:p14="http://schemas.microsoft.com/office/powerpoint/2010/main" val="3480733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5CD1477-D120-E03B-7576-1BA052152D1B}"/>
              </a:ext>
            </a:extLst>
          </p:cNvPr>
          <p:cNvSpPr>
            <a:spLocks noGrp="1"/>
          </p:cNvSpPr>
          <p:nvPr>
            <p:ph type="title"/>
          </p:nvPr>
        </p:nvSpPr>
        <p:spPr/>
        <p:txBody>
          <a:bodyPr/>
          <a:lstStyle/>
          <a:p>
            <a:r>
              <a:rPr lang="en-IN">
                <a:solidFill>
                  <a:schemeClr val="bg1"/>
                </a:solidFill>
                <a:latin typeface="Anek Devanagari" pitchFamily="2" charset="0"/>
                <a:cs typeface="Anek Devanagari" pitchFamily="2" charset="0"/>
              </a:rPr>
              <a:t>Let’s </a:t>
            </a:r>
            <a:r>
              <a:rPr lang="en-IN">
                <a:latin typeface="Anek Devanagari" pitchFamily="2" charset="0"/>
                <a:cs typeface="Anek Devanagari" pitchFamily="2" charset="0"/>
              </a:rPr>
              <a:t>engage!</a:t>
            </a:r>
          </a:p>
        </p:txBody>
      </p:sp>
    </p:spTree>
    <p:extLst>
      <p:ext uri="{BB962C8B-B14F-4D97-AF65-F5344CB8AC3E}">
        <p14:creationId xmlns:p14="http://schemas.microsoft.com/office/powerpoint/2010/main" val="2394839178"/>
      </p:ext>
    </p:extLst>
  </p:cSld>
  <p:clrMapOvr>
    <a:masterClrMapping/>
  </p:clrMapOvr>
</p:sld>
</file>

<file path=ppt/theme/theme1.xml><?xml version="1.0" encoding="utf-8"?>
<a:theme xmlns:a="http://schemas.openxmlformats.org/drawingml/2006/main" name="Coforge 2023">
  <a:themeElements>
    <a:clrScheme name="Coforge_color_2023">
      <a:dk1>
        <a:srgbClr val="505050"/>
      </a:dk1>
      <a:lt1>
        <a:sysClr val="window" lastClr="FFFFFF"/>
      </a:lt1>
      <a:dk2>
        <a:srgbClr val="141414"/>
      </a:dk2>
      <a:lt2>
        <a:srgbClr val="E7E6E6"/>
      </a:lt2>
      <a:accent1>
        <a:srgbClr val="082340"/>
      </a:accent1>
      <a:accent2>
        <a:srgbClr val="F15B40"/>
      </a:accent2>
      <a:accent3>
        <a:srgbClr val="00A792"/>
      </a:accent3>
      <a:accent4>
        <a:srgbClr val="F68B28"/>
      </a:accent4>
      <a:accent5>
        <a:srgbClr val="5F8AC7"/>
      </a:accent5>
      <a:accent6>
        <a:srgbClr val="F68D76"/>
      </a:accent6>
      <a:hlink>
        <a:srgbClr val="5F8AC7"/>
      </a:hlink>
      <a:folHlink>
        <a:srgbClr val="F15B40"/>
      </a:folHlink>
    </a:clrScheme>
    <a:fontScheme name="Tahoma">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Green-Medium">
      <a:srgbClr val="4CC0AD"/>
    </a:custClr>
    <a:custClr name="Green-MediumLight">
      <a:srgbClr val="AADCD7"/>
    </a:custClr>
    <a:custClr name="Green-Light">
      <a:srgbClr val="E6F5F0"/>
    </a:custClr>
    <a:custClr name="DeepYellow-Medium">
      <a:srgbClr val="FAA85F"/>
    </a:custClr>
    <a:custClr name="DeepYellow-MediumLight">
      <a:srgbClr val="FFDCB4"/>
    </a:custClr>
    <a:custClr name="DeepYellow-Light">
      <a:srgbClr val="FFF5E1"/>
    </a:custClr>
    <a:custClr name="SecondaryBlue-Medium">
      <a:srgbClr val="8CAAD7"/>
    </a:custClr>
    <a:custClr name="SecondaryBlue-MediumLight">
      <a:srgbClr val="BBC9E7"/>
    </a:custClr>
    <a:custClr name="SecondaryBlue-Light">
      <a:srgbClr val="E1E8F5"/>
    </a:custClr>
    <a:custClr name="SecondaryPeach-Medium">
      <a:srgbClr val="FAAF96"/>
    </a:custClr>
    <a:custClr name="SecondaryPeach-MediumLight">
      <a:srgbClr val="FBC9BC"/>
    </a:custClr>
    <a:custClr name="SecondaryPeach-Light">
      <a:srgbClr val="FFEBE6"/>
    </a:custClr>
    <a:custClr name="SecondaryPurple-Medium">
      <a:srgbClr val="B19ACA"/>
    </a:custClr>
    <a:custClr name="SecondaryPurple-MediumLight">
      <a:srgbClr val="C7BBDC"/>
    </a:custClr>
    <a:custClr name="SecondaryPurple-Light">
      <a:srgbClr val="F0E6F0"/>
    </a:custClr>
    <a:custClr name="SecondaryBrown-Medium">
      <a:srgbClr val="E4BE92"/>
    </a:custClr>
    <a:custClr name="SecondaryBrown-MediumLight">
      <a:srgbClr val="F0D6B4"/>
    </a:custClr>
    <a:custClr name="SecondaryBrown-Light">
      <a:srgbClr val="FFF5E6"/>
    </a:custClr>
    <a:custClr name="SecondaryGray-Medium">
      <a:srgbClr val="A0A1A2"/>
    </a:custClr>
    <a:custClr name="SecondaryGray-MediumLight">
      <a:srgbClr val="CDCDCD"/>
    </a:custClr>
    <a:custClr name="SecondaryGray-Light">
      <a:srgbClr val="EBEBEB"/>
    </a:custClr>
  </a:custClrLst>
  <a:extLst>
    <a:ext uri="{05A4C25C-085E-4340-85A3-A5531E510DB2}">
      <thm15:themeFamily xmlns:thm15="http://schemas.microsoft.com/office/thememl/2012/main" name="Coforge 2023" id="{EAB78BA6-7FE9-4A6B-9A08-DB4EF4638CE7}" vid="{709F4BE0-A5D9-4DB8-92C4-137AFF5A4E2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Requester xmlns="4acd531c-e828-4752-b185-1e2017944dbd">
      <UserInfo>
        <DisplayName/>
        <AccountId xsi:nil="true"/>
        <AccountType/>
      </UserInfo>
    </Requester>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6C64E25F9797549919A8E031138355A" ma:contentTypeVersion="8" ma:contentTypeDescription="Create a new document." ma:contentTypeScope="" ma:versionID="72b7cec4a755fb3a385616e8db944c6e">
  <xsd:schema xmlns:xsd="http://www.w3.org/2001/XMLSchema" xmlns:xs="http://www.w3.org/2001/XMLSchema" xmlns:p="http://schemas.microsoft.com/office/2006/metadata/properties" xmlns:ns2="4acd531c-e828-4752-b185-1e2017944dbd" targetNamespace="http://schemas.microsoft.com/office/2006/metadata/properties" ma:root="true" ma:fieldsID="83ebd531a0f214de602a1ce31ec994ab" ns2:_="">
    <xsd:import namespace="4acd531c-e828-4752-b185-1e2017944dbd"/>
    <xsd:element name="properties">
      <xsd:complexType>
        <xsd:sequence>
          <xsd:element name="documentManagement">
            <xsd:complexType>
              <xsd:all>
                <xsd:element ref="ns2:MediaServiceMetadata" minOccurs="0"/>
                <xsd:element ref="ns2:MediaServiceFastMetadata" minOccurs="0"/>
                <xsd:element ref="ns2:Requester"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cd531c-e828-4752-b185-1e2017944d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Requester" ma:index="10" nillable="true" ma:displayName="Requester" ma:description="Owner of download" ma:format="Dropdown" ma:list="UserInfo" ma:SharePointGroup="0" ma:internalName="Request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BillingMetadata" ma:index="1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43551DC-D8B8-4723-A84D-FBA130B461A1}">
  <ds:schemaRefs>
    <ds:schemaRef ds:uri="http://schemas.microsoft.com/office/2006/documentManagement/types"/>
    <ds:schemaRef ds:uri="4acd531c-e828-4752-b185-1e2017944dbd"/>
    <ds:schemaRef ds:uri="http://purl.org/dc/dcmitype/"/>
    <ds:schemaRef ds:uri="http://purl.org/dc/elements/1.1/"/>
    <ds:schemaRef ds:uri="http://schemas.microsoft.com/office/2006/metadata/properties"/>
    <ds:schemaRef ds:uri="http://www.w3.org/XML/1998/namespace"/>
    <ds:schemaRef ds:uri="http://schemas.openxmlformats.org/package/2006/metadata/core-properties"/>
    <ds:schemaRef ds:uri="http://schemas.microsoft.com/office/infopath/2007/PartnerControls"/>
    <ds:schemaRef ds:uri="http://purl.org/dc/terms/"/>
  </ds:schemaRefs>
</ds:datastoreItem>
</file>

<file path=customXml/itemProps2.xml><?xml version="1.0" encoding="utf-8"?>
<ds:datastoreItem xmlns:ds="http://schemas.openxmlformats.org/officeDocument/2006/customXml" ds:itemID="{1E26330B-C722-4071-9D62-A086F2487C20}">
  <ds:schemaRefs>
    <ds:schemaRef ds:uri="4acd531c-e828-4752-b185-1e2017944d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FB644F2-B1AE-4DE5-AC4C-0BB87F69DF6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Coforge_BattleCard</Template>
  <TotalTime>416</TotalTime>
  <Words>1443</Words>
  <Application>Microsoft Office PowerPoint</Application>
  <PresentationFormat>Custom</PresentationFormat>
  <Paragraphs>285</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Coforge 2023</vt:lpstr>
      <vt:lpstr>SATS – Bi-Monthly Infra Review</vt:lpstr>
      <vt:lpstr>Agenda</vt:lpstr>
      <vt:lpstr>Operational Summary</vt:lpstr>
      <vt:lpstr>Operational Summary</vt:lpstr>
      <vt:lpstr>Operational Summary</vt:lpstr>
      <vt:lpstr>Provisioning of NAT Gateway</vt:lpstr>
      <vt:lpstr>Enabling HTTPS for SAUDI (All tenants)</vt:lpstr>
      <vt:lpstr>Enabling HTTPS for SAUDI (All tenants)</vt:lpstr>
      <vt:lpstr>Enabling HTTPS for AAT-HKG</vt:lpstr>
      <vt:lpstr>Enabling HTTPS for AAT-HKG</vt:lpstr>
      <vt:lpstr>COSYS+ TLS Security Compliance</vt:lpstr>
      <vt:lpstr>Azure Service(s) Retirement</vt:lpstr>
      <vt:lpstr>Let’s engage!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Neelima Chittora</dc:creator>
  <cp:lastModifiedBy>Shubham Sharma</cp:lastModifiedBy>
  <cp:revision>1456</cp:revision>
  <dcterms:created xsi:type="dcterms:W3CDTF">2020-10-06T06:14:48Z</dcterms:created>
  <dcterms:modified xsi:type="dcterms:W3CDTF">2026-06-14T04:50:46Z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0x01010036C64E25F9797549919A8E031138355A</vt:lpwstr>
  </property>
</Properties>
</file>